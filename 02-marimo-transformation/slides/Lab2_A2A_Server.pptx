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takes the transport-agnostic PolicyAgent from Lab 1 and exposes it on the network using the Agent-to-Agent SDK. The agent becomes an ASGI application — a Starlette app run by uvicorn — that any A2A client can discover and call. Nothing inside PolicyAgent changes; we only add a thin server wrapper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Lab 1 gave us the brain, Lab 2 gives it a mouth and a phone number. Two new pieces. The Executor is an adapter that takes an incoming A2A request, pulls out the user's text, calls our existing answer_query, and packages the reply as an A2A message. The Agent Card is a public description — served at a well-known URL — that tells clients the agent's name, its skills, and how to reach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At the core, the unchanged PolicyAgent. Wrapped by a PolicyAgentExecutor that implements the SDK's execute method — it calls answer_query and enqueues the result. The DefaultRequestHandler ties the executor to an in-memory task store. Finally A2AStarletteApplication.build produces an ASGI application, and uvicorn.run serves it on port 9999. Each layer has one job; the boundaries are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adapter, upstream. The executor holds a PolicyAgent instance. On each request it reads the user input from the context, calls answer_query — the exact method from Lab 1 — wraps the string in an A2A text message, and enqueues it. That is the whole bridge between our agent and the protocol. The cancel method is a no-op here because the call is synchronous and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Card is the agent's public resume. It names the agent, lists its skills with example prompts, declares capabilities like whether it streams, and gives the URL. A client fetches this card first, at the well-known path, to learn what the agent can do and how to talk to it. Note the host and port come from environment variables — which is exactly where our standards layer improves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Upstream reads the port and host from environment variables with inline fallbacks, and the port numbers appear as magic numbers across several files. Our standards layer defines an AgentPort IntEnum, so every port has one canonical home, and a url_for helper builds the address from a role. We also add a requires decorator that probes an agent's card before a dependent step runs, turning a confusing connection-refused traceback into a clear 'start this server first'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architectural point students must internalize. The agent is an ASGI server — a long-lived process bound to a port, with uvicorn owning its event loop. It is not something you run inside a notebook cell; a blocking uvicorn.run would freeze the notebook. So in our setup the agents run as separate processes via the launcher, and the notebooks act as clients that connect to them over HTTP. That separation is the backbone of the whole multi-agent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server running on 9999, Lab 3 brings up the client side: discover the Agent Card, construct a message, send it, and handle the streamed response. Keep this server running into the next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C1D95"/>
        </a:solidFill>
      </p:bgPr>
    </p:bg>
    <p:spTree>
      <p:nvGrpSpPr>
        <p:cNvPr id="1" name=""/>
        <p:cNvGrpSpPr/>
        <p:nvPr/>
      </p:nvGrpSpPr>
      <p:grpSpPr>
        <a:xfrm>
          <a:off x="0" y="0"/>
          <a:ext cx="0" cy="0"/>
          <a:chOff x="0" y="0"/>
          <a:chExt cx="0" cy="0"/>
        </a:xfrm>
      </p:grpSpPr>
      <p:sp>
        <p:nvSpPr>
          <p:cNvPr id="2" name="Text 0"/>
          <p:cNvSpPr/>
          <p:nvPr/>
        </p:nvSpPr>
        <p:spPr>
          <a:xfrm>
            <a:off x="731520" y="1280160"/>
            <a:ext cx="10698480" cy="365760"/>
          </a:xfrm>
          <a:prstGeom prst="rect">
            <a:avLst/>
          </a:prstGeom>
          <a:noFill/>
          <a:ln/>
        </p:spPr>
        <p:txBody>
          <a:bodyPr wrap="square" lIns="0" tIns="0" rIns="0" bIns="0" rtlCol="0" anchor="ctr"/>
          <a:lstStyle/>
          <a:p>
            <a:pPr indent="0" marL="0">
              <a:buNone/>
            </a:pPr>
            <a:r>
              <a:rPr lang="en-US" sz="1500" b="1" spc="400" kern="0" dirty="0">
                <a:solidFill>
                  <a:srgbClr val="EDE9FE"/>
                </a:solidFill>
                <a:latin typeface="Calibri" pitchFamily="34" charset="0"/>
                <a:ea typeface="Calibri" pitchFamily="34" charset="-122"/>
                <a:cs typeface="Calibri" pitchFamily="34" charset="-120"/>
              </a:rPr>
              <a:t>LAB 2  ·  A2A WALKTHROUGH</a:t>
            </a:r>
            <a:endParaRPr lang="en-US" sz="1500" dirty="0"/>
          </a:p>
        </p:txBody>
      </p:sp>
      <p:sp>
        <p:nvSpPr>
          <p:cNvPr id="3" name="Text 1"/>
          <p:cNvSpPr/>
          <p:nvPr/>
        </p:nvSpPr>
        <p:spPr>
          <a:xfrm>
            <a:off x="731520" y="1783080"/>
            <a:ext cx="10698480" cy="173736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Wrapping the QA Agent</a:t>
            </a:r>
            <a:endParaRPr lang="en-US" sz="3800" dirty="0"/>
          </a:p>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into an A2A Server</a:t>
            </a:r>
            <a:endParaRPr lang="en-US" sz="3800" dirty="0"/>
          </a:p>
        </p:txBody>
      </p:sp>
      <p:sp>
        <p:nvSpPr>
          <p:cNvPr id="4" name="Text 2"/>
          <p:cNvSpPr/>
          <p:nvPr/>
        </p:nvSpPr>
        <p:spPr>
          <a:xfrm>
            <a:off x="731520" y="3703320"/>
            <a:ext cx="10698480" cy="457200"/>
          </a:xfrm>
          <a:prstGeom prst="rect">
            <a:avLst/>
          </a:prstGeom>
          <a:noFill/>
          <a:ln/>
        </p:spPr>
        <p:txBody>
          <a:bodyPr wrap="square" lIns="0" tIns="0" rIns="0" bIns="0" rtlCol="0" anchor="ctr"/>
          <a:lstStyle/>
          <a:p>
            <a:pPr indent="0" marL="0">
              <a:buNone/>
            </a:pPr>
            <a:r>
              <a:rPr lang="en-US" sz="1800" i="1" dirty="0">
                <a:solidFill>
                  <a:srgbClr val="EDE9FE"/>
                </a:solidFill>
                <a:latin typeface="Calibri" pitchFamily="34" charset="0"/>
                <a:ea typeface="Calibri" pitchFamily="34" charset="-122"/>
                <a:cs typeface="Calibri" pitchFamily="34" charset="-120"/>
              </a:rPr>
              <a:t>AgentExecutor  ·  AgentCard  ·  ASGI on port 9999</a:t>
            </a:r>
            <a:endParaRPr lang="en-US" sz="1800" dirty="0"/>
          </a:p>
        </p:txBody>
      </p:sp>
      <p:sp>
        <p:nvSpPr>
          <p:cNvPr id="5" name="Shape 3"/>
          <p:cNvSpPr/>
          <p:nvPr/>
        </p:nvSpPr>
        <p:spPr>
          <a:xfrm>
            <a:off x="731520" y="4434840"/>
            <a:ext cx="2743200" cy="45720"/>
          </a:xfrm>
          <a:prstGeom prst="rect">
            <a:avLst/>
          </a:prstGeom>
          <a:solidFill>
            <a:srgbClr val="10B981"/>
          </a:solidFill>
          <a:ln/>
        </p:spPr>
      </p:sp>
      <p:sp>
        <p:nvSpPr>
          <p:cNvPr id="6" name="Text 4"/>
          <p:cNvSpPr/>
          <p:nvPr/>
        </p:nvSpPr>
        <p:spPr>
          <a:xfrm>
            <a:off x="731520" y="6126480"/>
            <a:ext cx="1069848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Peter Heller · Mind Over Metadata LLC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The idea</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7C3AED"/>
                </a:solidFill>
                <a:latin typeface="Georgia" pitchFamily="34" charset="0"/>
                <a:ea typeface="Georgia" pitchFamily="34" charset="-122"/>
                <a:cs typeface="Georgia" pitchFamily="34" charset="-120"/>
              </a:rPr>
              <a:t>Same agent. New skin: an HTTP server that speaks the A2A protocol.</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An Executor adapts answer_query to the protocol; an Agent Card advertises what the agent can do.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Anatomy of the A2A server</a:t>
            </a:r>
            <a:endParaRPr lang="en-US" sz="2800" dirty="0"/>
          </a:p>
        </p:txBody>
      </p:sp>
      <p:sp>
        <p:nvSpPr>
          <p:cNvPr id="3" name="Shape 1"/>
          <p:cNvSpPr/>
          <p:nvPr/>
        </p:nvSpPr>
        <p:spPr>
          <a:xfrm>
            <a:off x="822960" y="2286000"/>
            <a:ext cx="2354580" cy="1920240"/>
          </a:xfrm>
          <a:prstGeom prst="roundRect">
            <a:avLst>
              <a:gd name="adj" fmla="val 4762"/>
            </a:avLst>
          </a:prstGeom>
          <a:solidFill>
            <a:srgbClr val="EDE9FE"/>
          </a:solidFill>
          <a:ln/>
          <a:effectLst>
            <a:outerShdw sx="100000" sy="100000" kx="0" ky="0" algn="bl" rotWithShape="0" blurRad="101600" dist="38100" dir="8100000">
              <a:srgbClr val="000000">
                <a:alpha val="18000"/>
              </a:srgbClr>
            </a:outerShdw>
          </a:effectLst>
        </p:spPr>
      </p:sp>
      <p:sp>
        <p:nvSpPr>
          <p:cNvPr id="4" name="Text 2"/>
          <p:cNvSpPr/>
          <p:nvPr/>
        </p:nvSpPr>
        <p:spPr>
          <a:xfrm>
            <a:off x="914400" y="2560320"/>
            <a:ext cx="2171700" cy="640080"/>
          </a:xfrm>
          <a:prstGeom prst="rect">
            <a:avLst/>
          </a:prstGeom>
          <a:noFill/>
          <a:ln/>
        </p:spPr>
        <p:txBody>
          <a:bodyPr wrap="square" lIns="0" tIns="0" rIns="0" bIns="0" rtlCol="0" anchor="ctr"/>
          <a:lstStyle/>
          <a:p>
            <a:pPr algn="ctr" indent="0" marL="0">
              <a:buNone/>
            </a:pPr>
            <a:r>
              <a:rPr lang="en-US" sz="1700" b="1" dirty="0">
                <a:solidFill>
                  <a:srgbClr val="1E1B4B"/>
                </a:solidFill>
                <a:latin typeface="Georgia" pitchFamily="34" charset="0"/>
                <a:ea typeface="Georgia" pitchFamily="34" charset="-122"/>
                <a:cs typeface="Georgia" pitchFamily="34" charset="-120"/>
              </a:rPr>
              <a:t>PolicyAgent</a:t>
            </a:r>
            <a:endParaRPr lang="en-US" sz="1700" dirty="0"/>
          </a:p>
        </p:txBody>
      </p:sp>
      <p:sp>
        <p:nvSpPr>
          <p:cNvPr id="5" name="Text 3"/>
          <p:cNvSpPr/>
          <p:nvPr/>
        </p:nvSpPr>
        <p:spPr>
          <a:xfrm>
            <a:off x="932688" y="3200400"/>
            <a:ext cx="2135124" cy="868680"/>
          </a:xfrm>
          <a:prstGeom prst="rect">
            <a:avLst/>
          </a:prstGeom>
          <a:noFill/>
          <a:ln/>
        </p:spPr>
        <p:txBody>
          <a:bodyPr wrap="square" lIns="0" tIns="0" rIns="0" bIns="0" rtlCol="0" anchor="ctr"/>
          <a:lstStyle/>
          <a:p>
            <a:pPr algn="ctr" indent="0" marL="0">
              <a:buNone/>
            </a:pPr>
            <a:r>
              <a:rPr lang="en-US" sz="1200" dirty="0">
                <a:solidFill>
                  <a:srgbClr val="1E1B4B"/>
                </a:solidFill>
                <a:latin typeface="Calibri" pitchFamily="34" charset="0"/>
                <a:ea typeface="Calibri" pitchFamily="34" charset="-122"/>
                <a:cs typeface="Calibri" pitchFamily="34" charset="-120"/>
              </a:rPr>
              <a:t>Lab 1 logic, unchanged</a:t>
            </a:r>
            <a:endParaRPr lang="en-US" sz="1200" dirty="0"/>
          </a:p>
        </p:txBody>
      </p:sp>
      <p:sp>
        <p:nvSpPr>
          <p:cNvPr id="6" name="Text 4"/>
          <p:cNvSpPr/>
          <p:nvPr/>
        </p:nvSpPr>
        <p:spPr>
          <a:xfrm>
            <a:off x="3177540" y="2286000"/>
            <a:ext cx="365760" cy="1920240"/>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3543300" y="2286000"/>
            <a:ext cx="2354580" cy="1920240"/>
          </a:xfrm>
          <a:prstGeom prst="roundRect">
            <a:avLst>
              <a:gd name="adj" fmla="val 4762"/>
            </a:avLst>
          </a:prstGeom>
          <a:solidFill>
            <a:srgbClr val="7C3AED"/>
          </a:solidFill>
          <a:ln/>
          <a:effectLst>
            <a:outerShdw sx="100000" sy="100000" kx="0" ky="0" algn="bl" rotWithShape="0" blurRad="101600" dist="38100" dir="8100000">
              <a:srgbClr val="000000">
                <a:alpha val="18000"/>
              </a:srgbClr>
            </a:outerShdw>
          </a:effectLst>
        </p:spPr>
      </p:sp>
      <p:sp>
        <p:nvSpPr>
          <p:cNvPr id="8" name="Text 6"/>
          <p:cNvSpPr/>
          <p:nvPr/>
        </p:nvSpPr>
        <p:spPr>
          <a:xfrm>
            <a:off x="3634740" y="2560320"/>
            <a:ext cx="21717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Executor</a:t>
            </a:r>
            <a:endParaRPr lang="en-US" sz="1700" dirty="0"/>
          </a:p>
        </p:txBody>
      </p:sp>
      <p:sp>
        <p:nvSpPr>
          <p:cNvPr id="9" name="Text 7"/>
          <p:cNvSpPr/>
          <p:nvPr/>
        </p:nvSpPr>
        <p:spPr>
          <a:xfrm>
            <a:off x="3653028" y="3200400"/>
            <a:ext cx="2135124"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adapts to A2A protocol</a:t>
            </a:r>
            <a:endParaRPr lang="en-US" sz="1200" dirty="0"/>
          </a:p>
        </p:txBody>
      </p:sp>
      <p:sp>
        <p:nvSpPr>
          <p:cNvPr id="10" name="Text 8"/>
          <p:cNvSpPr/>
          <p:nvPr/>
        </p:nvSpPr>
        <p:spPr>
          <a:xfrm>
            <a:off x="5897880" y="2286000"/>
            <a:ext cx="365760" cy="1920240"/>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6263640" y="2286000"/>
            <a:ext cx="2354580" cy="1920240"/>
          </a:xfrm>
          <a:prstGeom prst="roundRect">
            <a:avLst>
              <a:gd name="adj" fmla="val 4762"/>
            </a:avLst>
          </a:prstGeom>
          <a:solidFill>
            <a:srgbClr val="7C3AED"/>
          </a:solidFill>
          <a:ln/>
          <a:effectLst>
            <a:outerShdw sx="100000" sy="100000" kx="0" ky="0" algn="bl" rotWithShape="0" blurRad="101600" dist="38100" dir="8100000">
              <a:srgbClr val="000000">
                <a:alpha val="18000"/>
              </a:srgbClr>
            </a:outerShdw>
          </a:effectLst>
        </p:spPr>
      </p:sp>
      <p:sp>
        <p:nvSpPr>
          <p:cNvPr id="12" name="Text 10"/>
          <p:cNvSpPr/>
          <p:nvPr/>
        </p:nvSpPr>
        <p:spPr>
          <a:xfrm>
            <a:off x="6355080" y="2560320"/>
            <a:ext cx="21717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RequestHandler</a:t>
            </a:r>
            <a:endParaRPr lang="en-US" sz="1700" dirty="0"/>
          </a:p>
        </p:txBody>
      </p:sp>
      <p:sp>
        <p:nvSpPr>
          <p:cNvPr id="13" name="Text 11"/>
          <p:cNvSpPr/>
          <p:nvPr/>
        </p:nvSpPr>
        <p:spPr>
          <a:xfrm>
            <a:off x="6373368" y="3200400"/>
            <a:ext cx="2135124"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 task store</a:t>
            </a:r>
            <a:endParaRPr lang="en-US" sz="1200" dirty="0"/>
          </a:p>
        </p:txBody>
      </p:sp>
      <p:sp>
        <p:nvSpPr>
          <p:cNvPr id="14" name="Text 12"/>
          <p:cNvSpPr/>
          <p:nvPr/>
        </p:nvSpPr>
        <p:spPr>
          <a:xfrm>
            <a:off x="8618220" y="2286000"/>
            <a:ext cx="365760" cy="1920240"/>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8983980" y="2286000"/>
            <a:ext cx="2354580" cy="1920240"/>
          </a:xfrm>
          <a:prstGeom prst="roundRect">
            <a:avLst>
              <a:gd name="adj" fmla="val 4762"/>
            </a:avLst>
          </a:prstGeom>
          <a:solidFill>
            <a:srgbClr val="10B981"/>
          </a:solidFill>
          <a:ln/>
          <a:effectLst>
            <a:outerShdw sx="100000" sy="100000" kx="0" ky="0" algn="bl" rotWithShape="0" blurRad="101600" dist="38100" dir="8100000">
              <a:srgbClr val="000000">
                <a:alpha val="18000"/>
              </a:srgbClr>
            </a:outerShdw>
          </a:effectLst>
        </p:spPr>
      </p:sp>
      <p:sp>
        <p:nvSpPr>
          <p:cNvPr id="16" name="Text 14"/>
          <p:cNvSpPr/>
          <p:nvPr/>
        </p:nvSpPr>
        <p:spPr>
          <a:xfrm>
            <a:off x="9075420" y="2560320"/>
            <a:ext cx="21717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Starlette app</a:t>
            </a:r>
            <a:endParaRPr lang="en-US" sz="1700" dirty="0"/>
          </a:p>
        </p:txBody>
      </p:sp>
      <p:sp>
        <p:nvSpPr>
          <p:cNvPr id="17" name="Text 15"/>
          <p:cNvSpPr/>
          <p:nvPr/>
        </p:nvSpPr>
        <p:spPr>
          <a:xfrm>
            <a:off x="9093708" y="3200400"/>
            <a:ext cx="2135124"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uvicorn :9999</a:t>
            </a:r>
            <a:endParaRPr lang="en-US" sz="1200" dirty="0"/>
          </a:p>
        </p:txBody>
      </p:sp>
      <p:sp>
        <p:nvSpPr>
          <p:cNvPr id="18" name="Text 16"/>
          <p:cNvSpPr/>
          <p:nvPr/>
        </p:nvSpPr>
        <p:spPr>
          <a:xfrm>
            <a:off x="822960" y="4846320"/>
            <a:ext cx="10515600" cy="914400"/>
          </a:xfrm>
          <a:prstGeom prst="rect">
            <a:avLst/>
          </a:prstGeom>
          <a:noFill/>
          <a:ln/>
        </p:spPr>
        <p:txBody>
          <a:bodyPr wrap="square" lIns="0" tIns="0" rIns="0" bIns="0" rtlCol="0" anchor="ctr"/>
          <a:lstStyle/>
          <a:p>
            <a:pPr indent="0" marL="0">
              <a:buNone/>
            </a:pPr>
            <a:r>
              <a:rPr lang="en-US" sz="1700" i="1" dirty="0">
                <a:solidFill>
                  <a:srgbClr val="6B7280"/>
                </a:solidFill>
                <a:latin typeface="Calibri" pitchFamily="34" charset="0"/>
                <a:ea typeface="Calibri" pitchFamily="34" charset="-122"/>
                <a:cs typeface="Calibri" pitchFamily="34" charset="-120"/>
              </a:rPr>
              <a:t>A2AStarletteApplication.build() yields an ASGI app; uvicorn.run serves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Upstream baseline — the executor</a:t>
            </a:r>
            <a:endParaRPr lang="en-US" sz="2800" dirty="0"/>
          </a:p>
        </p:txBody>
      </p:sp>
      <p:sp>
        <p:nvSpPr>
          <p:cNvPr id="3" name="Shape 1"/>
          <p:cNvSpPr/>
          <p:nvPr/>
        </p:nvSpPr>
        <p:spPr>
          <a:xfrm>
            <a:off x="822960" y="1645920"/>
            <a:ext cx="10515600" cy="3383280"/>
          </a:xfrm>
          <a:prstGeom prst="roundRect">
            <a:avLst>
              <a:gd name="adj" fmla="val 2703"/>
            </a:avLst>
          </a:prstGeom>
          <a:solidFill>
            <a:srgbClr val="1E1B4B"/>
          </a:solidFill>
          <a:ln/>
          <a:effectLst>
            <a:outerShdw sx="100000" sy="100000" kx="0" ky="0" algn="bl" rotWithShape="0" blurRad="101600" dist="38100" dir="8100000">
              <a:srgbClr val="000000">
                <a:alpha val="18000"/>
              </a:srgbClr>
            </a:outerShdw>
          </a:effectLst>
        </p:spPr>
      </p:sp>
      <p:sp>
        <p:nvSpPr>
          <p:cNvPr id="4" name="Text 2"/>
          <p:cNvSpPr/>
          <p:nvPr/>
        </p:nvSpPr>
        <p:spPr>
          <a:xfrm>
            <a:off x="1097280" y="1874520"/>
            <a:ext cx="9966960" cy="2926080"/>
          </a:xfrm>
          <a:prstGeom prst="rect">
            <a:avLst/>
          </a:prstGeom>
          <a:noFill/>
          <a:ln/>
        </p:spPr>
        <p:txBody>
          <a:bodyPr wrap="square" lIns="0" tIns="0" rIns="0" bIns="0" rtlCol="0" anchor="t"/>
          <a:lstStyle/>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class PolicyAgentExecutor(AgentExecutor):</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def __init__(self) -&gt; None:</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self.agent = PolicyAgent()</a:t>
            </a:r>
            <a:endParaRPr lang="en-US" sz="1400" dirty="0"/>
          </a:p>
          <a:p>
            <a:pPr indent="0" marL="0">
              <a:lnSpc>
                <a:spcPct val="115000"/>
              </a:lnSpc>
              <a:buNone/>
            </a:pP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async def execute(self, context, event_queue) -&gt; None:</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prompt = context.get_user_input()</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response = self.agent.answer_query(prompt)</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message = new_agent_text_message(response)</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await event_queue.enqueue_event(message)</a:t>
            </a:r>
            <a:endParaRPr lang="en-US" sz="1400" dirty="0"/>
          </a:p>
        </p:txBody>
      </p:sp>
      <p:sp>
        <p:nvSpPr>
          <p:cNvPr id="5" name="Text 3"/>
          <p:cNvSpPr/>
          <p:nvPr/>
        </p:nvSpPr>
        <p:spPr>
          <a:xfrm>
            <a:off x="822960" y="5212080"/>
            <a:ext cx="10515600" cy="8229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Executor is the only glue: user input in, answer_query, message out.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Upstream baseline — the Agent Card</a:t>
            </a:r>
            <a:endParaRPr lang="en-US" sz="2800" dirty="0"/>
          </a:p>
        </p:txBody>
      </p:sp>
      <p:sp>
        <p:nvSpPr>
          <p:cNvPr id="3" name="Shape 1"/>
          <p:cNvSpPr/>
          <p:nvPr/>
        </p:nvSpPr>
        <p:spPr>
          <a:xfrm>
            <a:off x="822960" y="1645920"/>
            <a:ext cx="10515600" cy="3383280"/>
          </a:xfrm>
          <a:prstGeom prst="roundRect">
            <a:avLst>
              <a:gd name="adj" fmla="val 2703"/>
            </a:avLst>
          </a:prstGeom>
          <a:solidFill>
            <a:srgbClr val="1E1B4B"/>
          </a:solidFill>
          <a:ln/>
          <a:effectLst>
            <a:outerShdw sx="100000" sy="100000" kx="0" ky="0" algn="bl" rotWithShape="0" blurRad="101600" dist="38100" dir="8100000">
              <a:srgbClr val="000000">
                <a:alpha val="18000"/>
              </a:srgbClr>
            </a:outerShdw>
          </a:effectLst>
        </p:spPr>
      </p:sp>
      <p:sp>
        <p:nvSpPr>
          <p:cNvPr id="4" name="Text 2"/>
          <p:cNvSpPr/>
          <p:nvPr/>
        </p:nvSpPr>
        <p:spPr>
          <a:xfrm>
            <a:off x="1097280" y="1874520"/>
            <a:ext cx="9966960" cy="2926080"/>
          </a:xfrm>
          <a:prstGeom prst="rect">
            <a:avLst/>
          </a:prstGeom>
          <a:noFill/>
          <a:ln/>
        </p:spPr>
        <p:txBody>
          <a:bodyPr wrap="square" lIns="0" tIns="0" rIns="0" bIns="0" rtlCol="0" anchor="t"/>
          <a:lstStyle/>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skill = AgentSkill(</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id="insurance_coverage", name="Insurance coverage",</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description="Information about coverage options and details.",</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tags=["insurance", "coverage"],</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examples=["What does my policy cover?",</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"Are mental health services included?"])</a:t>
            </a:r>
            <a:endParaRPr lang="en-US" sz="1400" dirty="0"/>
          </a:p>
          <a:p>
            <a:pPr indent="0" marL="0">
              <a:lnSpc>
                <a:spcPct val="115000"/>
              </a:lnSpc>
              <a:buNone/>
            </a:pP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agent_card = AgentCard(</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name="InsurancePolicyCoverageAgent",</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url=f"http://{HOST}:{PORT}/", version="1.0.0",</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capabilities=AgentCapabilities(streaming=False),</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skills=[skill])</a:t>
            </a:r>
            <a:endParaRPr lang="en-US" sz="1400" dirty="0"/>
          </a:p>
        </p:txBody>
      </p:sp>
      <p:sp>
        <p:nvSpPr>
          <p:cNvPr id="5" name="Text 3"/>
          <p:cNvSpPr/>
          <p:nvPr/>
        </p:nvSpPr>
        <p:spPr>
          <a:xfrm>
            <a:off x="822960" y="5212080"/>
            <a:ext cx="10515600" cy="8229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card is how a client discovers the agent before ever sending a query.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Baseline vs. how we built it</a:t>
            </a:r>
            <a:endParaRPr lang="en-US" sz="2800" dirty="0"/>
          </a:p>
        </p:txBody>
      </p:sp>
      <p:sp>
        <p:nvSpPr>
          <p:cNvPr id="3" name="Shape 1"/>
          <p:cNvSpPr/>
          <p:nvPr/>
        </p:nvSpPr>
        <p:spPr>
          <a:xfrm>
            <a:off x="822960" y="1737360"/>
            <a:ext cx="5029200" cy="3931920"/>
          </a:xfrm>
          <a:prstGeom prst="roundRect">
            <a:avLst>
              <a:gd name="adj" fmla="val 2791"/>
            </a:avLst>
          </a:prstGeom>
          <a:solidFill>
            <a:srgbClr val="FFFFFF"/>
          </a:solidFill>
          <a:ln w="25400">
            <a:solidFill>
              <a:srgbClr val="F59E0B"/>
            </a:solidFill>
            <a:prstDash val="solid"/>
          </a:ln>
          <a:effectLst>
            <a:outerShdw sx="100000" sy="100000" kx="0" ky="0" algn="bl" rotWithShape="0" blurRad="101600" dist="38100" dir="8100000">
              <a:srgbClr val="000000">
                <a:alpha val="18000"/>
              </a:srgbClr>
            </a:outerShdw>
          </a:effectLst>
        </p:spPr>
      </p:sp>
      <p:sp>
        <p:nvSpPr>
          <p:cNvPr id="4" name="Text 2"/>
          <p:cNvSpPr/>
          <p:nvPr/>
        </p:nvSpPr>
        <p:spPr>
          <a:xfrm>
            <a:off x="1097280" y="1920240"/>
            <a:ext cx="4480560" cy="457200"/>
          </a:xfrm>
          <a:prstGeom prst="rect">
            <a:avLst/>
          </a:prstGeom>
          <a:noFill/>
          <a:ln/>
        </p:spPr>
        <p:txBody>
          <a:bodyPr wrap="square" lIns="0" tIns="0" rIns="0" bIns="0" rtlCol="0" anchor="ctr"/>
          <a:lstStyle/>
          <a:p>
            <a:pPr indent="0" marL="0">
              <a:buNone/>
            </a:pPr>
            <a:r>
              <a:rPr lang="en-US" sz="1900" b="1" dirty="0">
                <a:solidFill>
                  <a:srgbClr val="1E1B4B"/>
                </a:solidFill>
                <a:latin typeface="Georgia" pitchFamily="34" charset="0"/>
                <a:ea typeface="Georgia" pitchFamily="34" charset="-122"/>
                <a:cs typeface="Georgia" pitchFamily="34" charset="-120"/>
              </a:rPr>
              <a:t>Upstream baseline</a:t>
            </a:r>
            <a:endParaRPr lang="en-US" sz="1900" dirty="0"/>
          </a:p>
        </p:txBody>
      </p:sp>
      <p:sp>
        <p:nvSpPr>
          <p:cNvPr id="5" name="Text 3"/>
          <p:cNvSpPr/>
          <p:nvPr/>
        </p:nvSpPr>
        <p:spPr>
          <a:xfrm>
            <a:off x="1097280" y="2468880"/>
            <a:ext cx="44805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PORT = int(os.getenv('POLICY_AGENT_PORT', 9999))</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HOST = os.getenv('AGENT_HOST', 'localhost')</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Ports as scattered magic numbers</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URL strings built inline</a:t>
            </a:r>
            <a:endParaRPr lang="en-US" sz="1500" dirty="0"/>
          </a:p>
        </p:txBody>
      </p:sp>
      <p:sp>
        <p:nvSpPr>
          <p:cNvPr id="6" name="Shape 4"/>
          <p:cNvSpPr/>
          <p:nvPr/>
        </p:nvSpPr>
        <p:spPr>
          <a:xfrm>
            <a:off x="6309360" y="1737360"/>
            <a:ext cx="5029200" cy="3931920"/>
          </a:xfrm>
          <a:prstGeom prst="roundRect">
            <a:avLst>
              <a:gd name="adj" fmla="val 2791"/>
            </a:avLst>
          </a:prstGeom>
          <a:solidFill>
            <a:srgbClr val="4C1D95"/>
          </a:solidFill>
          <a:ln/>
          <a:effectLst>
            <a:outerShdw sx="100000" sy="100000" kx="0" ky="0" algn="bl" rotWithShape="0" blurRad="101600" dist="38100" dir="8100000">
              <a:srgbClr val="000000">
                <a:alpha val="18000"/>
              </a:srgbClr>
            </a:outerShdw>
          </a:effectLst>
        </p:spPr>
      </p:sp>
      <p:sp>
        <p:nvSpPr>
          <p:cNvPr id="7" name="Text 5"/>
          <p:cNvSpPr/>
          <p:nvPr/>
        </p:nvSpPr>
        <p:spPr>
          <a:xfrm>
            <a:off x="6583680" y="1920240"/>
            <a:ext cx="448056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How we built it</a:t>
            </a:r>
            <a:endParaRPr lang="en-US" sz="1900" dirty="0"/>
          </a:p>
        </p:txBody>
      </p:sp>
      <p:sp>
        <p:nvSpPr>
          <p:cNvPr id="8" name="Text 6"/>
          <p:cNvSpPr/>
          <p:nvPr/>
        </p:nvSpPr>
        <p:spPr>
          <a:xfrm>
            <a:off x="6583680" y="2468880"/>
            <a:ext cx="44805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AgentPort.POLICY IntEnum = 9999</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settings.url_for(AgentRole.POLICY)</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One source of truth for every port</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@requires(...) probes the card first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Why ASGI matters here</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7C3AED"/>
                </a:solidFill>
                <a:latin typeface="Georgia" pitchFamily="34" charset="0"/>
                <a:ea typeface="Georgia" pitchFamily="34" charset="-122"/>
                <a:cs typeface="Georgia" pitchFamily="34" charset="-120"/>
              </a:rPr>
              <a:t>The agent is a long-lived server, not a notebook cell.</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uvicorn owns the process and the event loop. A Marimo notebook can't host it — it connects to it as a client.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Next</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10B981"/>
                </a:solidFill>
                <a:latin typeface="Georgia" pitchFamily="34" charset="0"/>
                <a:ea typeface="Georgia" pitchFamily="34" charset="-122"/>
                <a:cs typeface="Georgia" pitchFamily="34" charset="-120"/>
              </a:rPr>
              <a:t>Lab 3 connects an A2A client to this server.</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Discover the card, send a message, process the response stream.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2 - A2A Server</dc:title>
  <dc:subject>PptxGenJS Presentation</dc:subject>
  <dc:creator>Peter Heller — Mind Over Metadata LLC</dc:creator>
  <cp:lastModifiedBy>Peter Heller — Mind Over Metadata LLC</cp:lastModifiedBy>
  <cp:revision>1</cp:revision>
  <dcterms:created xsi:type="dcterms:W3CDTF">2026-06-02T11:06:44Z</dcterms:created>
  <dcterms:modified xsi:type="dcterms:W3CDTF">2026-06-02T11:06:44Z</dcterms:modified>
</cp:coreProperties>
</file>