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</p:sldIdLst>
  <p:notesMasterIdLst>
    <p:notesMasterId r:id="rId7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notesMaster" Target="notesMasters/notesMaster1.xml"/><Relationship Id="rId71" Type="http://schemas.openxmlformats.org/officeDocument/2006/relationships/presProps" Target="presProps.xml"/><Relationship Id="rId72" Type="http://schemas.openxmlformats.org/officeDocument/2006/relationships/viewProps" Target="viewProps.xml"/><Relationship Id="rId73" Type="http://schemas.openxmlformats.org/officeDocument/2006/relationships/theme" Target="theme/theme1.xml"/><Relationship Id="rId7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A2E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A2A UNIFIED SYSTEM · CODE WALKTHROUGH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972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6A2E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eight segmented labs to one governed application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3931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complete walkthrough — each module, then the puzzle assembled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937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modules · 4 agents · 5 frameworks · 1 registry · DAG + DCG over A2A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 — a system glued by convention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upstream A2A Walkthrough is segmented by framework. Each agent is a standalone script that hardcodes its own identity, held together only by shared environment variables and naming convention: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423160"/>
            <a:ext cx="118872" cy="502920"/>
          </a:xfrm>
          <a:prstGeom prst="rect">
            <a:avLst/>
          </a:prstGeom>
          <a:solidFill>
            <a:srgbClr val="C9302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3774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93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Ports  —  </a:t>
            </a:r>
            <a:pPr indent="0" marL="0">
              <a:buNone/>
            </a:pPr>
            <a:r>
              <a:rPr lang="en-US" sz="14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ad hoc from os.getenv in every script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3136392"/>
            <a:ext cx="118872" cy="502920"/>
          </a:xfrm>
          <a:prstGeom prst="rect">
            <a:avLst/>
          </a:prstGeom>
          <a:solidFill>
            <a:srgbClr val="C9302C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090672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93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Models  —  </a:t>
            </a:r>
            <a:pPr indent="0" marL="0">
              <a:buNone/>
            </a:pPr>
            <a:r>
              <a:rPr lang="en-US" sz="14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string literals, fixed per agent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849624"/>
            <a:ext cx="118872" cy="502920"/>
          </a:xfrm>
          <a:prstGeom prst="rect">
            <a:avLst/>
          </a:prstGeom>
          <a:solidFill>
            <a:srgbClr val="C9302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803904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93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  —  </a:t>
            </a:r>
            <a:pPr indent="0" marL="0">
              <a:buNone/>
            </a:pPr>
            <a:r>
              <a:rPr lang="en-US" sz="14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AgentSkill from inline strings, re-typed in card + handler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4562856"/>
            <a:ext cx="118872" cy="502920"/>
          </a:xfrm>
          <a:prstGeom prst="rect">
            <a:avLst/>
          </a:prstGeom>
          <a:solidFill>
            <a:srgbClr val="C9302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517136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93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 tool  —  </a:t>
            </a:r>
            <a:pPr indent="0" marL="0">
              <a:buNone/>
            </a:pPr>
            <a:r>
              <a:rPr lang="en-US" sz="14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"find_healthcare_providers" typed 3× — mismatched vs the server's real list_doctors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5276088"/>
            <a:ext cx="118872" cy="502920"/>
          </a:xfrm>
          <a:prstGeom prst="rect">
            <a:avLst/>
          </a:prstGeom>
          <a:solidFill>
            <a:srgbClr val="C9302C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5230368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93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Call graph  —  </a:t>
            </a:r>
            <a:pPr indent="0" marL="0">
              <a:buNone/>
            </a:pPr>
            <a:r>
              <a:rPr lang="en-US" sz="14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lives only inside the orchestrator, as URLs from env vars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48640" y="6355080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Nothing can answer 'what agents make up this system?' — those facts are scattered across files.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thesis — identity becomes governed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piece of identity is drawn from a closed Enum or a validated model. A prompt stays input; nothing about identity is hand-typed.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566160" cy="338328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9050">
            <a:solidFill>
              <a:srgbClr val="C9302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39572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3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🔴  Before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926080"/>
            <a:ext cx="31089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Ports via os.getenv</a:t>
            </a:r>
            <a:endParaRPr lang="en-US" sz="1250" dirty="0"/>
          </a:p>
          <a:p>
            <a:pPr indent="0" marL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Models as strings</a:t>
            </a:r>
            <a:endParaRPr lang="en-US" sz="1250" dirty="0"/>
          </a:p>
          <a:p>
            <a:pPr indent="0" marL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 ids inline, re-typed</a:t>
            </a:r>
            <a:endParaRPr lang="en-US" sz="1250" dirty="0"/>
          </a:p>
          <a:p>
            <a:pPr indent="0" marL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 name typed 3×, mismatched</a:t>
            </a:r>
            <a:endParaRPr lang="en-US" sz="1250" dirty="0"/>
          </a:p>
          <a:p>
            <a:pPr indent="0" marL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Call graph as env-var URLs</a:t>
            </a:r>
            <a:endParaRPr lang="en-US" sz="1250" dirty="0"/>
          </a:p>
          <a:p>
            <a:pPr indent="0" marL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registry, no validation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97680" y="2194560"/>
            <a:ext cx="3566160" cy="3383280"/>
          </a:xfrm>
          <a:prstGeom prst="roundRect">
            <a:avLst>
              <a:gd name="adj" fmla="val 2432"/>
            </a:avLst>
          </a:prstGeom>
          <a:solidFill>
            <a:srgbClr val="EEEBFA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26280" y="239572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A2E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⚙  The move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26280" y="2926080"/>
            <a:ext cx="31089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Ports → AgentRole.port</a:t>
            </a:r>
            <a:endParaRPr lang="en-US" sz="1250" dirty="0"/>
          </a:p>
          <a:p>
            <a:pPr indent="0" marL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Models → VendorModel</a:t>
            </a:r>
            <a:endParaRPr lang="en-US" sz="1250" dirty="0"/>
          </a:p>
          <a:p>
            <a:pPr indent="0" marL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Frameworks → AgentFramework</a:t>
            </a:r>
            <a:endParaRPr lang="en-US" sz="1250" dirty="0"/>
          </a:p>
          <a:p>
            <a:pPr indent="0" marL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 tool → McpTool Enum</a:t>
            </a:r>
            <a:endParaRPr lang="en-US" sz="1250" dirty="0"/>
          </a:p>
          <a:p>
            <a:pPr indent="0" marL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 id → FQSN</a:t>
            </a:r>
            <a:endParaRPr lang="en-US" sz="1250" dirty="0"/>
          </a:p>
          <a:p>
            <a:pPr indent="0" marL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Call graph → validated registry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46720" y="2194560"/>
            <a:ext cx="3566160" cy="3383280"/>
          </a:xfrm>
          <a:prstGeom prst="roundRect">
            <a:avLst>
              <a:gd name="adj" fmla="val 2432"/>
            </a:avLst>
          </a:prstGeom>
          <a:solidFill>
            <a:srgbClr val="3B1A78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75320" y="239572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🟢  After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75320" y="2926080"/>
            <a:ext cx="31089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D8D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typo fails at import,</a:t>
            </a:r>
            <a:endParaRPr lang="en-US" sz="1250" dirty="0"/>
          </a:p>
          <a:p>
            <a:pPr indent="0" marL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D8D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in production.</a:t>
            </a:r>
            <a:endParaRPr lang="en-US" sz="1250" dirty="0"/>
          </a:p>
          <a:p>
            <a:pPr indent="0" marL="0">
              <a:lnSpc>
                <a:spcPct val="113000"/>
              </a:lnSpc>
              <a:buNone/>
            </a:pPr>
            <a:endParaRPr lang="en-US" sz="1250" dirty="0"/>
          </a:p>
          <a:p>
            <a:pPr indent="0" marL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D8D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four agents are one</a:t>
            </a:r>
            <a:endParaRPr lang="en-US" sz="1250" dirty="0"/>
          </a:p>
          <a:p>
            <a:pPr indent="0" marL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D8D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immutable registry whose</a:t>
            </a:r>
            <a:endParaRPr lang="en-US" sz="1250" dirty="0"/>
          </a:p>
          <a:p>
            <a:pPr indent="0" marL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D8D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call graph is proven</a:t>
            </a:r>
            <a:endParaRPr lang="en-US" sz="1250" dirty="0"/>
          </a:p>
          <a:p>
            <a:pPr indent="0" marL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D8D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closed before anything runs.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6355080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boundary: identity is always an Enum or governed model; only human prose stays free.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layered architecture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layers, each depending only on the one beneath. Foundation supplies primitives; governance composes them; presentation consumes the result — never a literal.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1064240" cy="1143000"/>
          </a:xfrm>
          <a:prstGeom prst="roundRect">
            <a:avLst>
              <a:gd name="adj" fmla="val 7200"/>
            </a:avLst>
          </a:prstGeom>
          <a:solidFill>
            <a:srgbClr val="E8F4FD"/>
          </a:solidFill>
          <a:ln w="19050">
            <a:solidFill>
              <a:srgbClr val="6A2EB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304288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🔵  Foundation primitives (a2a_labs)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834640"/>
            <a:ext cx="106070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enums.py · vendors.py · fqsn.py · config.py · orchestrator.py  —  closed sets, validated models, the is_up probe &amp; launch tiers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429000"/>
            <a:ext cx="11064240" cy="1143000"/>
          </a:xfrm>
          <a:prstGeom prst="roundRect">
            <a:avLst>
              <a:gd name="adj" fmla="val 7200"/>
            </a:avLst>
          </a:prstGeom>
          <a:solidFill>
            <a:srgbClr val="F8F0FF"/>
          </a:solidFill>
          <a:ln w="19050">
            <a:solidFill>
              <a:srgbClr val="6A2EB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3630168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A2E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🟣  System governance layer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4160520"/>
            <a:ext cx="106070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agent_framework.py · mcp_tools.py · agent_specs.py · system_registry.py  —  composes primitives into validated specs &amp; the registry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754880"/>
            <a:ext cx="11064240" cy="1143000"/>
          </a:xfrm>
          <a:prstGeom prst="roundRect">
            <a:avLst>
              <a:gd name="adj" fmla="val 7200"/>
            </a:avLst>
          </a:prstGeom>
          <a:solidFill>
            <a:srgbClr val="FFF4E6"/>
          </a:solidFill>
          <a:ln w="19050">
            <a:solidFill>
              <a:srgbClr val="E89A1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4956048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🟠  Presentation layer (Marimo + uvicorn)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5486400"/>
            <a:ext cx="106070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system_console.py · console_monitor.py · console_asgi.py  —  reads the registry to render, monitor, and launch the system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943600" y="32004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A2E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▼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0" y="45262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A2E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▼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6355080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Dependency flows strictly downward: the console imports the registry, never an agent script or a literal.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four agents — five frameworks, one system</a:t>
            </a:r>
            <a:endParaRPr lang="en-US" sz="2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005840"/>
                <a:gridCol w="2743200"/>
                <a:gridCol w="3474720"/>
                <a:gridCol w="20116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Agent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Port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Framework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Skill (FQSN)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MCP tool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Policy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9999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Raw A2A SDK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policy.insurance_coverage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—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Research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9998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Google ADK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research.health_research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—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Provider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9997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LangGraph + MCP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provider.find_providers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list_doctors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Healthcare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9996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BeeAI (orchestrator)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healthcare.concierge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—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46634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Healthcare agent is the orchestrator front door: it hands off to Policy, Research, and Provider over the Agent-to-Agent (A2A) protocol. Provider calls the Model Context Protocol (MCP) doctor server.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48640" y="6355080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frameworks unified by the registry, not rewritten.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Runtime — the concierge round trip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user prompt enters the Healthcare orchestrator, which consults its registry-governed handoffs and calls the three agents over A2A. Each hop is an independent, correlated request.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2194560" cy="914400"/>
          </a:xfrm>
          <a:prstGeom prst="roundRect">
            <a:avLst>
              <a:gd name="adj" fmla="val 7000"/>
            </a:avLst>
          </a:prstGeom>
          <a:solidFill>
            <a:srgbClr val="EEEBFA"/>
          </a:solidFill>
          <a:ln w="17780">
            <a:solidFill>
              <a:srgbClr val="6A2E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468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input, not hardcoded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00400" y="2377440"/>
            <a:ext cx="2377440" cy="914400"/>
          </a:xfrm>
          <a:prstGeom prst="roundRect">
            <a:avLst>
              <a:gd name="adj" fmla="val 7000"/>
            </a:avLst>
          </a:prstGeom>
          <a:solidFill>
            <a:srgbClr val="3B1A78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0" y="24688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Healthcare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91840" y="28346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BeeAI orchestrator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035040" y="1554480"/>
            <a:ext cx="2286000" cy="822960"/>
          </a:xfrm>
          <a:prstGeom prst="roundRect">
            <a:avLst>
              <a:gd name="adj" fmla="val 7778"/>
            </a:avLst>
          </a:prstGeom>
          <a:solidFill>
            <a:srgbClr val="EEEBFA"/>
          </a:solidFill>
          <a:ln w="17780">
            <a:solidFill>
              <a:srgbClr val="6A2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16459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126480" y="20116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A2A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35040" y="2606040"/>
            <a:ext cx="2286000" cy="822960"/>
          </a:xfrm>
          <a:prstGeom prst="roundRect">
            <a:avLst>
              <a:gd name="adj" fmla="val 7778"/>
            </a:avLst>
          </a:prstGeom>
          <a:solidFill>
            <a:srgbClr val="EEEBFA"/>
          </a:solidFill>
          <a:ln w="17780">
            <a:solidFill>
              <a:srgbClr val="6A2E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2697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Research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26480" y="30632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A2A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35040" y="3657600"/>
            <a:ext cx="2286000" cy="822960"/>
          </a:xfrm>
          <a:prstGeom prst="roundRect">
            <a:avLst>
              <a:gd name="adj" fmla="val 7778"/>
            </a:avLst>
          </a:prstGeom>
          <a:solidFill>
            <a:srgbClr val="EEEBFA"/>
          </a:solidFill>
          <a:ln w="17780">
            <a:solidFill>
              <a:srgbClr val="6A2E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37490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26480" y="41148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A2A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869680" y="3657600"/>
            <a:ext cx="237744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7780">
            <a:solidFill>
              <a:srgbClr val="2E9E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0" y="37490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 doctorserver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961120" y="41148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list_doctors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0" y="2834640"/>
            <a:ext cx="411480" cy="0"/>
          </a:xfrm>
          <a:prstGeom prst="line">
            <a:avLst/>
          </a:prstGeom>
          <a:noFill/>
          <a:ln w="25400">
            <a:solidFill>
              <a:srgbClr val="6A2EB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577840" y="2834640"/>
            <a:ext cx="411480" cy="-868680"/>
          </a:xfrm>
          <a:prstGeom prst="line">
            <a:avLst/>
          </a:prstGeom>
          <a:noFill/>
          <a:ln w="25400">
            <a:solidFill>
              <a:srgbClr val="E89A1C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577840" y="2834640"/>
            <a:ext cx="411480" cy="182880"/>
          </a:xfrm>
          <a:prstGeom prst="line">
            <a:avLst/>
          </a:prstGeom>
          <a:noFill/>
          <a:ln w="25400">
            <a:solidFill>
              <a:srgbClr val="E89A1C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577840" y="2834640"/>
            <a:ext cx="411480" cy="1234440"/>
          </a:xfrm>
          <a:prstGeom prst="line">
            <a:avLst/>
          </a:prstGeom>
          <a:noFill/>
          <a:ln w="25400">
            <a:solidFill>
              <a:srgbClr val="E89A1C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321040" y="4069080"/>
            <a:ext cx="502920" cy="0"/>
          </a:xfrm>
          <a:prstGeom prst="line">
            <a:avLst/>
          </a:prstGeom>
          <a:noFill/>
          <a:ln w="25400">
            <a:solidFill>
              <a:srgbClr val="2E9E6B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548640" y="6355080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orchestrator's three edges are declared once on its AgentSpec and validated by the registry.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Extensibility — one addition, one module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kind of growth touches exactly one place and never the UI, because every consumer reaches identity through an Enum or the registry.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291840" cy="777240"/>
          </a:xfrm>
          <a:prstGeom prst="roundRect">
            <a:avLst>
              <a:gd name="adj" fmla="val 7059"/>
            </a:avLst>
          </a:prstGeom>
          <a:solidFill>
            <a:srgbClr val="EEEBF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10312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A2E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 an agent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023360" y="2103120"/>
            <a:ext cx="7589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AgentSpec in the registry — handoffs validated at import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035808"/>
            <a:ext cx="3291840" cy="777240"/>
          </a:xfrm>
          <a:prstGeom prst="roundRect">
            <a:avLst>
              <a:gd name="adj" fmla="val 7059"/>
            </a:avLst>
          </a:prstGeom>
          <a:solidFill>
            <a:srgbClr val="EEEBF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035808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A2E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 a framework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023360" y="3035808"/>
            <a:ext cx="7589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AgentFramework member — labels &amp; cards pick it up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968496"/>
            <a:ext cx="3291840" cy="777240"/>
          </a:xfrm>
          <a:prstGeom prst="roundRect">
            <a:avLst>
              <a:gd name="adj" fmla="val 7059"/>
            </a:avLst>
          </a:prstGeom>
          <a:solidFill>
            <a:srgbClr val="EEEBF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968496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A2E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 an MCP tool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023360" y="3968496"/>
            <a:ext cx="7589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McpTool member naming its server — SERVER_TOOLS derives it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901184"/>
            <a:ext cx="3291840" cy="777240"/>
          </a:xfrm>
          <a:prstGeom prst="roundRect">
            <a:avLst>
              <a:gd name="adj" fmla="val 7059"/>
            </a:avLst>
          </a:prstGeom>
          <a:solidFill>
            <a:srgbClr val="EEEBF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901184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A2E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 a model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023360" y="4901184"/>
            <a:ext cx="7589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VendorModel member carrying its vendor — cascade-validated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" y="6355080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typo fails at import, not in production — the closed-set guarantee, extended to the whole system.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Scaling the topology — DAG and DCG over A2A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registry supports both a Directed Acyclic Graph (DAG) and a Directed Cyclic Graph (DCG). Closure is always enforced; acyclicity is opt-in; cyclic conversations are bounded by a parameterized call depth (default 4).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5394960" cy="1828800"/>
          </a:xfrm>
          <a:prstGeom prst="roundRect">
            <a:avLst>
              <a:gd name="adj" fmla="val 4500"/>
            </a:avLst>
          </a:prstGeom>
          <a:solidFill>
            <a:srgbClr val="EEEBFA"/>
          </a:solidFill>
          <a:ln w="19050">
            <a:solidFill>
              <a:srgbClr val="6A2EB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35000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A2E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🌳  DAG — current healthcare system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88036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Healthcare → {Policy, Research, Provider}.</a:t>
            </a:r>
            <a:endParaRPr lang="en-US" sz="1250" dirty="0"/>
          </a:p>
          <a:p>
            <a:pPr indent="0" marL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tree: one front door, no back-edges.</a:t>
            </a:r>
            <a:endParaRPr lang="en-US" sz="1250" dirty="0"/>
          </a:p>
          <a:p>
            <a:pPr indent="0" marL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topology() returns DAG.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2148840"/>
            <a:ext cx="53949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9050">
            <a:solidFill>
              <a:srgbClr val="00695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235000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🔄  DCG — peer / feedback patterns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46520" y="288036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⇄ Provider consulting each</a:t>
            </a:r>
            <a:endParaRPr lang="en-US" sz="1250" dirty="0"/>
          </a:p>
          <a:p>
            <a:pPr indent="0" marL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other. find_cycle() detects it;</a:t>
            </a:r>
            <a:endParaRPr lang="en-US" sz="1250" dirty="0"/>
          </a:p>
          <a:p>
            <a:pPr indent="0" marL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within_depth() cuts it at max_call_depth.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4160520"/>
            <a:ext cx="9404604" cy="365760"/>
          </a:xfrm>
          <a:prstGeom prst="rect">
            <a:avLst/>
          </a:prstGeom>
          <a:solidFill>
            <a:srgbClr val="6A2EB8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system_registry.py · real, tested features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4526280"/>
            <a:ext cx="11064240" cy="1554480"/>
          </a:xfrm>
          <a:prstGeom prst="rect">
            <a:avLst/>
          </a:prstGeom>
          <a:solidFill>
            <a:srgbClr val="14132E"/>
          </a:solidFill>
          <a:ln/>
        </p:spPr>
      </p:sp>
      <p:sp>
        <p:nvSpPr>
          <p:cNvPr id="12" name="Text 10"/>
          <p:cNvSpPr/>
          <p:nvPr/>
        </p:nvSpPr>
        <p:spPr>
          <a:xfrm>
            <a:off x="694944" y="4599432"/>
            <a:ext cx="10771632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SYSTEM.topology()          -&gt; Topology.DAG | Topology.DCG</a:t>
            </a:r>
            <a:endParaRPr lang="en-US" sz="105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SYSTEM.find_cycle()        -&gt; cycle path, or None   (real DFS)</a:t>
            </a:r>
            <a:endParaRPr lang="en-US" sz="105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SystemRegistry(specs, acyclic=True)      # opt-in enforcement</a:t>
            </a:r>
            <a:endParaRPr lang="en-US" sz="105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SystemRegistry(specs, max_call_depth=4)  # parameterized bound</a:t>
            </a:r>
            <a:endParaRPr lang="en-US" sz="105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CallPath(roles=(...)).hops &lt;= max_call_depth   # typed, enforced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6355080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Real-life: DAG for orchestration trees; DCG for peer consultation and feedback loops — bounded, never endless.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B1A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seven modules — assembled in this walkthrough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A9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§2  agent_framework.py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846320" y="155448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5-framework Enum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22960" y="2157984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A9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§3  mcp_tools.py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846320" y="2157984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 tool/server Enums — kills the literal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276148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A9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§4  agent_specs.py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0" y="2761488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AgentSpec/SkillSpec + cross-validators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336499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A9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§5  system_registry.py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0" y="3364992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WORM registry · DAG/DCG · CallPath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22960" y="396849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A9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§6  system_console.py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3968496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Marimo system console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22960" y="45720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A9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§7  console_monitor.py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457200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focused monitor — two truths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2960" y="5175504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A9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§8  console_asgi.py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5175504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uvicorn ASGI entry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080" y="5943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9A9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section walks its code in full; the finale assembles them into the running system.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B1A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B9A9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10789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A2E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agent_framework.py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474720"/>
            <a:ext cx="10789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five frameworks as a closed Enum — so the system knows which stack serves which agent without parsing imports.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§2 · Purpose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upstream system is segmented by framework — each agent written against a different stack (raw A2A SDK, Google ADK, LangGraph, Microsoft, BeeAI). That choice lived implicitly in each script's imports.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26517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agent_framework.py makes it a first-class, referenceable value: a closed Enum the unified application can reason over.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840480"/>
            <a:ext cx="11064240" cy="1554480"/>
          </a:xfrm>
          <a:prstGeom prst="roundRect">
            <a:avLst>
              <a:gd name="adj" fmla="val 5294"/>
            </a:avLst>
          </a:prstGeom>
          <a:solidFill>
            <a:srgbClr val="EEEBFA"/>
          </a:solidFill>
          <a:ln w="19050">
            <a:solidFill>
              <a:srgbClr val="6A2EB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4041648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A2E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an Enum and not a string?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457200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framework is drawn from a fixed, known set. A mistyped framework should fail at import with autocomplete, not surface as a runtime mystery. Same house rule as enums.py: free-form strings become Enums wherever the value is from a fixed set.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§2 · The Enum definition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46304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A2E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VERIFIED — house style, @unique + member-owned @property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984748" cy="365760"/>
          </a:xfrm>
          <a:prstGeom prst="rect">
            <a:avLst/>
          </a:prstGeom>
          <a:solidFill>
            <a:srgbClr val="6A2EB8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a2a_labs/agent_framework.py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7040880" cy="2743200"/>
          </a:xfrm>
          <a:prstGeom prst="rect">
            <a:avLst/>
          </a:prstGeom>
          <a:solidFill>
            <a:srgbClr val="14132E"/>
          </a:solidFill>
          <a:ln/>
        </p:spPr>
      </p:sp>
      <p:sp>
        <p:nvSpPr>
          <p:cNvPr id="6" name="Text 4"/>
          <p:cNvSpPr/>
          <p:nvPr/>
        </p:nvSpPr>
        <p:spPr>
          <a:xfrm>
            <a:off x="694944" y="1810512"/>
            <a:ext cx="6748272" cy="2615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@unique</a:t>
            </a:r>
            <a:endParaRPr lang="en-US" sz="11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AgentFramework(StrEnum):</a:t>
            </a:r>
            <a:endParaRPr lang="en-US" sz="11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"""Which stack implements an agent server. One per framework."""</a:t>
            </a:r>
            <a:endParaRPr lang="en-US" sz="1100" dirty="0"/>
          </a:p>
          <a:p>
            <a:pPr indent="0" marL="0">
              <a:lnSpc>
                <a:spcPct val="103000"/>
              </a:lnSpc>
              <a:buNone/>
            </a:pPr>
            <a:endParaRPr lang="en-US" sz="11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RAW_A2A = "raw_a2a"          # a2a-sdk: AgentExecutor + Starlette</a:t>
            </a:r>
            <a:endParaRPr lang="en-US" sz="11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ADK = "adk"                  # Google ADK: LlmAgent + to_a2a()</a:t>
            </a:r>
            <a:endParaRPr lang="en-US" sz="11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LANGGRAPH_MCP = "langgraph"  # LangGraph + MCP tools</a:t>
            </a:r>
            <a:endParaRPr lang="en-US" sz="11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MICROSOFT = "microsoft"      # agent_framework.a2a.A2AAgent</a:t>
            </a:r>
            <a:endParaRPr lang="en-US" sz="11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BEEAI = "beeai"              # BeeAI RequirementAgent orchestrator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882128" y="2011680"/>
            <a:ext cx="274320" cy="274320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8" name="Text 6"/>
          <p:cNvSpPr/>
          <p:nvPr/>
        </p:nvSpPr>
        <p:spPr>
          <a:xfrm>
            <a:off x="7882128" y="20116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302752" y="1965960"/>
            <a:ext cx="331012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@unique — duplicate values rejected at import.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882128" y="2834640"/>
            <a:ext cx="274320" cy="274320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11" name="Text 9"/>
          <p:cNvSpPr/>
          <p:nvPr/>
        </p:nvSpPr>
        <p:spPr>
          <a:xfrm>
            <a:off x="7882128" y="2834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302752" y="2788920"/>
            <a:ext cx="331012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StrEnum — each member IS its string value.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882128" y="3657600"/>
            <a:ext cx="274320" cy="274320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14" name="Text 12"/>
          <p:cNvSpPr/>
          <p:nvPr/>
        </p:nvSpPr>
        <p:spPr>
          <a:xfrm>
            <a:off x="7882128" y="3657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02752" y="3611880"/>
            <a:ext cx="331012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Inline comment records each stack's signature API.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6355080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member per framework; the value is the stable identifier the rest of the system references.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§2 · Member-owned facts via @property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46304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A2E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SRP — the member owns its derived facts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984748" cy="365760"/>
          </a:xfrm>
          <a:prstGeom prst="rect">
            <a:avLst/>
          </a:prstGeom>
          <a:solidFill>
            <a:srgbClr val="6A2EB8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a2a_labs/agent_framework.py · @property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7040880" cy="3291840"/>
          </a:xfrm>
          <a:prstGeom prst="rect">
            <a:avLst/>
          </a:prstGeom>
          <a:solidFill>
            <a:srgbClr val="14132E"/>
          </a:solidFill>
          <a:ln/>
        </p:spPr>
      </p:sp>
      <p:sp>
        <p:nvSpPr>
          <p:cNvPr id="6" name="Text 4"/>
          <p:cNvSpPr/>
          <p:nvPr/>
        </p:nvSpPr>
        <p:spPr>
          <a:xfrm>
            <a:off x="694944" y="1810512"/>
            <a:ext cx="6748272" cy="3163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@property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label(self) -&gt; str: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"""Human display name — owned by the member."""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{AgentFramework.RAW_A2A: "Raw A2A SDK",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AgentFramework.ADK: "Google ADK",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AgentFramework.LANGGRAPH_MCP: "LangGraph + MCP",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...}[self]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@property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signature_construct(self) -&gt; str: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"""The give-away API for this stack — owned here."""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{AgentFramework.ADK: "LlmAgent + to_a2a()", ...}[self]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882128" y="2011680"/>
            <a:ext cx="274320" cy="274320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8" name="Text 6"/>
          <p:cNvSpPr/>
          <p:nvPr/>
        </p:nvSpPr>
        <p:spPr>
          <a:xfrm>
            <a:off x="7882128" y="20116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302752" y="1965960"/>
            <a:ext cx="331012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label is owned by the member, not re-typed at call sites.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882128" y="3291840"/>
            <a:ext cx="274320" cy="274320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11" name="Text 9"/>
          <p:cNvSpPr/>
          <p:nvPr/>
        </p:nvSpPr>
        <p:spPr>
          <a:xfrm>
            <a:off x="7882128" y="3291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302752" y="3246120"/>
            <a:ext cx="331012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signature_construct names each stack's give-away API.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882128" y="4206240"/>
            <a:ext cx="274320" cy="274320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14" name="Text 12"/>
          <p:cNvSpPr/>
          <p:nvPr/>
        </p:nvSpPr>
        <p:spPr>
          <a:xfrm>
            <a:off x="7882128" y="4206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02752" y="4160520"/>
            <a:ext cx="331012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Single Responsibility: the framework knows its own facts.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6355080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Callers ask the Enum for its label — the console and registry table can never disagree.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§2 · The derived dict — no drift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46304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A2E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VERIFIED — derived, never hand-maintained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6373368" cy="365760"/>
          </a:xfrm>
          <a:prstGeom prst="rect">
            <a:avLst/>
          </a:prstGeom>
          <a:solidFill>
            <a:srgbClr val="6A2EB8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a2a_labs/agent_framework.py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7498080" cy="1920240"/>
          </a:xfrm>
          <a:prstGeom prst="rect">
            <a:avLst/>
          </a:prstGeom>
          <a:solidFill>
            <a:srgbClr val="14132E"/>
          </a:solidFill>
          <a:ln/>
        </p:spPr>
      </p:sp>
      <p:sp>
        <p:nvSpPr>
          <p:cNvPr id="6" name="Text 4"/>
          <p:cNvSpPr/>
          <p:nvPr/>
        </p:nvSpPr>
        <p:spPr>
          <a:xfrm>
            <a:off x="694944" y="1901952"/>
            <a:ext cx="7205472" cy="1792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Derived from AgentFramework itself —</a:t>
            </a:r>
            <a:endParaRPr lang="en-US" sz="115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 separately maintained dict to drift.</a:t>
            </a:r>
            <a:endParaRPr lang="en-US" sz="115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FRAMEWORK_LABELS: dict[AgentFramework, str] = {</a:t>
            </a:r>
            <a:endParaRPr lang="en-US" sz="115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f: f.label for f in AgentFramework</a:t>
            </a:r>
            <a:endParaRPr lang="en-US" sz="115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374904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 the house pattern from enums.py (AGENT_PORTS = {r: r.port for r in AgentRole}). The lookup table is computed from the Enum, so it can never fall out of sync with the members.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355080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source of truth, navigated — never copied. Add a member, the dict grows automatically.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§2 · Workflow — where the framework travels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108960" cy="914400"/>
          </a:xfrm>
          <a:prstGeom prst="roundRect">
            <a:avLst>
              <a:gd name="adj" fmla="val 7000"/>
            </a:avLst>
          </a:prstGeom>
          <a:solidFill>
            <a:srgbClr val="E3F2FD"/>
          </a:solidFill>
          <a:ln w="17780">
            <a:solidFill>
              <a:srgbClr val="6A2E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AgentFramework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member chosen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3108960" cy="914400"/>
          </a:xfrm>
          <a:prstGeom prst="roundRect">
            <a:avLst>
              <a:gd name="adj" fmla="val 7000"/>
            </a:avLst>
          </a:prstGeom>
          <a:solidFill>
            <a:srgbClr val="E3F2FD"/>
          </a:solidFill>
          <a:ln w="17780">
            <a:solidFill>
              <a:srgbClr val="6A2E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8346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on AgentSpec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framework field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89120" y="2148840"/>
            <a:ext cx="3108960" cy="914400"/>
          </a:xfrm>
          <a:prstGeom prst="roundRect">
            <a:avLst>
              <a:gd name="adj" fmla="val 7000"/>
            </a:avLst>
          </a:prstGeom>
          <a:solidFill>
            <a:srgbClr val="F3E5F5"/>
          </a:solidFill>
          <a:ln w="17780">
            <a:solidFill>
              <a:srgbClr val="6A2E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22402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registry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80560" y="26060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holds all specs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229600" y="1554480"/>
            <a:ext cx="3108960" cy="914400"/>
          </a:xfrm>
          <a:prstGeom prst="roundRect">
            <a:avLst>
              <a:gd name="adj" fmla="val 7000"/>
            </a:avLst>
          </a:prstGeom>
          <a:solidFill>
            <a:srgbClr val="FFF8E1"/>
          </a:solidFill>
          <a:ln w="17780">
            <a:solidFill>
              <a:srgbClr val="E89A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16459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framework.label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321040" y="20116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derived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229600" y="2743200"/>
            <a:ext cx="3108960" cy="914400"/>
          </a:xfrm>
          <a:prstGeom prst="roundRect">
            <a:avLst>
              <a:gd name="adj" fmla="val 7000"/>
            </a:avLst>
          </a:prstGeom>
          <a:solidFill>
            <a:srgbClr val="FFF8E1"/>
          </a:solidFill>
          <a:ln w="17780">
            <a:solidFill>
              <a:srgbClr val="E89A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28346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 card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321040" y="3200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registry table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103120" y="2468880"/>
            <a:ext cx="0" cy="274320"/>
          </a:xfrm>
          <a:prstGeom prst="line">
            <a:avLst/>
          </a:prstGeom>
          <a:noFill/>
          <a:ln w="25400">
            <a:solidFill>
              <a:srgbClr val="6A2EB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657600" y="3200400"/>
            <a:ext cx="685800" cy="-548640"/>
          </a:xfrm>
          <a:prstGeom prst="line">
            <a:avLst/>
          </a:prstGeom>
          <a:noFill/>
          <a:ln w="25400">
            <a:solidFill>
              <a:srgbClr val="6A2EB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498080" y="2606040"/>
            <a:ext cx="685800" cy="-548640"/>
          </a:xfrm>
          <a:prstGeom prst="line">
            <a:avLst/>
          </a:prstGeom>
          <a:noFill/>
          <a:ln w="25400">
            <a:solidFill>
              <a:srgbClr val="E89A1C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498080" y="2606040"/>
            <a:ext cx="685800" cy="548640"/>
          </a:xfrm>
          <a:prstGeom prst="line">
            <a:avLst/>
          </a:prstGeom>
          <a:noFill/>
          <a:ln w="25400">
            <a:solidFill>
              <a:srgbClr val="E89A1C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548640" y="6355080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Declared once, composed into the registry, surfaced through one label property — display sites can't disagree.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§2 · Extending it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6995160" cy="365760"/>
          </a:xfrm>
          <a:prstGeom prst="rect">
            <a:avLst/>
          </a:prstGeom>
          <a:solidFill>
            <a:srgbClr val="6A2EB8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adding a sixth framework — one member + its facts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8229600" cy="2194560"/>
          </a:xfrm>
          <a:prstGeom prst="rect">
            <a:avLst/>
          </a:prstGeom>
          <a:solidFill>
            <a:srgbClr val="14132E"/>
          </a:solidFill>
          <a:ln/>
        </p:spPr>
      </p:sp>
      <p:sp>
        <p:nvSpPr>
          <p:cNvPr id="5" name="Text 3"/>
          <p:cNvSpPr/>
          <p:nvPr/>
        </p:nvSpPr>
        <p:spPr>
          <a:xfrm>
            <a:off x="694944" y="1810512"/>
            <a:ext cx="7936992" cy="2066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AgentFramework(StrEnum):</a:t>
            </a:r>
            <a:endParaRPr lang="en-US" sz="11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1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CREWAI = "crewai"          # new member</a:t>
            </a:r>
            <a:endParaRPr lang="en-US" sz="1100" dirty="0"/>
          </a:p>
          <a:p>
            <a:pPr indent="0" marL="0">
              <a:lnSpc>
                <a:spcPct val="103000"/>
              </a:lnSpc>
              <a:buNone/>
            </a:pPr>
            <a:endParaRPr lang="en-US" sz="11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in label:   AgentFramework.CREWAI: "CrewAI"</a:t>
            </a:r>
            <a:endParaRPr lang="en-US" sz="11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in signature_construct: "Crew + Task + Process"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3931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Nothing else changes: the registry accepts a spec using it, the console shows its label, FRAMEWORK_LABELS grows automatically. The discipline: never reintroduce a framework as a bare string elsewhere.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closed set stays closed — the instant a "crewai" literal appears in a script, the guarantee is lost.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3B1A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B9A9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10789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A2E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mcp_tools.py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474720"/>
            <a:ext cx="10789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 tools as governed Enums — a tool name typed 3× and mismatched against the server becomes one closed value.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§3 · The hardcoding it removes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the upstream Provider agent the MCP tool name "find_healthcare_providers" appears three times — connection key, advertised skill id, and inside the system prompt — and none of them match the server's real registered tool name, list_doctors.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5394960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9050">
            <a:solidFill>
              <a:srgbClr val="C9302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94436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3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🔴  Upstream — four strings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347472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"find_healthcare_providers"  (connection key)</a:t>
            </a:r>
            <a:endParaRPr lang="en-US" sz="1250" dirty="0"/>
          </a:p>
          <a:p>
            <a:pPr indent="0" marL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"find_healthcare_providers"  (skill id)</a:t>
            </a:r>
            <a:endParaRPr lang="en-US" sz="1250" dirty="0"/>
          </a:p>
          <a:p>
            <a:pPr indent="0" marL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"find_healthcare_providers"  (in prompt)</a:t>
            </a:r>
            <a:endParaRPr lang="en-US" sz="1250" dirty="0"/>
          </a:p>
          <a:p>
            <a:pPr indent="0" marL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list_doctors  (server's real @mcp.tool)</a:t>
            </a:r>
            <a:endParaRPr lang="en-US" sz="1250" dirty="0"/>
          </a:p>
          <a:p>
            <a:pPr indent="0" marL="0">
              <a:lnSpc>
                <a:spcPct val="113000"/>
              </a:lnSpc>
              <a:buNone/>
            </a:pPr>
            <a:endParaRPr lang="en-US" sz="1250" dirty="0"/>
          </a:p>
          <a:p>
            <a:pPr indent="0" marL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Held together by convention only.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2743200"/>
            <a:ext cx="5394960" cy="2468880"/>
          </a:xfrm>
          <a:prstGeom prst="roundRect">
            <a:avLst>
              <a:gd name="adj" fmla="val 3333"/>
            </a:avLst>
          </a:prstGeom>
          <a:solidFill>
            <a:srgbClr val="EEEBFA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294436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A2E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🟢  Governed — one source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46520" y="347472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McpTool.LIST_DOCTORS</a:t>
            </a:r>
            <a:endParaRPr lang="en-US" sz="1250" dirty="0"/>
          </a:p>
          <a:p>
            <a:pPr indent="0" marL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.value = "list_doctors"</a:t>
            </a:r>
            <a:endParaRPr lang="en-US" sz="1250" dirty="0"/>
          </a:p>
          <a:p>
            <a:pPr indent="0" marL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.connection_key = value</a:t>
            </a:r>
            <a:endParaRPr lang="en-US" sz="1250" dirty="0"/>
          </a:p>
          <a:p>
            <a:pPr indent="0" marL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.server = McpServer.DOCTOR</a:t>
            </a:r>
            <a:endParaRPr lang="en-US" sz="1250" dirty="0"/>
          </a:p>
          <a:p>
            <a:pPr indent="0" marL="0">
              <a:lnSpc>
                <a:spcPct val="113000"/>
              </a:lnSpc>
              <a:buNone/>
            </a:pPr>
            <a:endParaRPr lang="en-US" sz="1250" dirty="0"/>
          </a:p>
          <a:p>
            <a:pPr indent="0" marL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IS the value — cannot drift.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6355080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prompt is input, not hardcoding — so prompts aren't modelled. A tool NAME is from a fixed set — so it's an Enum.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§3 · McpServer — owns its launch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46304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A2E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VERIFIED — house style, member-owned facts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984748" cy="365760"/>
          </a:xfrm>
          <a:prstGeom prst="rect">
            <a:avLst/>
          </a:prstGeom>
          <a:solidFill>
            <a:srgbClr val="6A2EB8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a2a_labs/mcp_tools.py · McpServer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7040880" cy="3291840"/>
          </a:xfrm>
          <a:prstGeom prst="rect">
            <a:avLst/>
          </a:prstGeom>
          <a:solidFill>
            <a:srgbClr val="14132E"/>
          </a:solidFill>
          <a:ln/>
        </p:spPr>
      </p:sp>
      <p:sp>
        <p:nvSpPr>
          <p:cNvPr id="6" name="Text 4"/>
          <p:cNvSpPr/>
          <p:nvPr/>
        </p:nvSpPr>
        <p:spPr>
          <a:xfrm>
            <a:off x="694944" y="1810512"/>
            <a:ext cx="6748272" cy="3163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@unique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McpServer(StrEnum):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DOCTOR = "doctorserver"   # matches FastMCP("doctorserver")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@property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script(self) -&gt; str: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{McpServer.DOCTOR: "mcpserver.py"}[self]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@property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transport(self) -&gt; TransportMode: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{McpServer.DOCTOR: TransportMode.STDIO}[self]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stdio_command(self) -&gt; list[str]: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["uv", "run", self.script]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882128" y="2011680"/>
            <a:ext cx="274320" cy="274320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8" name="Text 6"/>
          <p:cNvSpPr/>
          <p:nvPr/>
        </p:nvSpPr>
        <p:spPr>
          <a:xfrm>
            <a:off x="7882128" y="20116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302752" y="1965960"/>
            <a:ext cx="331012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Value matches the real FastMCP server name.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882128" y="3017520"/>
            <a:ext cx="274320" cy="274320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11" name="Text 9"/>
          <p:cNvSpPr/>
          <p:nvPr/>
        </p:nvSpPr>
        <p:spPr>
          <a:xfrm>
            <a:off x="7882128" y="3017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302752" y="2971800"/>
            <a:ext cx="331012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transport is an Enum (TransportMode), not a literal.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882128" y="4023360"/>
            <a:ext cx="274320" cy="274320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14" name="Text 12"/>
          <p:cNvSpPr/>
          <p:nvPr/>
        </p:nvSpPr>
        <p:spPr>
          <a:xfrm>
            <a:off x="7882128" y="40233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02752" y="3977640"/>
            <a:ext cx="331012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stdio_command composes the argv — the server owns the format.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6355080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pattern as Provider.prefix() in enums.py — the member composes, the caller asks.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§3 · McpTool — value IS the wire name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46304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A2E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VERIFIED — the anti-drift invariant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984748" cy="365760"/>
          </a:xfrm>
          <a:prstGeom prst="rect">
            <a:avLst/>
          </a:prstGeom>
          <a:solidFill>
            <a:srgbClr val="6A2EB8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a2a_labs/mcp_tools.py · McpTool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7040880" cy="2743200"/>
          </a:xfrm>
          <a:prstGeom prst="rect">
            <a:avLst/>
          </a:prstGeom>
          <a:solidFill>
            <a:srgbClr val="14132E"/>
          </a:solidFill>
          <a:ln/>
        </p:spPr>
      </p:sp>
      <p:sp>
        <p:nvSpPr>
          <p:cNvPr id="6" name="Text 4"/>
          <p:cNvSpPr/>
          <p:nvPr/>
        </p:nvSpPr>
        <p:spPr>
          <a:xfrm>
            <a:off x="694944" y="1810512"/>
            <a:ext cx="6748272" cy="2615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@unique</a:t>
            </a:r>
            <a:endParaRPr lang="en-US" sz="105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McpTool(StrEnum):</a:t>
            </a:r>
            <a:endParaRPr lang="en-US" sz="105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LIST_DOCTORS = "list_doctors"  # the real @mcp.tool name</a:t>
            </a:r>
            <a:endParaRPr lang="en-US" sz="1050" dirty="0"/>
          </a:p>
          <a:p>
            <a:pPr indent="0" marL="0">
              <a:lnSpc>
                <a:spcPct val="103000"/>
              </a:lnSpc>
              <a:buNone/>
            </a:pPr>
            <a:endParaRPr lang="en-US" sz="105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@property</a:t>
            </a:r>
            <a:endParaRPr lang="en-US" sz="105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server(self) -&gt; McpServer:</a:t>
            </a:r>
            <a:endParaRPr lang="en-US" sz="105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{McpTool.LIST_DOCTORS: McpServer.DOCTOR}[self]</a:t>
            </a:r>
            <a:endParaRPr lang="en-US" sz="1050" dirty="0"/>
          </a:p>
          <a:p>
            <a:pPr indent="0" marL="0">
              <a:lnSpc>
                <a:spcPct val="103000"/>
              </a:lnSpc>
              <a:buNone/>
            </a:pPr>
            <a:endParaRPr lang="en-US" sz="105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@property</a:t>
            </a:r>
            <a:endParaRPr lang="en-US" sz="105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connection_key(self) -&gt; str:</a:t>
            </a:r>
            <a:endParaRPr lang="en-US" sz="105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self.value   # key IS the tool name — cannot drift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882128" y="2011680"/>
            <a:ext cx="274320" cy="274320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8" name="Text 6"/>
          <p:cNvSpPr/>
          <p:nvPr/>
        </p:nvSpPr>
        <p:spPr>
          <a:xfrm>
            <a:off x="7882128" y="20116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302752" y="1965960"/>
            <a:ext cx="331012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value equals the server's real tool name.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882128" y="2834640"/>
            <a:ext cx="274320" cy="274320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11" name="Text 9"/>
          <p:cNvSpPr/>
          <p:nvPr/>
        </p:nvSpPr>
        <p:spPr>
          <a:xfrm>
            <a:off x="7882128" y="2834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302752" y="2788920"/>
            <a:ext cx="331012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server points back at its provider.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882128" y="3657600"/>
            <a:ext cx="274320" cy="274320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14" name="Text 12"/>
          <p:cNvSpPr/>
          <p:nvPr/>
        </p:nvSpPr>
        <p:spPr>
          <a:xfrm>
            <a:off x="7882128" y="3657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02752" y="3611880"/>
            <a:ext cx="331012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connection_key == value: the upstream mismatch is now impossible.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6355080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invariant: the Enum value must equal the server's @mcp.tool name. That equality is the whole guarantee.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§3 · The derived server→tools view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46304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A2E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VERIFIED — derived, never hand-maintained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7150608" cy="365760"/>
          </a:xfrm>
          <a:prstGeom prst="rect">
            <a:avLst/>
          </a:prstGeom>
          <a:solidFill>
            <a:srgbClr val="6A2EB8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a2a_labs/mcp_tools.py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8412480" cy="2103120"/>
          </a:xfrm>
          <a:prstGeom prst="rect">
            <a:avLst/>
          </a:prstGeom>
          <a:solidFill>
            <a:srgbClr val="14132E"/>
          </a:solidFill>
          <a:ln/>
        </p:spPr>
      </p:sp>
      <p:sp>
        <p:nvSpPr>
          <p:cNvPr id="6" name="Text 4"/>
          <p:cNvSpPr/>
          <p:nvPr/>
        </p:nvSpPr>
        <p:spPr>
          <a:xfrm>
            <a:off x="694944" y="1901952"/>
            <a:ext cx="8119872" cy="1975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Derived from the tools themselves —</a:t>
            </a:r>
            <a:endParaRPr lang="en-US" sz="11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 separately maintained mapping to drift.</a:t>
            </a:r>
            <a:endParaRPr lang="en-US" sz="11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SERVER_TOOLS: dict[McpServer, tuple[McpTool, ...]] = {</a:t>
            </a:r>
            <a:endParaRPr lang="en-US" sz="11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server: tuple(t for t in McpTool if t.server is server)</a:t>
            </a:r>
            <a:endParaRPr lang="en-US" sz="11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server in McpServer</a:t>
            </a:r>
            <a:endParaRPr lang="en-US" sz="11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393192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SERVER_TOOLS answers 'which tools does this server provide?' — computed from each tool's own .server property, so it can never disagree with the tool definitions.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355080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same 'no dict to drift' house rule, applied to the server-tool relationship.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§3 · Workflow — resolving a tool call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743200" cy="822960"/>
          </a:xfrm>
          <a:prstGeom prst="roundRect">
            <a:avLst>
              <a:gd name="adj" fmla="val 7778"/>
            </a:avLst>
          </a:prstGeom>
          <a:solidFill>
            <a:srgbClr val="E3F2FD"/>
          </a:solidFill>
          <a:ln w="17780">
            <a:solidFill>
              <a:srgbClr val="6A2E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McpTool.LIST_DOCTORS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intent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023360" y="1280160"/>
            <a:ext cx="3291840" cy="731520"/>
          </a:xfrm>
          <a:prstGeom prst="roundRect">
            <a:avLst>
              <a:gd name="adj" fmla="val 8750"/>
            </a:avLst>
          </a:prstGeom>
          <a:solidFill>
            <a:srgbClr val="F3E5F5"/>
          </a:solidFill>
          <a:ln w="17780">
            <a:solidFill>
              <a:srgbClr val="6A2E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0" y="13716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.connection_key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0" y="173736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 tool name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023360" y="2148840"/>
            <a:ext cx="3291840" cy="731520"/>
          </a:xfrm>
          <a:prstGeom prst="roundRect">
            <a:avLst>
              <a:gd name="adj" fmla="val 8750"/>
            </a:avLst>
          </a:prstGeom>
          <a:solidFill>
            <a:srgbClr val="F3E5F5"/>
          </a:solidFill>
          <a:ln w="17780">
            <a:solidFill>
              <a:srgbClr val="6A2E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0" y="22402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.server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0" y="260604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 DOCTOR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023360" y="3017520"/>
            <a:ext cx="3291840" cy="731520"/>
          </a:xfrm>
          <a:prstGeom prst="roundRect">
            <a:avLst>
              <a:gd name="adj" fmla="val 8750"/>
            </a:avLst>
          </a:prstGeom>
          <a:solidFill>
            <a:srgbClr val="F3E5F5"/>
          </a:solidFill>
          <a:ln w="17780">
            <a:solidFill>
              <a:srgbClr val="6A2E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0" y="31089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.stdio_command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0" y="347472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uv run mcpserver.py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046720" y="1280160"/>
            <a:ext cx="3566160" cy="731520"/>
          </a:xfrm>
          <a:prstGeom prst="roundRect">
            <a:avLst>
              <a:gd name="adj" fmla="val 8750"/>
            </a:avLst>
          </a:prstGeom>
          <a:solidFill>
            <a:srgbClr val="E8F5E8"/>
          </a:solidFill>
          <a:ln w="17780">
            <a:solidFill>
              <a:srgbClr val="2E9E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8160" y="1371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 client keyed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138160" y="173736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connection_key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046720" y="2148840"/>
            <a:ext cx="3566160" cy="731520"/>
          </a:xfrm>
          <a:prstGeom prst="roundRect">
            <a:avLst>
              <a:gd name="adj" fmla="val 8750"/>
            </a:avLst>
          </a:prstGeom>
          <a:solidFill>
            <a:srgbClr val="E8F5E8"/>
          </a:solidFill>
          <a:ln w="17780">
            <a:solidFill>
              <a:srgbClr val="2E9E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38160" y="22402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spawn server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138160" y="260604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via command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046720" y="3017520"/>
            <a:ext cx="3566160" cy="731520"/>
          </a:xfrm>
          <a:prstGeom prst="roundRect">
            <a:avLst>
              <a:gd name="adj" fmla="val 8750"/>
            </a:avLst>
          </a:prstGeom>
          <a:solidFill>
            <a:srgbClr val="E8F5E8"/>
          </a:solidFill>
          <a:ln w="17780">
            <a:solidFill>
              <a:srgbClr val="2E9E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38160" y="31089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invoke list_doctors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138160" y="347472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(state, city)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4206240"/>
            <a:ext cx="2743200" cy="731520"/>
          </a:xfrm>
          <a:prstGeom prst="roundRect">
            <a:avLst>
              <a:gd name="adj" fmla="val 8750"/>
            </a:avLst>
          </a:prstGeom>
          <a:solidFill>
            <a:srgbClr val="FCE4EC"/>
          </a:solidFill>
          <a:ln w="17780">
            <a:solidFill>
              <a:srgbClr val="C9302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297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unknown tool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4663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KeyError at lookup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91840" y="1828800"/>
            <a:ext cx="685800" cy="0"/>
          </a:xfrm>
          <a:prstGeom prst="line">
            <a:avLst/>
          </a:prstGeom>
          <a:noFill/>
          <a:ln w="25400">
            <a:solidFill>
              <a:srgbClr val="6A2EB8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315200" y="1645920"/>
            <a:ext cx="685800" cy="0"/>
          </a:xfrm>
          <a:prstGeom prst="line">
            <a:avLst/>
          </a:prstGeom>
          <a:noFill/>
          <a:ln w="25400">
            <a:solidFill>
              <a:srgbClr val="2E9E6B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315200" y="2514600"/>
            <a:ext cx="685800" cy="0"/>
          </a:xfrm>
          <a:prstGeom prst="line">
            <a:avLst/>
          </a:prstGeom>
          <a:noFill/>
          <a:ln w="25400">
            <a:solidFill>
              <a:srgbClr val="2E9E6B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920240" y="2377440"/>
            <a:ext cx="0" cy="1828800"/>
          </a:xfrm>
          <a:prstGeom prst="line">
            <a:avLst/>
          </a:prstGeom>
          <a:noFill/>
          <a:ln w="19050">
            <a:solidFill>
              <a:srgbClr val="C9302C"/>
            </a:solidFill>
            <a:prstDash val="dash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548640" y="6355080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intent fans out through the Enum's properties; a missing mapping raises at lookup, not silently at runtime.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§3 · Before / after</a:t>
            </a:r>
            <a:endParaRPr lang="en-US" sz="27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474720"/>
                <a:gridCol w="484632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Aspect</a:t>
                      </a:r>
                      <a:endParaRPr lang="en-US" sz="12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🔴 Upstream</a:t>
                      </a:r>
                      <a:endParaRPr lang="en-US" sz="12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🟢 Governed</a:t>
                      </a:r>
                      <a:endParaRPr lang="en-US" sz="12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Tool name</a:t>
                      </a:r>
                      <a:endParaRPr lang="en-US" sz="12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typed 3×</a:t>
                      </a:r>
                      <a:endParaRPr lang="en-US" sz="12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McpTool.LIST_DOCTORS, one source</a:t>
                      </a:r>
                      <a:endParaRPr lang="en-US" sz="12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Name vs server</a:t>
                      </a:r>
                      <a:endParaRPr lang="en-US" sz="12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mismatched</a:t>
                      </a:r>
                      <a:endParaRPr lang="en-US" sz="12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identical by construction</a:t>
                      </a:r>
                      <a:endParaRPr lang="en-US" sz="12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Connection key</a:t>
                      </a:r>
                      <a:endParaRPr lang="en-US" sz="12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separate literal</a:t>
                      </a:r>
                      <a:endParaRPr lang="en-US" sz="12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== the tool name</a:t>
                      </a:r>
                      <a:endParaRPr lang="en-US" sz="12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Server location</a:t>
                      </a:r>
                      <a:endParaRPr lang="en-US" sz="12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implied by dict</a:t>
                      </a:r>
                      <a:endParaRPr lang="en-US" sz="12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McpTool.server owns it</a:t>
                      </a:r>
                      <a:endParaRPr lang="en-US" sz="12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Launch command</a:t>
                      </a:r>
                      <a:endParaRPr lang="en-US" sz="12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inline list</a:t>
                      </a:r>
                      <a:endParaRPr lang="en-US" sz="12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McpServer.stdio_command()</a:t>
                      </a:r>
                      <a:endParaRPr lang="en-US" sz="12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Server↔tool map</a:t>
                      </a:r>
                      <a:endParaRPr lang="en-US" sz="12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manual</a:t>
                      </a:r>
                      <a:endParaRPr lang="en-US" sz="12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SERVER_TOOLS derived</a:t>
                      </a:r>
                      <a:endParaRPr lang="en-US" sz="12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6355080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loose strings collapse to one Enum value that owns everything derived from it.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§3 · Extending it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6995160" cy="365760"/>
          </a:xfrm>
          <a:prstGeom prst="rect">
            <a:avLst/>
          </a:prstGeom>
          <a:solidFill>
            <a:srgbClr val="6A2EB8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second tool on the same server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8229600" cy="2468880"/>
          </a:xfrm>
          <a:prstGeom prst="rect">
            <a:avLst/>
          </a:prstGeom>
          <a:solidFill>
            <a:srgbClr val="14132E"/>
          </a:solidFill>
          <a:ln/>
        </p:spPr>
      </p:sp>
      <p:sp>
        <p:nvSpPr>
          <p:cNvPr id="5" name="Text 3"/>
          <p:cNvSpPr/>
          <p:nvPr/>
        </p:nvSpPr>
        <p:spPr>
          <a:xfrm>
            <a:off x="694944" y="1810512"/>
            <a:ext cx="7936992" cy="2340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McpTool(StrEnum):</a:t>
            </a:r>
            <a:endParaRPr lang="en-US" sz="105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LIST_DOCTORS = "list_doctors"</a:t>
            </a:r>
            <a:endParaRPr lang="en-US" sz="105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DOCTOR_DETAIL = "doctor_detail"     # new</a:t>
            </a:r>
            <a:endParaRPr lang="en-US" sz="1050" dirty="0"/>
          </a:p>
          <a:p>
            <a:pPr indent="0" marL="0">
              <a:lnSpc>
                <a:spcPct val="103000"/>
              </a:lnSpc>
              <a:buNone/>
            </a:pPr>
            <a:endParaRPr lang="en-US" sz="105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@property</a:t>
            </a:r>
            <a:endParaRPr lang="en-US" sz="105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server(self) -&gt; McpServer:</a:t>
            </a:r>
            <a:endParaRPr lang="en-US" sz="105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{McpTool.LIST_DOCTORS: McpServer.DOCTOR,</a:t>
            </a:r>
            <a:endParaRPr lang="en-US" sz="105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McpTool.DOCTOR_DETAIL: McpServer.DOCTOR}[self]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4114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SERVER_TOOLS absorbs it automatically. The discipline: the Enum value MUST equal the server's real @mcp.tool name — that equality is the whole guarantee.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Introduce a member whose value doesn't match the server, and the mismatch returns.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3B1A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B9A9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10789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A2E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agent_specs.py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474720"/>
            <a:ext cx="10789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agent's identity — role, framework, skill, model, handoffs — as one frozen, cross-validated Pydantic object.</a:t>
            </a:r>
            <a:endParaRPr lang="en-US" sz="2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§4 · The scattered identity it consolidates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Upstream, an agent's identity is spread across its script: an AgentSkill from inline strings, a model literal, a port from os.getenv, handoffs as env-var URLs. Nothing connects or checks these against each other.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agent_specs.py folds it into one frozen object per agent and adds the checks convention used to supply by hope. An invalid agent cannot exist — it fails at construction, at import.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402336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EEEBFA"/>
          </a:solidFill>
          <a:ln w="19050">
            <a:solidFill>
              <a:srgbClr val="6A2EB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4224528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A2E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Identity vs content — the governance boundary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47548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Identity (role, framework, skill FQSN, model, MCP tool, handoffs) is ALWAYS an Enum or governed model. Content (description, skill name, examples) is the human prose a person reads — the only free strings allowed.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§4 · SkillSpec — identity governed, content free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46304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A2E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984748" cy="365760"/>
          </a:xfrm>
          <a:prstGeom prst="rect">
            <a:avLst/>
          </a:prstGeom>
          <a:solidFill>
            <a:srgbClr val="6A2EB8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a2a_labs/agent_specs.py · SkillSpec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7040880" cy="3108960"/>
          </a:xfrm>
          <a:prstGeom prst="rect">
            <a:avLst/>
          </a:prstGeom>
          <a:solidFill>
            <a:srgbClr val="14132E"/>
          </a:solidFill>
          <a:ln/>
        </p:spPr>
      </p:sp>
      <p:sp>
        <p:nvSpPr>
          <p:cNvPr id="6" name="Text 4"/>
          <p:cNvSpPr/>
          <p:nvPr/>
        </p:nvSpPr>
        <p:spPr>
          <a:xfrm>
            <a:off x="694944" y="1810512"/>
            <a:ext cx="6748272" cy="2980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SkillSpec(BaseModel):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model_config = ConfigDict(frozen=True)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identity: FQSN                  # governed identity, not a flat string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name: str                       # human content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description: str                # human content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examples: tuple[str, ...] = ()  # human content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mcp_tool: McpTool | None = None # Enum when MCP-backed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@property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id(self) -&gt; str: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self.identity.name   # derived from FQSN, never re-typed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882128" y="2011680"/>
            <a:ext cx="274320" cy="274320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8" name="Text 6"/>
          <p:cNvSpPr/>
          <p:nvPr/>
        </p:nvSpPr>
        <p:spPr>
          <a:xfrm>
            <a:off x="7882128" y="20116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302752" y="1965960"/>
            <a:ext cx="331012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identity is an FQSN — governed, structured.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882128" y="2926080"/>
            <a:ext cx="274320" cy="274320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11" name="Text 9"/>
          <p:cNvSpPr/>
          <p:nvPr/>
        </p:nvSpPr>
        <p:spPr>
          <a:xfrm>
            <a:off x="7882128" y="29260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302752" y="2880360"/>
            <a:ext cx="331012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name/description/examples are content (allowed free).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882128" y="3840480"/>
            <a:ext cx="274320" cy="274320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14" name="Text 12"/>
          <p:cNvSpPr/>
          <p:nvPr/>
        </p:nvSpPr>
        <p:spPr>
          <a:xfrm>
            <a:off x="7882128" y="3840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02752" y="3794760"/>
            <a:ext cx="331012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 is DERIVED from the FQSN — id and identity can't drift.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6355080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upstream id="insurance_coverage" literal becomes self.identity.name — one source.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§4 · AgentSpec — the governed agent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46304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A2E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984748" cy="365760"/>
          </a:xfrm>
          <a:prstGeom prst="rect">
            <a:avLst/>
          </a:prstGeom>
          <a:solidFill>
            <a:srgbClr val="6A2EB8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a2a_labs/agent_specs.py · AgentSpec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7040880" cy="3291840"/>
          </a:xfrm>
          <a:prstGeom prst="rect">
            <a:avLst/>
          </a:prstGeom>
          <a:solidFill>
            <a:srgbClr val="14132E"/>
          </a:solidFill>
          <a:ln/>
        </p:spPr>
      </p:sp>
      <p:sp>
        <p:nvSpPr>
          <p:cNvPr id="6" name="Text 4"/>
          <p:cNvSpPr/>
          <p:nvPr/>
        </p:nvSpPr>
        <p:spPr>
          <a:xfrm>
            <a:off x="694944" y="1810512"/>
            <a:ext cx="6748272" cy="3163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AgentSpec(BaseModel):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model_config = ConfigDict(frozen=True)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role: AgentRole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framework: AgentFramework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skill: SkillSpec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model: VendorModel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description: str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handoffs: tuple[AgentRole, ...] = ()   # the call graph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@property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url(self) -&gt; str:  return self.role.default_url()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@property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port(self) -&gt; int: return int(self.role.port)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882128" y="2011680"/>
            <a:ext cx="274320" cy="274320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8" name="Text 6"/>
          <p:cNvSpPr/>
          <p:nvPr/>
        </p:nvSpPr>
        <p:spPr>
          <a:xfrm>
            <a:off x="7882128" y="20116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302752" y="1965960"/>
            <a:ext cx="331012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identity field is an Enum or governed model.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882128" y="3200400"/>
            <a:ext cx="274320" cy="274320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11" name="Text 9"/>
          <p:cNvSpPr/>
          <p:nvPr/>
        </p:nvSpPr>
        <p:spPr>
          <a:xfrm>
            <a:off x="7882128" y="3200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302752" y="3154680"/>
            <a:ext cx="331012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handoffs is a tuple of AgentRole — the call graph as data.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882128" y="4023360"/>
            <a:ext cx="274320" cy="274320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14" name="Text 12"/>
          <p:cNvSpPr/>
          <p:nvPr/>
        </p:nvSpPr>
        <p:spPr>
          <a:xfrm>
            <a:off x="7882128" y="40233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02752" y="3977640"/>
            <a:ext cx="331012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url/port derived from the role (SRP), never typed.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6355080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model-belongs-to-vendor isn't re-checked here — VendorModel owns it. Validate once, at the source.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§4 · The cross-object validators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46304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A2E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VERIFIED — @model_validator decorators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984748" cy="365760"/>
          </a:xfrm>
          <a:prstGeom prst="rect">
            <a:avLst/>
          </a:prstGeom>
          <a:solidFill>
            <a:srgbClr val="6A2EB8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a2a_labs/agent_specs.py · validators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7040880" cy="3291840"/>
          </a:xfrm>
          <a:prstGeom prst="rect">
            <a:avLst/>
          </a:prstGeom>
          <a:solidFill>
            <a:srgbClr val="14132E"/>
          </a:solidFill>
          <a:ln/>
        </p:spPr>
      </p:sp>
      <p:sp>
        <p:nvSpPr>
          <p:cNvPr id="6" name="Text 4"/>
          <p:cNvSpPr/>
          <p:nvPr/>
        </p:nvSpPr>
        <p:spPr>
          <a:xfrm>
            <a:off x="694944" y="1810512"/>
            <a:ext cx="6748272" cy="3163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@model_validator(mode="after")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_no_self_handoff(self) -&gt; "AgentSpec":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self.role in self.handoffs: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raise ValueError(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f"{self.role.value} cannot hand off to itself")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@model_validator(mode="after")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_handoffs_distinct(self) -&gt; "AgentSpec":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len(set(self.handoffs)) != len(self.handoffs):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raise ValueError(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f"{self.role.value}: duplicate handoff target")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882128" y="2011680"/>
            <a:ext cx="274320" cy="274320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8" name="Text 6"/>
          <p:cNvSpPr/>
          <p:nvPr/>
        </p:nvSpPr>
        <p:spPr>
          <a:xfrm>
            <a:off x="7882128" y="20116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302752" y="1965960"/>
            <a:ext cx="331012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Runs after construction (mode="after").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882128" y="3017520"/>
            <a:ext cx="274320" cy="274320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11" name="Text 9"/>
          <p:cNvSpPr/>
          <p:nvPr/>
        </p:nvSpPr>
        <p:spPr>
          <a:xfrm>
            <a:off x="7882128" y="3017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302752" y="2971800"/>
            <a:ext cx="331012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self-handoff — an agent can't call itself.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882128" y="4023360"/>
            <a:ext cx="274320" cy="274320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14" name="Text 12"/>
          <p:cNvSpPr/>
          <p:nvPr/>
        </p:nvSpPr>
        <p:spPr>
          <a:xfrm>
            <a:off x="7882128" y="40233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02752" y="3977640"/>
            <a:ext cx="331012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Handoffs distinct — no duplicate targets.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6355080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Invariants live HERE as decorators, not as scattered if-checks in agent scripts — every spec is checked the same way.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§4 · Workflow — the validation gates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377440" cy="777240"/>
          </a:xfrm>
          <a:prstGeom prst="roundRect">
            <a:avLst>
              <a:gd name="adj" fmla="val 8235"/>
            </a:avLst>
          </a:prstGeom>
          <a:solidFill>
            <a:srgbClr val="E3F2FD"/>
          </a:solidFill>
          <a:ln w="17780">
            <a:solidFill>
              <a:srgbClr val="6A2E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544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role·skill·model·handoffs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383280" y="1280160"/>
            <a:ext cx="3108960" cy="685800"/>
          </a:xfrm>
          <a:prstGeom prst="roundRect">
            <a:avLst>
              <a:gd name="adj" fmla="val 9333"/>
            </a:avLst>
          </a:prstGeom>
          <a:solidFill>
            <a:srgbClr val="F3E5F5"/>
          </a:solidFill>
          <a:ln w="17780">
            <a:solidFill>
              <a:srgbClr val="6A2E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0" y="13716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/ Enum gates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0" y="173736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field coerced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83280" y="2148840"/>
            <a:ext cx="3108960" cy="685800"/>
          </a:xfrm>
          <a:prstGeom prst="roundRect">
            <a:avLst>
              <a:gd name="adj" fmla="val 9333"/>
            </a:avLst>
          </a:prstGeom>
          <a:solidFill>
            <a:srgbClr val="F3E5F5"/>
          </a:solidFill>
          <a:ln w="17780">
            <a:solidFill>
              <a:srgbClr val="6A2E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22402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model→vendor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74720" y="260604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validated at source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949440" y="1280160"/>
            <a:ext cx="2377440" cy="685800"/>
          </a:xfrm>
          <a:prstGeom prst="roundRect">
            <a:avLst>
              <a:gd name="adj" fmla="val 9333"/>
            </a:avLst>
          </a:prstGeom>
          <a:solidFill>
            <a:srgbClr val="E8F5E8"/>
          </a:solidFill>
          <a:ln w="17780">
            <a:solidFill>
              <a:srgbClr val="2E9E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0" y="1371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_no_self_handoff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49440" y="2148840"/>
            <a:ext cx="2377440" cy="685800"/>
          </a:xfrm>
          <a:prstGeom prst="roundRect">
            <a:avLst>
              <a:gd name="adj" fmla="val 9333"/>
            </a:avLst>
          </a:prstGeom>
          <a:solidFill>
            <a:srgbClr val="E8F5E8"/>
          </a:solidFill>
          <a:ln w="17780">
            <a:solidFill>
              <a:srgbClr val="2E9E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0" y="22402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_handoffs_distinct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692640" y="1691640"/>
            <a:ext cx="1920240" cy="777240"/>
          </a:xfrm>
          <a:prstGeom prst="roundRect">
            <a:avLst>
              <a:gd name="adj" fmla="val 8235"/>
            </a:avLst>
          </a:prstGeom>
          <a:solidFill>
            <a:srgbClr val="FFF8E1"/>
          </a:solidFill>
          <a:ln w="17780">
            <a:solidFill>
              <a:srgbClr val="E89A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84080" y="17830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frozen AgentSpec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784080" y="21488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usable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383280" y="3200400"/>
            <a:ext cx="3108960" cy="685800"/>
          </a:xfrm>
          <a:prstGeom prst="roundRect">
            <a:avLst>
              <a:gd name="adj" fmla="val 9333"/>
            </a:avLst>
          </a:prstGeom>
          <a:solidFill>
            <a:srgbClr val="FCE4EC"/>
          </a:solidFill>
          <a:ln w="17780">
            <a:solidFill>
              <a:srgbClr val="C9302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32918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/ Enum error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0" y="365760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rejected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949440" y="3200400"/>
            <a:ext cx="2377440" cy="685800"/>
          </a:xfrm>
          <a:prstGeom prst="roundRect">
            <a:avLst>
              <a:gd name="adj" fmla="val 9333"/>
            </a:avLst>
          </a:prstGeom>
          <a:solidFill>
            <a:srgbClr val="FCE4EC"/>
          </a:solidFill>
          <a:ln w="17780">
            <a:solidFill>
              <a:srgbClr val="C9302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32918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handoff error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040880" y="365760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rejected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926080" y="1828800"/>
            <a:ext cx="411480" cy="0"/>
          </a:xfrm>
          <a:prstGeom prst="line">
            <a:avLst/>
          </a:prstGeom>
          <a:noFill/>
          <a:ln w="25400">
            <a:solidFill>
              <a:srgbClr val="6A2EB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492240" y="1783080"/>
            <a:ext cx="411480" cy="0"/>
          </a:xfrm>
          <a:prstGeom prst="line">
            <a:avLst/>
          </a:prstGeom>
          <a:noFill/>
          <a:ln w="25400">
            <a:solidFill>
              <a:srgbClr val="2E9E6B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326880" y="1828800"/>
            <a:ext cx="320040" cy="182880"/>
          </a:xfrm>
          <a:prstGeom prst="line">
            <a:avLst/>
          </a:prstGeom>
          <a:noFill/>
          <a:ln w="25400">
            <a:solidFill>
              <a:srgbClr val="E89A1C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937760" y="2834640"/>
            <a:ext cx="0" cy="320040"/>
          </a:xfrm>
          <a:prstGeom prst="line">
            <a:avLst/>
          </a:prstGeom>
          <a:noFill/>
          <a:ln w="19050">
            <a:solidFill>
              <a:srgbClr val="C9302C"/>
            </a:solidFill>
            <a:prstDash val="dash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138160" y="2834640"/>
            <a:ext cx="0" cy="320040"/>
          </a:xfrm>
          <a:prstGeom prst="line">
            <a:avLst/>
          </a:prstGeom>
          <a:noFill/>
          <a:ln w="19050">
            <a:solidFill>
              <a:srgbClr val="C9302C"/>
            </a:solidFill>
            <a:prstDash val="dash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548640" y="6355080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Type/Enum gates first, then cross-object validators. Clear every gate → a frozen spec. Any failure raises at construction.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§4 · Field governance map</a:t>
            </a:r>
            <a:endParaRPr lang="en-US" sz="27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206240"/>
                <a:gridCol w="41148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Field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Governed by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Identity / Content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role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AgentRole Enum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Identity — yields port, URL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framework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AgentFramework Enum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Identity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skill.identity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FQSN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Identity — yields skill id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skill.mcp_tool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McpTool (optional)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Identity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model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VendorModel (vendor at source)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Identity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handoffs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tuple[AgentRole], validated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Identity — the call graph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description, examples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free strings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Content (allowed)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6355080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identity/content line is the whole governance boundary: identity is Enum/model; content is prose.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§4 · Extending it — a new invariant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7383780" cy="365760"/>
          </a:xfrm>
          <a:prstGeom prst="rect">
            <a:avLst/>
          </a:prstGeom>
          <a:solidFill>
            <a:srgbClr val="6A2EB8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a cross-object rule as one validator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8686800" cy="2468880"/>
          </a:xfrm>
          <a:prstGeom prst="rect">
            <a:avLst/>
          </a:prstGeom>
          <a:solidFill>
            <a:srgbClr val="14132E"/>
          </a:solidFill>
          <a:ln/>
        </p:spPr>
      </p:sp>
      <p:sp>
        <p:nvSpPr>
          <p:cNvPr id="5" name="Text 3"/>
          <p:cNvSpPr/>
          <p:nvPr/>
        </p:nvSpPr>
        <p:spPr>
          <a:xfrm>
            <a:off x="694944" y="1810512"/>
            <a:ext cx="8394192" cy="2340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@model_validator(mode="after")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_mcp_requires_capable_framework(self) -&gt; "AgentSpec":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(self.skill.mcp_tool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and self.framework is not AgentFramework.LANGGRAPH_MCP):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raise ValueError(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f"{self.role.value}: MCP skill needs an "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f"MCP-capable framework")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4114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Added in one place, it runs on every spec thereafter. The discipline: invariants belong here as validators, never as scattered checks in scripts or the console.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Centralizing the rules is what guarantees every agent is checked the same way, every time it's built.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3B1A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B9A9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10789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A2E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system_registry.py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474720"/>
            <a:ext cx="10789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four framework-diverse agents become one immutable object whose call graph is proven closed — DAG or DCG.</a:t>
            </a:r>
            <a:endParaRPr lang="en-US" sz="2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§5 · The keystone — what it replaces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Upstream there is no registry. The agent set exists only as four scripts; the call graph only inside the orchestrator, as URLs built from env vars. Nothing can ask 'what agents exist?' or 'does every handoff point at a real agent?'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SystemRegistry makes the system a first-class, queryable object and proves its integrity before anything runs.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749040"/>
            <a:ext cx="11064240" cy="1554480"/>
          </a:xfrm>
          <a:prstGeom prst="roundRect">
            <a:avLst>
              <a:gd name="adj" fmla="val 5294"/>
            </a:avLst>
          </a:prstGeom>
          <a:solidFill>
            <a:srgbClr val="3B1A78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3950208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once at import — Write Once Reuse Many (WORM)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448056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D8D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= SystemRegistry((_POLICY, _RESEARCH, _PROVIDER, _HEALTHCARE)). If a handoff named a role no spec defines, the registry REFUSES to construct — the broken graph is caught at startup, not when a query finally reaches the missing branch.</a:t>
            </a:r>
            <a:endParaRPr lang="en-US" sz="12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§5 · The call graph as data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46304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A2E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VERIFIED — handoffs are governed values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6528816" cy="365760"/>
          </a:xfrm>
          <a:prstGeom prst="rect">
            <a:avLst/>
          </a:prstGeom>
          <a:solidFill>
            <a:srgbClr val="6A2EB8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a2a_labs/system_registry.py · the orchestrator spec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7680960" cy="3108960"/>
          </a:xfrm>
          <a:prstGeom prst="rect">
            <a:avLst/>
          </a:prstGeom>
          <a:solidFill>
            <a:srgbClr val="14132E"/>
          </a:solidFill>
          <a:ln/>
        </p:spPr>
      </p:sp>
      <p:sp>
        <p:nvSpPr>
          <p:cNvPr id="6" name="Text 4"/>
          <p:cNvSpPr/>
          <p:nvPr/>
        </p:nvSpPr>
        <p:spPr>
          <a:xfrm>
            <a:off x="694944" y="1810512"/>
            <a:ext cx="7388352" cy="2980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_HEALTHCARE = AgentSpec(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role=AgentRole.HEALTHCARE,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framework=AgentFramework.BEEAI,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model=VendorModel.GEMINI_FLASH_2_5,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description="A personal concierge ...",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skill=SkillSpec(identity=FQSN.parse("healthcare.concierge"),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name="Healthcare concierge", description="..."),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handoffs=(AgentRole.POLICY,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AgentRole.RESEARCH,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AgentRole.PROVIDER),   # the call graph, as Enums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418320" y="2103120"/>
            <a:ext cx="274320" cy="274320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8" name="Text 6"/>
          <p:cNvSpPr/>
          <p:nvPr/>
        </p:nvSpPr>
        <p:spPr>
          <a:xfrm>
            <a:off x="9418320" y="21031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838944" y="2057400"/>
            <a:ext cx="177393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handoffs is the entire call graph — three AgentRole members.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418320" y="3291840"/>
            <a:ext cx="274320" cy="274320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11" name="Text 9"/>
          <p:cNvSpPr/>
          <p:nvPr/>
        </p:nvSpPr>
        <p:spPr>
          <a:xfrm>
            <a:off x="9418320" y="3291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838944" y="3246120"/>
            <a:ext cx="177393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URL-building, no env lookup, no string.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6355080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registry will verify all three targets exist before the system is usable.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§5 · The class — three integrity gates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46304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A2E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6528816" cy="365760"/>
          </a:xfrm>
          <a:prstGeom prst="rect">
            <a:avLst/>
          </a:prstGeom>
          <a:solidFill>
            <a:srgbClr val="6A2EB8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a2a_labs/system_registry.py · SystemRegistry.__init__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7680960" cy="3108960"/>
          </a:xfrm>
          <a:prstGeom prst="rect">
            <a:avLst/>
          </a:prstGeom>
          <a:solidFill>
            <a:srgbClr val="14132E"/>
          </a:solidFill>
          <a:ln/>
        </p:spPr>
      </p:sp>
      <p:sp>
        <p:nvSpPr>
          <p:cNvPr id="6" name="Text 4"/>
          <p:cNvSpPr/>
          <p:nvPr/>
        </p:nvSpPr>
        <p:spPr>
          <a:xfrm>
            <a:off x="694944" y="1810512"/>
            <a:ext cx="7388352" cy="2980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__init__(self, specs, *, acyclic=False,</a:t>
            </a:r>
            <a:endParaRPr lang="en-US" sz="95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max_call_depth=DEFAULT_MAX_CALL_DEPTH):</a:t>
            </a:r>
            <a:endParaRPr lang="en-US" sz="95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by_role = {s.role: s for s in specs}</a:t>
            </a:r>
            <a:endParaRPr lang="en-US" sz="95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len(by_role) != len(specs):</a:t>
            </a:r>
            <a:endParaRPr lang="en-US" sz="95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raise ValueError("duplicate role in system registry")</a:t>
            </a:r>
            <a:endParaRPr lang="en-US" sz="95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spec in specs:                       # graph closure</a:t>
            </a:r>
            <a:endParaRPr lang="en-US" sz="95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target in spec.handoffs:</a:t>
            </a:r>
            <a:endParaRPr lang="en-US" sz="95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target not in by_role:</a:t>
            </a:r>
            <a:endParaRPr lang="en-US" sz="95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raise ValueError(f"{spec.role.value} hands off "</a:t>
            </a:r>
            <a:endParaRPr lang="en-US" sz="95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f"to unregistered {target.value}")</a:t>
            </a:r>
            <a:endParaRPr lang="en-US" sz="95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acyclic and self.topology() is Topology.DCG:</a:t>
            </a:r>
            <a:endParaRPr lang="en-US" sz="95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raise ValueError(f"declared acyclic but cycle: {self.find_cycle()}")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9418320" y="2103120"/>
            <a:ext cx="274320" cy="274320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8" name="Text 6"/>
          <p:cNvSpPr/>
          <p:nvPr/>
        </p:nvSpPr>
        <p:spPr>
          <a:xfrm>
            <a:off x="9418320" y="21031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838944" y="2057400"/>
            <a:ext cx="177393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duplicate roles.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418320" y="2926080"/>
            <a:ext cx="274320" cy="274320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11" name="Text 9"/>
          <p:cNvSpPr/>
          <p:nvPr/>
        </p:nvSpPr>
        <p:spPr>
          <a:xfrm>
            <a:off x="9418320" y="29260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838944" y="2880360"/>
            <a:ext cx="177393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Graph closure: every handoff target is registered.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418320" y="3931920"/>
            <a:ext cx="274320" cy="274320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14" name="Text 12"/>
          <p:cNvSpPr/>
          <p:nvPr/>
        </p:nvSpPr>
        <p:spPr>
          <a:xfrm>
            <a:off x="9418320" y="3931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838944" y="3886200"/>
            <a:ext cx="177393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Opt-in acyclic enforcement.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6355080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max_call_depth is parameterized (default 4) — no magic number buried in code.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§5 · DAG / DCG topology — real detection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46304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A2E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VERIFIED — depth-first cycle detection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9404604" cy="365760"/>
          </a:xfrm>
          <a:prstGeom prst="rect">
            <a:avLst/>
          </a:prstGeom>
          <a:solidFill>
            <a:srgbClr val="6A2EB8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a2a_labs/system_registry.py · find_cycle (DFS)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64240" cy="3383280"/>
          </a:xfrm>
          <a:prstGeom prst="rect">
            <a:avLst/>
          </a:prstGeom>
          <a:solidFill>
            <a:srgbClr val="14132E"/>
          </a:solidFill>
          <a:ln/>
        </p:spPr>
      </p:sp>
      <p:sp>
        <p:nvSpPr>
          <p:cNvPr id="6" name="Text 4"/>
          <p:cNvSpPr/>
          <p:nvPr/>
        </p:nvSpPr>
        <p:spPr>
          <a:xfrm>
            <a:off x="694944" y="1810512"/>
            <a:ext cx="10771632" cy="3255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find_cycle(self):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WHITE, GREY, BLACK = 0, 1, 2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color = {r: WHITE for r in self._by_role}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stack = []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visit(role):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color[role] = GREY; stack.append(role)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nxt in self._by_role[role].handoffs: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color[nxt] == GREY:           # back-edge -&gt; cycle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return tuple(stack[stack.index(nxt):]) + (nxt,)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color[nxt] == WHITE and (f := visit(nxt)): return f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stack.pop(); color[role] = BLACK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topology(self):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Topology.DCG if self.find_cycle() else Topology.DAG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graph traversal (white/grey/black DFS), not a guess. A back-edge to a GREY node is a cycle; the path is returned.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§5 · CallPath — typed, enforced hops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46304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A2E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VERIFIED — Pydantic-governed, not a bare tuple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984748" cy="365760"/>
          </a:xfrm>
          <a:prstGeom prst="rect">
            <a:avLst/>
          </a:prstGeom>
          <a:solidFill>
            <a:srgbClr val="6A2EB8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a2a_labs/system_registry.py · CallPath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7040880" cy="3108960"/>
          </a:xfrm>
          <a:prstGeom prst="rect">
            <a:avLst/>
          </a:prstGeom>
          <a:solidFill>
            <a:srgbClr val="14132E"/>
          </a:solidFill>
          <a:ln/>
        </p:spPr>
      </p:sp>
      <p:sp>
        <p:nvSpPr>
          <p:cNvPr id="6" name="Text 4"/>
          <p:cNvSpPr/>
          <p:nvPr/>
        </p:nvSpPr>
        <p:spPr>
          <a:xfrm>
            <a:off x="694944" y="1810512"/>
            <a:ext cx="6748272" cy="2980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CallPath(BaseModel):</a:t>
            </a:r>
            <a:endParaRPr lang="en-US" sz="105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model_config = ConfigDict(frozen=True)</a:t>
            </a:r>
            <a:endParaRPr lang="en-US" sz="105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roles: tuple[AgentRole, ...]      # Enum-enforced by Pydantic</a:t>
            </a:r>
            <a:endParaRPr lang="en-US" sz="1050" dirty="0"/>
          </a:p>
          <a:p>
            <a:pPr indent="0" marL="0">
              <a:lnSpc>
                <a:spcPct val="103000"/>
              </a:lnSpc>
              <a:buNone/>
            </a:pPr>
            <a:endParaRPr lang="en-US" sz="105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@model_validator(mode="after")</a:t>
            </a:r>
            <a:endParaRPr lang="en-US" sz="105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_non_empty(self) -&gt; "CallPath":</a:t>
            </a:r>
            <a:endParaRPr lang="en-US" sz="105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not self.roles:</a:t>
            </a:r>
            <a:endParaRPr lang="en-US" sz="105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raise ValueError("a CallPath needs at least one role")</a:t>
            </a:r>
            <a:endParaRPr lang="en-US" sz="105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</a:t>
            </a:r>
            <a:endParaRPr lang="en-US" sz="1050" dirty="0"/>
          </a:p>
          <a:p>
            <a:pPr indent="0" marL="0">
              <a:lnSpc>
                <a:spcPct val="103000"/>
              </a:lnSpc>
              <a:buNone/>
            </a:pPr>
            <a:endParaRPr lang="en-US" sz="105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@property</a:t>
            </a:r>
            <a:endParaRPr lang="en-US" sz="105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hops(self) -&gt; int:</a:t>
            </a:r>
            <a:endParaRPr lang="en-US" sz="105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len(self.roles) - 1    # N roles = N-1 hops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882128" y="2011680"/>
            <a:ext cx="274320" cy="274320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8" name="Text 6"/>
          <p:cNvSpPr/>
          <p:nvPr/>
        </p:nvSpPr>
        <p:spPr>
          <a:xfrm>
            <a:off x="7882128" y="20116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302752" y="1965960"/>
            <a:ext cx="331012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roles is Enum-enforced: a non-AgentRole is rejected at build.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882128" y="3200400"/>
            <a:ext cx="274320" cy="274320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11" name="Text 9"/>
          <p:cNvSpPr/>
          <p:nvPr/>
        </p:nvSpPr>
        <p:spPr>
          <a:xfrm>
            <a:off x="7882128" y="3200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302752" y="3154680"/>
            <a:ext cx="331012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hops are edges — owned by the model.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882128" y="4023360"/>
            <a:ext cx="274320" cy="274320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14" name="Text 12"/>
          <p:cNvSpPr/>
          <p:nvPr/>
        </p:nvSpPr>
        <p:spPr>
          <a:xfrm>
            <a:off x="7882128" y="40233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02752" y="3977640"/>
            <a:ext cx="331012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within_depth(path) cuts cyclic calls past max_call_depth.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6355080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path can never silently carry a raw string — enforcement lives in the type, not scattered asserts.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§5 · Workflow — assembly &amp; graph-closure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377440" cy="1554480"/>
          </a:xfrm>
          <a:prstGeom prst="roundRect">
            <a:avLst>
              <a:gd name="adj" fmla="val 4118"/>
            </a:avLst>
          </a:prstGeom>
          <a:solidFill>
            <a:srgbClr val="E3F2FD"/>
          </a:solidFill>
          <a:ln w="17780">
            <a:solidFill>
              <a:srgbClr val="6A2E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governed specs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21945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Policy·Research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Provider·Healthcare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566160" y="1371600"/>
            <a:ext cx="2926080" cy="640080"/>
          </a:xfrm>
          <a:prstGeom prst="roundRect">
            <a:avLst>
              <a:gd name="adj" fmla="val 10000"/>
            </a:avLst>
          </a:prstGeom>
          <a:solidFill>
            <a:srgbClr val="F3E5F5"/>
          </a:solidFill>
          <a:ln w="17780">
            <a:solidFill>
              <a:srgbClr val="6A2E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0" y="1463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 by_role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566160" y="2148840"/>
            <a:ext cx="2926080" cy="640080"/>
          </a:xfrm>
          <a:prstGeom prst="roundRect">
            <a:avLst>
              <a:gd name="adj" fmla="val 10000"/>
            </a:avLst>
          </a:prstGeom>
          <a:solidFill>
            <a:srgbClr val="F3E5F5"/>
          </a:solidFill>
          <a:ln w="17780">
            <a:solidFill>
              <a:srgbClr val="6A2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2240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duplicate-role gate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66160" y="2926080"/>
            <a:ext cx="2926080" cy="640080"/>
          </a:xfrm>
          <a:prstGeom prst="roundRect">
            <a:avLst>
              <a:gd name="adj" fmla="val 10000"/>
            </a:avLst>
          </a:prstGeom>
          <a:solidFill>
            <a:srgbClr val="F3E5F5"/>
          </a:solidFill>
          <a:ln w="17780">
            <a:solidFill>
              <a:srgbClr val="6A2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3017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graph-closure gate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132320" y="2148840"/>
            <a:ext cx="2194560" cy="777240"/>
          </a:xfrm>
          <a:prstGeom prst="roundRect">
            <a:avLst>
              <a:gd name="adj" fmla="val 8235"/>
            </a:avLst>
          </a:prstGeom>
          <a:solidFill>
            <a:srgbClr val="E0F2F1"/>
          </a:solidFill>
          <a:ln w="17780">
            <a:solidFill>
              <a:srgbClr val="0069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23760" y="22402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223760" y="26060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immutable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9784080" y="1371600"/>
            <a:ext cx="1828800" cy="640080"/>
          </a:xfrm>
          <a:prstGeom prst="roundRect">
            <a:avLst>
              <a:gd name="adj" fmla="val 10000"/>
            </a:avLst>
          </a:prstGeom>
          <a:solidFill>
            <a:srgbClr val="FCE4EC"/>
          </a:solidFill>
          <a:ln w="17780">
            <a:solidFill>
              <a:srgbClr val="C930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0" y="14630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dup error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784080" y="2148840"/>
            <a:ext cx="1828800" cy="640080"/>
          </a:xfrm>
          <a:prstGeom prst="roundRect">
            <a:avLst>
              <a:gd name="adj" fmla="val 10000"/>
            </a:avLst>
          </a:prstGeom>
          <a:solidFill>
            <a:srgbClr val="FCE4EC"/>
          </a:solidFill>
          <a:ln w="17780">
            <a:solidFill>
              <a:srgbClr val="C930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0" y="22402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handoff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784080" y="2926080"/>
            <a:ext cx="1828800" cy="640080"/>
          </a:xfrm>
          <a:prstGeom prst="roundRect">
            <a:avLst>
              <a:gd name="adj" fmla="val 10000"/>
            </a:avLst>
          </a:prstGeom>
          <a:solidFill>
            <a:srgbClr val="FCE4EC"/>
          </a:solidFill>
          <a:ln w="17780">
            <a:solidFill>
              <a:srgbClr val="C9302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0" y="30175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cycle (if acyclic)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926080" y="2331720"/>
            <a:ext cx="594360" cy="0"/>
          </a:xfrm>
          <a:prstGeom prst="line">
            <a:avLst/>
          </a:prstGeom>
          <a:noFill/>
          <a:ln w="25400">
            <a:solidFill>
              <a:srgbClr val="6A2EB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492240" y="2468880"/>
            <a:ext cx="594360" cy="0"/>
          </a:xfrm>
          <a:prstGeom prst="line">
            <a:avLst/>
          </a:prstGeom>
          <a:noFill/>
          <a:ln w="25400">
            <a:solidFill>
              <a:srgbClr val="00695C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492240" y="1691640"/>
            <a:ext cx="3246120" cy="0"/>
          </a:xfrm>
          <a:prstGeom prst="line">
            <a:avLst/>
          </a:prstGeom>
          <a:noFill/>
          <a:ln w="16510">
            <a:solidFill>
              <a:srgbClr val="C9302C"/>
            </a:solidFill>
            <a:prstDash val="dash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492240" y="2468880"/>
            <a:ext cx="3246120" cy="0"/>
          </a:xfrm>
          <a:prstGeom prst="line">
            <a:avLst/>
          </a:prstGeom>
          <a:noFill/>
          <a:ln w="16510">
            <a:solidFill>
              <a:srgbClr val="C9302C"/>
            </a:solidFill>
            <a:prstDash val="dash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492240" y="3246120"/>
            <a:ext cx="3246120" cy="0"/>
          </a:xfrm>
          <a:prstGeom prst="line">
            <a:avLst/>
          </a:prstGeom>
          <a:noFill/>
          <a:ln w="16510">
            <a:solidFill>
              <a:srgbClr val="C9302C"/>
            </a:solidFill>
            <a:prstDash val="dash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548640" y="6355080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specs → indexed → integrity gates → immutable SYSTEM. Any failure raises at import; the app can't start broken.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§5 · Navigation API — navigate, never copy</a:t>
            </a:r>
            <a:endParaRPr lang="en-US" sz="27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657600"/>
                <a:gridCol w="41148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Member</a:t>
                      </a:r>
                      <a:endParaRPr lang="en-US" sz="12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Returns</a:t>
                      </a:r>
                      <a:endParaRPr lang="en-US" sz="12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Used by</a:t>
                      </a:r>
                      <a:endParaRPr lang="en-US" sz="12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iter(SYSTEM)</a:t>
                      </a:r>
                      <a:endParaRPr lang="en-US" sz="12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each AgentSpec</a:t>
                      </a:r>
                      <a:endParaRPr lang="en-US" sz="12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console table, monitor cards</a:t>
                      </a:r>
                      <a:endParaRPr lang="en-US" sz="12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SYSTEM.spec(role)</a:t>
                      </a:r>
                      <a:endParaRPr lang="en-US" sz="12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one spec, raises if absent</a:t>
                      </a:r>
                      <a:endParaRPr lang="en-US" sz="12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targeted lookups</a:t>
                      </a:r>
                      <a:endParaRPr lang="en-US" sz="12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SYSTEM.roles</a:t>
                      </a:r>
                      <a:endParaRPr lang="en-US" sz="12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tuple of roles</a:t>
                      </a:r>
                      <a:endParaRPr lang="en-US" sz="12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iteration, validation</a:t>
                      </a:r>
                      <a:endParaRPr lang="en-US" sz="12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SYSTEM.orchestrator()</a:t>
                      </a:r>
                      <a:endParaRPr lang="en-US" sz="12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the single front-door agent</a:t>
                      </a:r>
                      <a:endParaRPr lang="en-US" sz="12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call-graph render</a:t>
                      </a:r>
                      <a:endParaRPr lang="en-US" sz="12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SYSTEM.topology()</a:t>
                      </a:r>
                      <a:endParaRPr lang="en-US" sz="12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DAG or DCG</a:t>
                      </a:r>
                      <a:endParaRPr lang="en-US" sz="12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topology display</a:t>
                      </a:r>
                      <a:endParaRPr lang="en-US" sz="12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SYSTEM.max_call_depth</a:t>
                      </a:r>
                      <a:endParaRPr lang="en-US" sz="12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the cyclic bound</a:t>
                      </a:r>
                      <a:endParaRPr lang="en-US" sz="12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runtime depth checks</a:t>
                      </a:r>
                      <a:endParaRPr lang="en-US" sz="12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6355080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Consumers call these rather than holding their own agent list — adding an agent propagates everywhere.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§5 · Extending it — a fifth agent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7383780" cy="365760"/>
          </a:xfrm>
          <a:prstGeom prst="rect">
            <a:avLst/>
          </a:prstGeom>
          <a:solidFill>
            <a:srgbClr val="6A2EB8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AgentSpec appended to the tuple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8686800" cy="2743200"/>
          </a:xfrm>
          <a:prstGeom prst="rect">
            <a:avLst/>
          </a:prstGeom>
          <a:solidFill>
            <a:srgbClr val="14132E"/>
          </a:solidFill>
          <a:ln/>
        </p:spPr>
      </p:sp>
      <p:sp>
        <p:nvSpPr>
          <p:cNvPr id="5" name="Text 3"/>
          <p:cNvSpPr/>
          <p:nvPr/>
        </p:nvSpPr>
        <p:spPr>
          <a:xfrm>
            <a:off x="694944" y="1810512"/>
            <a:ext cx="8394192" cy="2615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_BILLING = AgentSpec(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role=AgentRole.BILLING,          # new AgentRole member first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framework=AgentFramework.ADK,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model=VendorModel.GEMINI_FLASH_LITE,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description="Explains claims and out-of-pocket costs.",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skill=SkillSpec(identity=FQSN.parse("billing.claims"),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name="Claims", description="..."))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= SystemRegistry(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(_POLICY, _RESEARCH, _PROVIDER, _HEALTHCARE, _BILLING))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43891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Console, monitor, launch — no change; they iterate the registry. The discipline: keep the registry the ONLY place the agent set is enumerated.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Hardcode 'the four agents' anywhere instead of iterating SYSTEM, and a fifth silently goes unmonitored.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3B1A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B9A9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10789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A2E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system_console.py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474720"/>
            <a:ext cx="10789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governed registry becomes a live, reactive Marimo console — registry table, call graph, status cards, launch.</a:t>
            </a:r>
            <a:endParaRPr lang="en-US" sz="2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§6 · Purpose &amp; Marimo reactivity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system_console.py renders the whole system as a live operator console: a registry table, a call-graph diagram, status cards, launch controls, and an MCP-tools table. It holds no agent list of its own — it iterates SYSTEM.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11064240" cy="2377440"/>
          </a:xfrm>
          <a:prstGeom prst="roundRect">
            <a:avLst>
              <a:gd name="adj" fmla="val 3462"/>
            </a:avLst>
          </a:prstGeom>
          <a:solidFill>
            <a:srgbClr val="EEEBFA"/>
          </a:solidFill>
          <a:ln w="19050">
            <a:solidFill>
              <a:srgbClr val="6A2EB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944368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A2E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Marimo in one paragraph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3474720"/>
            <a:ext cx="10607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Marimo notebook is a reactive program: each @app.cell is a function whose inputs are the variables it names and whose outputs are what it returns. Marimo builds a dependency graph and re-runs a cell whenever an input changes. No hidden order, no stale state — if the refresh control fires, every cell naming refresh re-runs, and everything downstream re-runs in turn. Reactivity IS the reload mechanism.</a:t>
            </a:r>
            <a:endParaRPr lang="en-US" sz="12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§6 · The import cell — bind the foundation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46304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A2E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6528816" cy="365760"/>
          </a:xfrm>
          <a:prstGeom prst="rect">
            <a:avLst/>
          </a:prstGeom>
          <a:solidFill>
            <a:srgbClr val="6A2EB8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marimo/system_console.py · imports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7680960" cy="2926080"/>
          </a:xfrm>
          <a:prstGeom prst="rect">
            <a:avLst/>
          </a:prstGeom>
          <a:solidFill>
            <a:srgbClr val="14132E"/>
          </a:solidFill>
          <a:ln/>
        </p:spPr>
      </p:sp>
      <p:sp>
        <p:nvSpPr>
          <p:cNvPr id="6" name="Text 4"/>
          <p:cNvSpPr/>
          <p:nvPr/>
        </p:nvSpPr>
        <p:spPr>
          <a:xfrm>
            <a:off x="694944" y="1810512"/>
            <a:ext cx="7388352" cy="2798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@app.cell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_():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 a2a_labs import AgentRole, get_settings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 a2a_labs.orchestrator import (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AgentProcessManager, is_up, tier1_terminal_commands)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 a2a_labs.system_registry import SYSTEM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 a2a_labs.mcp_tools import McpTool, SERVER_TOOLS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settings = get_settings()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(AgentProcessManager, AgentRole, McpTool,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SERVER_TOOLS, SYSTEM, is_up, settings,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tier1_terminal_commands)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418320" y="2103120"/>
            <a:ext cx="274320" cy="274320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8" name="Text 6"/>
          <p:cNvSpPr/>
          <p:nvPr/>
        </p:nvSpPr>
        <p:spPr>
          <a:xfrm>
            <a:off x="9418320" y="21031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838944" y="2057400"/>
            <a:ext cx="177393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Binds SYSTEM, is_up, settings, the manager.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418320" y="3291840"/>
            <a:ext cx="274320" cy="274320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11" name="Text 9"/>
          <p:cNvSpPr/>
          <p:nvPr/>
        </p:nvSpPr>
        <p:spPr>
          <a:xfrm>
            <a:off x="9418320" y="3291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838944" y="3246120"/>
            <a:ext cx="177393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later cell consumes these by naming them.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6355080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single root of the reactive graph — no cell reaches around it for a literal.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§6 · The registry table — iterate SYSTEM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46304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A2E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6995160" cy="365760"/>
          </a:xfrm>
          <a:prstGeom prst="rect">
            <a:avLst/>
          </a:prstGeom>
          <a:solidFill>
            <a:srgbClr val="6A2EB8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marimo/system_console.py · registry table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8229600" cy="2926080"/>
          </a:xfrm>
          <a:prstGeom prst="rect">
            <a:avLst/>
          </a:prstGeom>
          <a:solidFill>
            <a:srgbClr val="14132E"/>
          </a:solidFill>
          <a:ln/>
        </p:spPr>
      </p:sp>
      <p:sp>
        <p:nvSpPr>
          <p:cNvPr id="6" name="Text 4"/>
          <p:cNvSpPr/>
          <p:nvPr/>
        </p:nvSpPr>
        <p:spPr>
          <a:xfrm>
            <a:off x="694944" y="1810512"/>
            <a:ext cx="7936992" cy="2798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@app.cell(hide_code=True)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_(SYSTEM, mo):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_rows = [{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"Role": s.role.value, "Port": s.port,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"Framework": s.framework.label,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"Skill (FQSN)": s.skill.id,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"Model": s.model.bare_name,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"MCP tool": s.skill.mcp_tool.value if s.skill.mcp_tool else "—",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"Hands off to": ", ".join(h.value for h in s.handoffs) or "—",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for s in SYSTEM]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mo.ui.table(_rows, selection=None)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column reads a governed value off the spec — the table types no agent name, port, or model itself.</a:t>
            </a:r>
            <a:endParaRPr lang="en-US" sz="1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§6 · The reactive monitor — refresh → poll → cards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46304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A2E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7383780" cy="365760"/>
          </a:xfrm>
          <a:prstGeom prst="rect">
            <a:avLst/>
          </a:prstGeom>
          <a:solidFill>
            <a:srgbClr val="6A2EB8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marimo/system_console.py · poll + cards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8686800" cy="2743200"/>
          </a:xfrm>
          <a:prstGeom prst="rect">
            <a:avLst/>
          </a:prstGeom>
          <a:solidFill>
            <a:srgbClr val="14132E"/>
          </a:solidFill>
          <a:ln/>
        </p:spPr>
      </p:sp>
      <p:sp>
        <p:nvSpPr>
          <p:cNvPr id="6" name="Text 4"/>
          <p:cNvSpPr/>
          <p:nvPr/>
        </p:nvSpPr>
        <p:spPr>
          <a:xfrm>
            <a:off x="694944" y="1810512"/>
            <a:ext cx="8394192" cy="2615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@app.cell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_(SYSTEM, is_up, refresh, settings):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refresh                       # reactive dependency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statuses = {}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_spec in SYSTEM: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_url = settings.url_for(_spec.role)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statuses[_spec.role] = {"url": _url, "port": _spec.port,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"up": is_up(_url)}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(statuses,)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 separate cell names 'statuses' -&gt; cards re-render on every poll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692640" y="2011680"/>
            <a:ext cx="274320" cy="274320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8" name="Text 6"/>
          <p:cNvSpPr/>
          <p:nvPr/>
        </p:nvSpPr>
        <p:spPr>
          <a:xfrm>
            <a:off x="9692640" y="20116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113264" y="1965960"/>
            <a:ext cx="149961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naming refresh makes the poll re-run on press / interval.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6355080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poll cell is the reactive heart; the cards cell names statuses, so it re-renders when the poll completes.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§6 · Launch control — observe vs act, separated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46304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A2E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6995160" cy="365760"/>
          </a:xfrm>
          <a:prstGeom prst="rect">
            <a:avLst/>
          </a:prstGeom>
          <a:solidFill>
            <a:srgbClr val="6A2EB8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marimo/system_console.py · launch handler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8229600" cy="2743200"/>
          </a:xfrm>
          <a:prstGeom prst="rect">
            <a:avLst/>
          </a:prstGeom>
          <a:solidFill>
            <a:srgbClr val="14132E"/>
          </a:solidFill>
          <a:ln/>
        </p:spPr>
      </p:sp>
      <p:sp>
        <p:nvSpPr>
          <p:cNvPr id="6" name="Text 4"/>
          <p:cNvSpPr/>
          <p:nvPr/>
        </p:nvSpPr>
        <p:spPr>
          <a:xfrm>
            <a:off x="694944" y="1810512"/>
            <a:ext cx="7936992" cy="2615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@app.cell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_(manager, mo, start_all_btn, stop_all_btn):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_msg = "Idle — press a button to start or stop."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start_all_btn.value: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manager.start_all(wait=False)   # spawn, non-blocking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_msg = "Issued start_all — re-poll to watch them come up."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 stop_all_btn.value: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manager.stop_all()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_msg = "Issued stop_all — agents terminated."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mo.md(_msg)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4297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Launching issues the spawn; polling observes the result. 'Did we start it' and 'does it answer' are deliberately distinct cells.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355080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Opening the console launches nothing — buttons start agents only when pressed.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§6 · The reactive cell graph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926080" cy="822960"/>
          </a:xfrm>
          <a:prstGeom prst="roundRect">
            <a:avLst>
              <a:gd name="adj" fmla="val 7778"/>
            </a:avLst>
          </a:prstGeom>
          <a:solidFill>
            <a:srgbClr val="E3F2FD"/>
          </a:solidFill>
          <a:ln w="17780">
            <a:solidFill>
              <a:srgbClr val="6A2E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imports cell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SYSTEM·is_up·settings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206240" y="1280160"/>
            <a:ext cx="3108960" cy="640080"/>
          </a:xfrm>
          <a:prstGeom prst="roundRect">
            <a:avLst>
              <a:gd name="adj" fmla="val 10000"/>
            </a:avLst>
          </a:prstGeom>
          <a:solidFill>
            <a:srgbClr val="F3E5F5"/>
          </a:solidFill>
          <a:ln w="17780">
            <a:solidFill>
              <a:srgbClr val="6A2E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0" y="13716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registry table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06240" y="2057400"/>
            <a:ext cx="3108960" cy="640080"/>
          </a:xfrm>
          <a:prstGeom prst="roundRect">
            <a:avLst>
              <a:gd name="adj" fmla="val 10000"/>
            </a:avLst>
          </a:prstGeom>
          <a:solidFill>
            <a:srgbClr val="F3E5F5"/>
          </a:solidFill>
          <a:ln w="17780">
            <a:solidFill>
              <a:srgbClr val="6A2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0" y="21488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call-graph mermaid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06240" y="2834640"/>
            <a:ext cx="3108960" cy="640080"/>
          </a:xfrm>
          <a:prstGeom prst="roundRect">
            <a:avLst>
              <a:gd name="adj" fmla="val 10000"/>
            </a:avLst>
          </a:prstGeom>
          <a:solidFill>
            <a:srgbClr val="F3E5F5"/>
          </a:solidFill>
          <a:ln w="17780">
            <a:solidFill>
              <a:srgbClr val="6A2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0" y="29260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MCP-tools table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1280160"/>
            <a:ext cx="3566160" cy="640080"/>
          </a:xfrm>
          <a:prstGeom prst="roundRect">
            <a:avLst>
              <a:gd name="adj" fmla="val 10000"/>
            </a:avLst>
          </a:prstGeom>
          <a:solidFill>
            <a:srgbClr val="E8F5E8"/>
          </a:solidFill>
          <a:ln w="17780">
            <a:solidFill>
              <a:srgbClr val="2E9E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38160" y="1371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refresh → poll → statuses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2057400"/>
            <a:ext cx="3566160" cy="640080"/>
          </a:xfrm>
          <a:prstGeom prst="roundRect">
            <a:avLst>
              <a:gd name="adj" fmla="val 10000"/>
            </a:avLst>
          </a:prstGeom>
          <a:solidFill>
            <a:srgbClr val="E8F5E8"/>
          </a:solidFill>
          <a:ln w="17780">
            <a:solidFill>
              <a:srgbClr val="2E9E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21488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 cards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46720" y="2834640"/>
            <a:ext cx="3566160" cy="640080"/>
          </a:xfrm>
          <a:prstGeom prst="roundRect">
            <a:avLst>
              <a:gd name="adj" fmla="val 10000"/>
            </a:avLst>
          </a:prstGeom>
          <a:solidFill>
            <a:srgbClr val="FFF8E1"/>
          </a:solidFill>
          <a:ln w="17780">
            <a:solidFill>
              <a:srgbClr val="E89A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38160" y="29260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buttons → manager → launch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474720" y="1920240"/>
            <a:ext cx="685800" cy="0"/>
          </a:xfrm>
          <a:prstGeom prst="line">
            <a:avLst/>
          </a:prstGeom>
          <a:noFill/>
          <a:ln w="20320">
            <a:solidFill>
              <a:srgbClr val="6A2EB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474720" y="1920240"/>
            <a:ext cx="685800" cy="1234440"/>
          </a:xfrm>
          <a:prstGeom prst="line">
            <a:avLst/>
          </a:prstGeom>
          <a:noFill/>
          <a:ln w="20320">
            <a:solidFill>
              <a:srgbClr val="6A2EB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315200" y="1600200"/>
            <a:ext cx="685800" cy="0"/>
          </a:xfrm>
          <a:prstGeom prst="line">
            <a:avLst/>
          </a:prstGeom>
          <a:noFill/>
          <a:ln w="20320">
            <a:solidFill>
              <a:srgbClr val="2E9E6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784080" y="1920240"/>
            <a:ext cx="0" cy="137160"/>
          </a:xfrm>
          <a:prstGeom prst="line">
            <a:avLst/>
          </a:prstGeom>
          <a:noFill/>
          <a:ln w="20320">
            <a:solidFill>
              <a:srgbClr val="2E9E6B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548640" y="6355080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import cell is the single root; the monitor chain re-runs on refresh; no cell holds its own agent list.</a:t>
            </a:r>
            <a:endParaRPr lang="en-US" sz="1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§6 · Extending it — a new surface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7383780" cy="365760"/>
          </a:xfrm>
          <a:prstGeom prst="rect">
            <a:avLst/>
          </a:prstGeom>
          <a:solidFill>
            <a:srgbClr val="6A2EB8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new cell names the data it needs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8686800" cy="1737360"/>
          </a:xfrm>
          <a:prstGeom prst="rect">
            <a:avLst/>
          </a:prstGeom>
          <a:solidFill>
            <a:srgbClr val="14132E"/>
          </a:solidFill>
          <a:ln/>
        </p:spPr>
      </p:sp>
      <p:sp>
        <p:nvSpPr>
          <p:cNvPr id="5" name="Text 3"/>
          <p:cNvSpPr/>
          <p:nvPr/>
        </p:nvSpPr>
        <p:spPr>
          <a:xfrm>
            <a:off x="694944" y="1810512"/>
            <a:ext cx="8394192" cy="1609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@app.cell(hide_code=True)</a:t>
            </a:r>
            <a:endParaRPr lang="en-US" sz="11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_(SYSTEM, mo, statuses):</a:t>
            </a:r>
            <a:endParaRPr lang="en-US" sz="11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up = sum(1 for s in SYSTEM if statuses[s.role]["up"])</a:t>
            </a:r>
            <a:endParaRPr lang="en-US" sz="11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mo.md(f"**{up} / {len(SYSTEM.roles)} agents reachable**")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338328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Marimo wires it into the graph automatically — it reacts to statuses because it names statuses. A fifth agent appears in table, cards, and graph with no console edit.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discipline: name the data you need, reach values through SYSTEM and Enums — never re-type the agent list.</a:t>
            </a:r>
            <a:endParaRPr lang="en-US" sz="1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3B1A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B9A9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7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10789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A2E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console_monitor.py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474720"/>
            <a:ext cx="10789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focused monitor — built around one idea: the difference between 'did we spawn it' and 'does it answer.'</a:t>
            </a:r>
            <a:endParaRPr lang="en-US" sz="2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§7 · How it differs from the full console</a:t>
            </a:r>
            <a:endParaRPr lang="en-US" sz="2700" dirty="0"/>
          </a:p>
        </p:txBody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4206240"/>
                <a:gridCol w="429768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Aspect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system_console.py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console_monitor.py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Agent source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iterates SYSTEM (registry)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iterates AgentRole (enum)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Scope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registry·graph·MCP·monitor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monitor + launch, focused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Unique surface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call-graph render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managed-process view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41148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Iterating AgentRole watches every role the enum defines (infra monitor); iterating SYSTEM watches exactly the registered agents (precise). The monitor's distinctive contribution: two independent truths about each agent.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48640" y="6355080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wider net vs the precise one — both valid; the monitor takes the wider.</a:t>
            </a:r>
            <a:endParaRPr lang="en-US" sz="1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§7 · The poll — over AgentRole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46304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A2E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6995160" cy="365760"/>
          </a:xfrm>
          <a:prstGeom prst="rect">
            <a:avLst/>
          </a:prstGeom>
          <a:solidFill>
            <a:srgbClr val="6A2EB8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marimo/console_monitor.py · poll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8229600" cy="2651760"/>
          </a:xfrm>
          <a:prstGeom prst="rect">
            <a:avLst/>
          </a:prstGeom>
          <a:solidFill>
            <a:srgbClr val="14132E"/>
          </a:solidFill>
          <a:ln/>
        </p:spPr>
      </p:sp>
      <p:sp>
        <p:nvSpPr>
          <p:cNvPr id="6" name="Text 4"/>
          <p:cNvSpPr/>
          <p:nvPr/>
        </p:nvSpPr>
        <p:spPr>
          <a:xfrm>
            <a:off x="694944" y="1810512"/>
            <a:ext cx="7936992" cy="2523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@app.cell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_(AgentRole, is_up, settings, refresh):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refresh                       # reactive dependency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statuses = {}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_role in AgentRole:       # every role the enum defines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_url = settings.url_for(_role)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statuses[_role] = {"url": _url, "port": int(_role.port),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"up": is_up(_url)}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(statuses,)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Probes every AgentRole — the pure-infrastructure view. Switch to `for _spec in SYSTEM` to align with the console.</a:t>
            </a:r>
            <a:endParaRPr lang="en-US" sz="12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§7 · Two truths about an agent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2103120"/>
          </a:xfrm>
          <a:prstGeom prst="roundRect">
            <a:avLst>
              <a:gd name="adj" fmla="val 3913"/>
            </a:avLst>
          </a:prstGeom>
          <a:solidFill>
            <a:srgbClr val="F8F0FF"/>
          </a:solidFill>
          <a:ln w="19050">
            <a:solidFill>
              <a:srgbClr val="6A2EB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57276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A2E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🟣  Truth one — did we spawn it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manager.start_all() → manager.status()</a:t>
            </a:r>
            <a:endParaRPr lang="en-US" sz="1250" dirty="0"/>
          </a:p>
          <a:p>
            <a:pPr indent="0" marL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running / stopped.</a:t>
            </a:r>
            <a:endParaRPr lang="en-US" sz="1250" dirty="0"/>
          </a:p>
          <a:p>
            <a:pPr indent="0" marL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process manager believes</a:t>
            </a:r>
            <a:endParaRPr lang="en-US" sz="1250" dirty="0"/>
          </a:p>
          <a:p>
            <a:pPr indent="0" marL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launched.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394960" cy="2103120"/>
          </a:xfrm>
          <a:prstGeom prst="roundRect">
            <a:avLst>
              <a:gd name="adj" fmla="val 3913"/>
            </a:avLst>
          </a:prstGeom>
          <a:solidFill>
            <a:srgbClr val="F0F8F0"/>
          </a:solidFill>
          <a:ln w="19050">
            <a:solidFill>
              <a:srgbClr val="2E9E6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46520" y="157276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🟢  Truth two — does it answer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46520" y="210312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is_up(url) per role → statuses</a:t>
            </a:r>
            <a:endParaRPr lang="en-US" sz="1250" dirty="0"/>
          </a:p>
          <a:p>
            <a:pPr indent="0" marL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 / down.</a:t>
            </a:r>
            <a:endParaRPr lang="en-US" sz="1250" dirty="0"/>
          </a:p>
          <a:p>
            <a:pPr indent="0" marL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actually answers on the wire</a:t>
            </a:r>
            <a:endParaRPr lang="en-US" sz="1250" dirty="0"/>
          </a:p>
          <a:p>
            <a:pPr indent="0" marL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(the Agent Card).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374904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They are intentionally independent. An agent spawned but crashed reads running-then-down. An agent started in a terminal reads not-managed-but-up. The combined reading is what lets an operator DIAGNOSE, not just observe.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6355080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Folding the two into one 'status' would hide exactly the diagnostic the monitor exists to provide.</a:t>
            </a:r>
            <a:endParaRPr lang="en-US" sz="12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§7 · The managed-process view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46304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A2E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VERIFIED — the monitor's distinctive surface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6995160" cy="365760"/>
          </a:xfrm>
          <a:prstGeom prst="rect">
            <a:avLst/>
          </a:prstGeom>
          <a:solidFill>
            <a:srgbClr val="6A2EB8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marimo/console_monitor.py · process view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8229600" cy="2743200"/>
          </a:xfrm>
          <a:prstGeom prst="rect">
            <a:avLst/>
          </a:prstGeom>
          <a:solidFill>
            <a:srgbClr val="14132E"/>
          </a:solidFill>
          <a:ln/>
        </p:spPr>
      </p:sp>
      <p:sp>
        <p:nvSpPr>
          <p:cNvPr id="6" name="Text 4"/>
          <p:cNvSpPr/>
          <p:nvPr/>
        </p:nvSpPr>
        <p:spPr>
          <a:xfrm>
            <a:off x="694944" y="1810512"/>
            <a:ext cx="7936992" cy="2615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@app.cell(hide_code=True)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_(manager, mo):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_status = manager.status()   # "did we spawn it"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_status: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mo.vstack([mo.md("### Managed processes"),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mo.ui.table([{"Agent": k, "Process": v}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for k, v in _status.items()],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selection=None)])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mo.md("*No processes managed yet this session.*")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Distinct from the network probe: this is spawn state, the cards are reachability — the two truths, side by side.</a:t>
            </a:r>
            <a:endParaRPr lang="en-US" sz="12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§7 · The honest health-check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46304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A2E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VERIFIED — verifies the Agent Card, not a bare port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6995160" cy="365760"/>
          </a:xfrm>
          <a:prstGeom prst="rect">
            <a:avLst/>
          </a:prstGeom>
          <a:solidFill>
            <a:srgbClr val="6A2EB8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a2a_labs/orchestrator.py · is_up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8229600" cy="2011680"/>
          </a:xfrm>
          <a:prstGeom prst="rect">
            <a:avLst/>
          </a:prstGeom>
          <a:solidFill>
            <a:srgbClr val="14132E"/>
          </a:solidFill>
          <a:ln/>
        </p:spPr>
      </p:sp>
      <p:sp>
        <p:nvSpPr>
          <p:cNvPr id="6" name="Text 4"/>
          <p:cNvSpPr/>
          <p:nvPr/>
        </p:nvSpPr>
        <p:spPr>
          <a:xfrm>
            <a:off x="694944" y="1901952"/>
            <a:ext cx="7936992" cy="1883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is_up(url: str, timeout: float = 2.0) -&gt; bool:</a:t>
            </a:r>
            <a:endParaRPr lang="en-US" sz="11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card_url = url.rstrip("/") + "/.well-known/agent-card.json"</a:t>
            </a:r>
            <a:endParaRPr lang="en-US" sz="11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try:</a:t>
            </a:r>
            <a:endParaRPr lang="en-US" sz="11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httpx.get(card_url,</a:t>
            </a:r>
            <a:endParaRPr lang="en-US" sz="11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timeout=timeout).status_code == 200</a:t>
            </a:r>
            <a:endParaRPr lang="en-US" sz="11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except Exception:</a:t>
            </a:r>
            <a:endParaRPr lang="en-US" sz="11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False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384048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agent listening but not serving its card reads as down — the honest answer. The A2A contract is 'serves its Agent Card', not 'has an open port'. So 'reachable' means 'speaks A2A'.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355080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Reachability is defined by the protocol contract, not by a socket.</a:t>
            </a:r>
            <a:endParaRPr lang="en-US" sz="12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§7 · Extending it — latency reading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7383780" cy="365760"/>
          </a:xfrm>
          <a:prstGeom prst="rect">
            <a:avLst/>
          </a:prstGeom>
          <a:solidFill>
            <a:srgbClr val="6A2EB8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 the probe; cards re-render automatically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8686800" cy="2926080"/>
          </a:xfrm>
          <a:prstGeom prst="rect">
            <a:avLst/>
          </a:prstGeom>
          <a:solidFill>
            <a:srgbClr val="14132E"/>
          </a:solidFill>
          <a:ln/>
        </p:spPr>
      </p:sp>
      <p:sp>
        <p:nvSpPr>
          <p:cNvPr id="5" name="Text 3"/>
          <p:cNvSpPr/>
          <p:nvPr/>
        </p:nvSpPr>
        <p:spPr>
          <a:xfrm>
            <a:off x="694944" y="1810512"/>
            <a:ext cx="8394192" cy="2798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@app.cell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_(AgentRole, is_up, settings, refresh):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import time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refresh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statuses = {}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_role in AgentRole: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_url = settings.url_for(_role)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_t = time.perf_counter()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_up = is_up(_url)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statuses[_role] = {"url": _url, "port": int(_role.port),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"up": _up, "ms": round((time.perf_counter()-_t)*1000)}</a:t>
            </a:r>
            <a:endParaRPr lang="en-US" sz="10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(statuses,)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355080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Cards re-render because they name statuses. The discipline: keep the two truths separate — never fold them into one value.</a:t>
            </a:r>
            <a:endParaRPr lang="en-US" sz="12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3B1A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B9A9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10789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A2E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console_asgi.py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474720"/>
            <a:ext cx="10789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uvicorn entry — the console stops being a notebook you edit and becomes an app you serve.</a:t>
            </a:r>
            <a:endParaRPr lang="en-US" sz="2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§8 · Serve mode vs edit mode</a:t>
            </a:r>
            <a:endParaRPr lang="en-US" sz="2700" dirty="0"/>
          </a:p>
        </p:txBody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389120"/>
                <a:gridCol w="466344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Mode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Command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What the user gets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Edit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marimo edit system_console.py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full editor — code cells visible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Serve (this)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uvicorn console_asgi:app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rendered app only — no code surface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36576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operator monitoring agents should not be handed an editable notebook — they need the dashboard, not the source. console_asgi.py produces the serve-mode artifact: a standard ASGI app any server can host.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48640" y="6355080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Asynchronous Server Gateway Interface (ASGI) — the standard Python async web-app interface uvicorn serves.</a:t>
            </a:r>
            <a:endParaRPr lang="en-US" sz="12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§8 · The entry — six lines, line by line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46304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A2E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6528816" cy="365760"/>
          </a:xfrm>
          <a:prstGeom prst="rect">
            <a:avLst/>
          </a:prstGeom>
          <a:solidFill>
            <a:srgbClr val="6A2EB8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marimo/console_asgi.py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7680960" cy="2743200"/>
          </a:xfrm>
          <a:prstGeom prst="rect">
            <a:avLst/>
          </a:prstGeom>
          <a:solidFill>
            <a:srgbClr val="14132E"/>
          </a:solidFill>
          <a:ln/>
        </p:spPr>
      </p:sp>
      <p:sp>
        <p:nvSpPr>
          <p:cNvPr id="6" name="Text 4"/>
          <p:cNvSpPr/>
          <p:nvPr/>
        </p:nvSpPr>
        <p:spPr>
          <a:xfrm>
            <a:off x="694944" y="1810512"/>
            <a:ext cx="7388352" cy="2615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pathlib import Path</a:t>
            </a:r>
            <a:endParaRPr lang="en-US" sz="105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marimo</a:t>
            </a:r>
            <a:endParaRPr lang="en-US" sz="1050" dirty="0"/>
          </a:p>
          <a:p>
            <a:pPr indent="0" marL="0">
              <a:lnSpc>
                <a:spcPct val="103000"/>
              </a:lnSpc>
              <a:buNone/>
            </a:pPr>
            <a:endParaRPr lang="en-US" sz="105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_HERE = Path(__file__).parent           # this module's directory</a:t>
            </a:r>
            <a:endParaRPr lang="en-US" sz="1050" dirty="0"/>
          </a:p>
          <a:p>
            <a:pPr indent="0" marL="0">
              <a:lnSpc>
                <a:spcPct val="103000"/>
              </a:lnSpc>
              <a:buNone/>
            </a:pPr>
            <a:endParaRPr lang="en-US" sz="105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 = (</a:t>
            </a:r>
            <a:endParaRPr lang="en-US" sz="105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marimo.create_asgi_app()            # empty Marimo ASGI server</a:t>
            </a:r>
            <a:endParaRPr lang="en-US" sz="105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.with_app(path="",                  # mount the console at /</a:t>
            </a:r>
            <a:endParaRPr lang="en-US" sz="105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root=str(_HERE / "system_console.py"))</a:t>
            </a:r>
            <a:endParaRPr lang="en-US" sz="105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server.build()                    # the ASGI callable uvicorn serves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9418320" y="2011680"/>
            <a:ext cx="274320" cy="274320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8" name="Text 6"/>
          <p:cNvSpPr/>
          <p:nvPr/>
        </p:nvSpPr>
        <p:spPr>
          <a:xfrm>
            <a:off x="9418320" y="20116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838944" y="1965960"/>
            <a:ext cx="177393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create_asgi_app() — a Marimo ASGI server.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418320" y="2926080"/>
            <a:ext cx="274320" cy="274320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11" name="Text 9"/>
          <p:cNvSpPr/>
          <p:nvPr/>
        </p:nvSpPr>
        <p:spPr>
          <a:xfrm>
            <a:off x="9418320" y="29260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838944" y="2880360"/>
            <a:ext cx="177393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with_app(path="") mounts the console at root.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418320" y="3840480"/>
            <a:ext cx="274320" cy="274320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14" name="Text 12"/>
          <p:cNvSpPr/>
          <p:nvPr/>
        </p:nvSpPr>
        <p:spPr>
          <a:xfrm>
            <a:off x="9418320" y="3840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838944" y="3794760"/>
            <a:ext cx="177393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Path(__file__).parent → works from any cwd.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6355080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Its whole job is to turn one notebook into one mounted ASGI app — thin by design.</a:t>
            </a:r>
            <a:endParaRPr lang="en-US" sz="12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§8 · Deployment topology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377440" cy="822960"/>
          </a:xfrm>
          <a:prstGeom prst="roundRect">
            <a:avLst>
              <a:gd name="adj" fmla="val 7778"/>
            </a:avLst>
          </a:prstGeom>
          <a:solidFill>
            <a:srgbClr val="E3F2FD"/>
          </a:solidFill>
          <a:ln w="17780">
            <a:solidFill>
              <a:srgbClr val="6A2E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 :5650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91840" y="1371600"/>
            <a:ext cx="3108960" cy="1554480"/>
          </a:xfrm>
          <a:prstGeom prst="roundRect">
            <a:avLst>
              <a:gd name="adj" fmla="val 4118"/>
            </a:avLst>
          </a:prstGeom>
          <a:solidFill>
            <a:srgbClr val="F8F0FF"/>
          </a:solidFill>
          <a:ln w="17780">
            <a:solidFill>
              <a:srgbClr val="6A2E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0" y="14630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 process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83280" y="1828800"/>
            <a:ext cx="29260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console_asgi:app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Marimo ASGI · run mode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766560" y="1371600"/>
            <a:ext cx="2377440" cy="1554480"/>
          </a:xfrm>
          <a:prstGeom prst="roundRect">
            <a:avLst>
              <a:gd name="adj" fmla="val 4118"/>
            </a:avLst>
          </a:prstGeom>
          <a:solidFill>
            <a:srgbClr val="F0FFFE"/>
          </a:solidFill>
          <a:ln w="17780">
            <a:solidFill>
              <a:srgbClr val="0069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0" y="14630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Foundation reads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0" y="1828800"/>
            <a:ext cx="21945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· is_up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9509760" y="1280160"/>
            <a:ext cx="2103120" cy="502920"/>
          </a:xfrm>
          <a:prstGeom prst="roundRect">
            <a:avLst>
              <a:gd name="adj" fmla="val 12727"/>
            </a:avLst>
          </a:prstGeom>
          <a:solidFill>
            <a:srgbClr val="E8F5E8"/>
          </a:solidFill>
          <a:ln w="17780">
            <a:solidFill>
              <a:srgbClr val="2E9E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0" y="13716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 :9999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509760" y="1874520"/>
            <a:ext cx="2103120" cy="502920"/>
          </a:xfrm>
          <a:prstGeom prst="roundRect">
            <a:avLst>
              <a:gd name="adj" fmla="val 12727"/>
            </a:avLst>
          </a:prstGeom>
          <a:solidFill>
            <a:srgbClr val="E8F5E8"/>
          </a:solidFill>
          <a:ln w="17780">
            <a:solidFill>
              <a:srgbClr val="2E9E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0" y="19659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Research :9998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509760" y="2468880"/>
            <a:ext cx="2103120" cy="502920"/>
          </a:xfrm>
          <a:prstGeom prst="roundRect">
            <a:avLst>
              <a:gd name="adj" fmla="val 12727"/>
            </a:avLst>
          </a:prstGeom>
          <a:solidFill>
            <a:srgbClr val="E8F5E8"/>
          </a:solidFill>
          <a:ln w="17780">
            <a:solidFill>
              <a:srgbClr val="2E9E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0" y="2560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Provider :9997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509760" y="3063240"/>
            <a:ext cx="2103120" cy="502920"/>
          </a:xfrm>
          <a:prstGeom prst="roundRect">
            <a:avLst>
              <a:gd name="adj" fmla="val 12727"/>
            </a:avLst>
          </a:prstGeom>
          <a:solidFill>
            <a:srgbClr val="E8F5E8"/>
          </a:solidFill>
          <a:ln w="17780">
            <a:solidFill>
              <a:srgbClr val="2E9E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0" y="31546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Healthcare :9996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926080" y="1920240"/>
            <a:ext cx="365760" cy="0"/>
          </a:xfrm>
          <a:prstGeom prst="line">
            <a:avLst/>
          </a:prstGeom>
          <a:noFill/>
          <a:ln w="25400">
            <a:solidFill>
              <a:srgbClr val="6A2EB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400800" y="2103120"/>
            <a:ext cx="365760" cy="0"/>
          </a:xfrm>
          <a:prstGeom prst="line">
            <a:avLst/>
          </a:prstGeom>
          <a:noFill/>
          <a:ln w="25400">
            <a:solidFill>
              <a:srgbClr val="6A2EB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144000" y="2103120"/>
            <a:ext cx="365760" cy="-594360"/>
          </a:xfrm>
          <a:prstGeom prst="line">
            <a:avLst/>
          </a:prstGeom>
          <a:noFill/>
          <a:ln w="19050">
            <a:solidFill>
              <a:srgbClr val="2E9E6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144000" y="2103120"/>
            <a:ext cx="365760" cy="0"/>
          </a:xfrm>
          <a:prstGeom prst="line">
            <a:avLst/>
          </a:prstGeom>
          <a:noFill/>
          <a:ln w="19050">
            <a:solidFill>
              <a:srgbClr val="2E9E6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144000" y="2103120"/>
            <a:ext cx="365760" cy="594360"/>
          </a:xfrm>
          <a:prstGeom prst="line">
            <a:avLst/>
          </a:prstGeom>
          <a:noFill/>
          <a:ln w="19050">
            <a:solidFill>
              <a:srgbClr val="2E9E6B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144000" y="2103120"/>
            <a:ext cx="365760" cy="1188720"/>
          </a:xfrm>
          <a:prstGeom prst="line">
            <a:avLst/>
          </a:prstGeom>
          <a:noFill/>
          <a:ln w="19050">
            <a:solidFill>
              <a:srgbClr val="2E9E6B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548640" y="38404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console is ONE uvicorn process; each agent is its OWN uvicorn process. The console reaches agents only as a client — probing cards, spawning them — never by hosting them.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48640" y="6355080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Process isolation: the console restarts without touching agents; an agent crashes without taking the console down.</a:t>
            </a:r>
            <a:endParaRPr lang="en-US" sz="12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§8 · Running it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6995160" cy="365760"/>
          </a:xfrm>
          <a:prstGeom prst="rect">
            <a:avLst/>
          </a:prstGeom>
          <a:solidFill>
            <a:srgbClr val="6A2EB8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the marimo/ directory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8229600" cy="1280160"/>
          </a:xfrm>
          <a:prstGeom prst="rect">
            <a:avLst/>
          </a:prstGeom>
          <a:solidFill>
            <a:srgbClr val="14132E"/>
          </a:solidFill>
          <a:ln/>
        </p:spPr>
      </p:sp>
      <p:sp>
        <p:nvSpPr>
          <p:cNvPr id="5" name="Text 3"/>
          <p:cNvSpPr/>
          <p:nvPr/>
        </p:nvSpPr>
        <p:spPr>
          <a:xfrm>
            <a:off x="694944" y="1901952"/>
            <a:ext cx="7936992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uvicorn console_asgi:app --port 5650</a:t>
            </a:r>
            <a:endParaRPr lang="en-US" sz="12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then open http://localhost:5650/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console serves at the chosen port; agents come up separately — from the console's own launch buttons (Tier 2 subprocess manager) or the Tier 1 terminal commands the console prints. Serving the console starts no agent.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two concerns stay independent — serve the dashboard, launch the agents, in either order.</a:t>
            </a:r>
            <a:endParaRPr lang="en-US" sz="12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§8 · Extending it — mount more notebooks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7383780" cy="365760"/>
          </a:xfrm>
          <a:prstGeom prst="rect">
            <a:avLst/>
          </a:prstGeom>
          <a:solidFill>
            <a:srgbClr val="6A2EB8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 the focused monitor alongside the console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8686800" cy="2011680"/>
          </a:xfrm>
          <a:prstGeom prst="rect">
            <a:avLst/>
          </a:prstGeom>
          <a:solidFill>
            <a:srgbClr val="14132E"/>
          </a:solidFill>
          <a:ln/>
        </p:spPr>
      </p:sp>
      <p:sp>
        <p:nvSpPr>
          <p:cNvPr id="5" name="Text 3"/>
          <p:cNvSpPr/>
          <p:nvPr/>
        </p:nvSpPr>
        <p:spPr>
          <a:xfrm>
            <a:off x="694944" y="1810512"/>
            <a:ext cx="8394192" cy="1883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 = (</a:t>
            </a:r>
            <a:endParaRPr lang="en-US" sz="11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marimo.create_asgi_app()</a:t>
            </a:r>
            <a:endParaRPr lang="en-US" sz="11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.with_app(path="",        root=str(_HERE/"system_console.py"))</a:t>
            </a:r>
            <a:endParaRPr lang="en-US" sz="11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.with_app(path="/monitor",root=str(_HERE/"console_monitor.py"))</a:t>
            </a:r>
            <a:endParaRPr lang="en-US" sz="11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D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server.build()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36576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 / serves the full console and /monitor serves the focused monitor from one uvicorn process. The discipline: keep this entry thin — application logic belongs in the notebooks and foundation, never in the ASGI shim.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entry that grows business logic is an entry where bugs hide — it stays a deployment detail.</a:t>
            </a:r>
            <a:endParaRPr lang="en-US" sz="12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3B1A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B9A9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FINALE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10789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A2E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puzzle assembled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474720"/>
            <a:ext cx="10789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module, clicked together into the running system — from import to a live concierge query.</a:t>
            </a:r>
            <a:endParaRPr lang="en-US" sz="20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Assembly — bottom up, at import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1064240" cy="640080"/>
          </a:xfrm>
          <a:prstGeom prst="roundRect">
            <a:avLst>
              <a:gd name="adj" fmla="val 10000"/>
            </a:avLst>
          </a:prstGeom>
          <a:solidFill>
            <a:srgbClr val="E8F4FD"/>
          </a:solidFill>
          <a:ln w="17780">
            <a:solidFill>
              <a:srgbClr val="6A2E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① FOUNDATION — enums · vendors · fqsn · config · orchestrator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88136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closed sets, validated models, is_up, launch tiers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11064240" cy="640080"/>
          </a:xfrm>
          <a:prstGeom prst="roundRect">
            <a:avLst>
              <a:gd name="adj" fmla="val 10000"/>
            </a:avLst>
          </a:prstGeom>
          <a:solidFill>
            <a:srgbClr val="F8F0FF"/>
          </a:solidFill>
          <a:ln w="17780">
            <a:solidFill>
              <a:srgbClr val="6A2E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4688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A2E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② GOVERNANCE — agent_framework · mcp_tools (Enums)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1088136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A2E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frameworks &amp; MCP tools become referenceable closed values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11064240" cy="640080"/>
          </a:xfrm>
          <a:prstGeom prst="roundRect">
            <a:avLst>
              <a:gd name="adj" fmla="val 10000"/>
            </a:avLst>
          </a:prstGeom>
          <a:solidFill>
            <a:srgbClr val="F8F0FF"/>
          </a:solidFill>
          <a:ln w="17780">
            <a:solidFill>
              <a:srgbClr val="6A2E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2918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A2E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③ SPECS — agent_specs (frozen, cross-validated)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657600"/>
            <a:ext cx="1088136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A2E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 · framework · skill(FQSN) · model · handoffs — one object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11064240" cy="640080"/>
          </a:xfrm>
          <a:prstGeom prst="roundRect">
            <a:avLst>
              <a:gd name="adj" fmla="val 10000"/>
            </a:avLst>
          </a:prstGeom>
          <a:solidFill>
            <a:srgbClr val="F0FFFE"/>
          </a:solidFill>
          <a:ln w="17780">
            <a:solidFill>
              <a:srgbClr val="0069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1148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④ REGISTRY — system_registry (WORM, closure, DAG/DCG)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4480560"/>
            <a:ext cx="1088136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6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four specs become one immutable, proven-closed SYSTEM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4846320"/>
            <a:ext cx="11064240" cy="640080"/>
          </a:xfrm>
          <a:prstGeom prst="roundRect">
            <a:avLst>
              <a:gd name="adj" fmla="val 10000"/>
            </a:avLst>
          </a:prstGeom>
          <a:solidFill>
            <a:srgbClr val="FFF4E6"/>
          </a:solidFill>
          <a:ln w="17780">
            <a:solidFill>
              <a:srgbClr val="E89A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9377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9A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⑤ PRESENTATION — console · monitor · asgi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5303520"/>
            <a:ext cx="1088136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9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reads SYSTEM to render, monitor, launch — served by uvicorn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943600" y="2212848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▲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0" y="3035808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▲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0" y="3858768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▲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0" y="4681728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▲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6355080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layer depends only on the one beneath. A typo at any layer fails at import — the system can't start wrong.</a:t>
            </a:r>
            <a:endParaRPr lang="en-US" sz="12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data path — one prompt, end to end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103120" cy="731520"/>
          </a:xfrm>
          <a:prstGeom prst="roundRect">
            <a:avLst>
              <a:gd name="adj" fmla="val 8750"/>
            </a:avLst>
          </a:prstGeom>
          <a:solidFill>
            <a:srgbClr val="EEEBFA"/>
          </a:solidFill>
          <a:ln w="17780">
            <a:solidFill>
              <a:srgbClr val="6A2E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544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926080" y="1463040"/>
            <a:ext cx="2377440" cy="731520"/>
          </a:xfrm>
          <a:prstGeom prst="roundRect">
            <a:avLst>
              <a:gd name="adj" fmla="val 8750"/>
            </a:avLst>
          </a:prstGeom>
          <a:solidFill>
            <a:srgbClr val="3B1A78"/>
          </a:solidFill>
          <a:ln/>
        </p:spPr>
      </p:sp>
      <p:sp>
        <p:nvSpPr>
          <p:cNvPr id="7" name="Text 5"/>
          <p:cNvSpPr/>
          <p:nvPr/>
        </p:nvSpPr>
        <p:spPr>
          <a:xfrm>
            <a:off x="3017520" y="15544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Healthcare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017520" y="192024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reads handoffs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577840" y="1463040"/>
            <a:ext cx="2194560" cy="731520"/>
          </a:xfrm>
          <a:prstGeom prst="roundRect">
            <a:avLst>
              <a:gd name="adj" fmla="val 8750"/>
            </a:avLst>
          </a:prstGeom>
          <a:solidFill>
            <a:srgbClr val="F0FFFE"/>
          </a:solidFill>
          <a:ln w="17780">
            <a:solidFill>
              <a:srgbClr val="0069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0" y="1554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0" y="19202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governs the graph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046720" y="1005840"/>
            <a:ext cx="3566160" cy="640080"/>
          </a:xfrm>
          <a:prstGeom prst="roundRect">
            <a:avLst>
              <a:gd name="adj" fmla="val 10000"/>
            </a:avLst>
          </a:prstGeom>
          <a:solidFill>
            <a:srgbClr val="EEEBFA"/>
          </a:solidFill>
          <a:ln w="17780">
            <a:solidFill>
              <a:srgbClr val="6A2E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38160" y="10972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 · A2A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138160" y="1463040"/>
            <a:ext cx="338328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WorkspaceResponseObject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046720" y="1737360"/>
            <a:ext cx="3566160" cy="640080"/>
          </a:xfrm>
          <a:prstGeom prst="roundRect">
            <a:avLst>
              <a:gd name="adj" fmla="val 10000"/>
            </a:avLst>
          </a:prstGeom>
          <a:solidFill>
            <a:srgbClr val="EEEBFA"/>
          </a:solidFill>
          <a:ln w="17780">
            <a:solidFill>
              <a:srgbClr val="6A2E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8160" y="18288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Research · A2A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138160" y="2194560"/>
            <a:ext cx="338328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correlated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046720" y="2468880"/>
            <a:ext cx="3566160" cy="640080"/>
          </a:xfrm>
          <a:prstGeom prst="roundRect">
            <a:avLst>
              <a:gd name="adj" fmla="val 10000"/>
            </a:avLst>
          </a:prstGeom>
          <a:solidFill>
            <a:srgbClr val="EEEBFA"/>
          </a:solidFill>
          <a:ln w="17780">
            <a:solidFill>
              <a:srgbClr val="6A2E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38160" y="25603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Provider · A2A → MCP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138160" y="2926080"/>
            <a:ext cx="338328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list_doctors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926080" y="3383280"/>
            <a:ext cx="8686800" cy="731520"/>
          </a:xfrm>
          <a:prstGeom prst="roundRect">
            <a:avLst>
              <a:gd name="adj" fmla="val 8750"/>
            </a:avLst>
          </a:prstGeom>
          <a:solidFill>
            <a:srgbClr val="E8F5E8"/>
          </a:solidFill>
          <a:ln w="17780">
            <a:solidFill>
              <a:srgbClr val="2E9E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17520" y="347472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aggregated concierge answer — correlation verified, bounded by max_call_depth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651760" y="1828800"/>
            <a:ext cx="274320" cy="0"/>
          </a:xfrm>
          <a:prstGeom prst="line">
            <a:avLst/>
          </a:prstGeom>
          <a:noFill/>
          <a:ln w="25400">
            <a:solidFill>
              <a:srgbClr val="6A2EB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303520" y="1828800"/>
            <a:ext cx="274320" cy="0"/>
          </a:xfrm>
          <a:prstGeom prst="line">
            <a:avLst/>
          </a:prstGeom>
          <a:noFill/>
          <a:ln w="25400">
            <a:solidFill>
              <a:srgbClr val="6A2EB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772400" y="1828800"/>
            <a:ext cx="274320" cy="-502920"/>
          </a:xfrm>
          <a:prstGeom prst="line">
            <a:avLst/>
          </a:prstGeom>
          <a:noFill/>
          <a:ln w="20320">
            <a:solidFill>
              <a:srgbClr val="E89A1C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772400" y="1828800"/>
            <a:ext cx="274320" cy="228600"/>
          </a:xfrm>
          <a:prstGeom prst="line">
            <a:avLst/>
          </a:prstGeom>
          <a:noFill/>
          <a:ln w="20320">
            <a:solidFill>
              <a:srgbClr val="E89A1C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772400" y="1828800"/>
            <a:ext cx="274320" cy="960120"/>
          </a:xfrm>
          <a:prstGeom prst="line">
            <a:avLst/>
          </a:prstGeom>
          <a:noFill/>
          <a:ln w="20320">
            <a:solidFill>
              <a:srgbClr val="E89A1C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269480" y="3108960"/>
            <a:ext cx="0" cy="274320"/>
          </a:xfrm>
          <a:prstGeom prst="line">
            <a:avLst/>
          </a:prstGeom>
          <a:noFill/>
          <a:ln w="25400">
            <a:solidFill>
              <a:srgbClr val="2E9E6B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548640" y="6355080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Healthcare consults SYSTEM's governed handoffs, calls three agents over A2A; Provider calls MCP; the answer correlates back.</a:t>
            </a:r>
            <a:endParaRPr lang="en-US" sz="12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assembly guarantees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8872" cy="548640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hardcoding  —  </a:t>
            </a:r>
            <a:pPr indent="0" marL="0">
              <a:buNone/>
            </a:pPr>
            <a:r>
              <a:rPr lang="en-US" sz="140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identity is an Enum or governed model; only prose is free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67128"/>
            <a:ext cx="118872" cy="548640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21408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Fail at import  —  </a:t>
            </a:r>
            <a:pPr indent="0" marL="0">
              <a:buNone/>
            </a:pPr>
            <a:r>
              <a:rPr lang="en-US" sz="140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duplicate roles, open handoffs, bad models, typos — all caught at startup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916936"/>
            <a:ext cx="118872" cy="548640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871216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Single source of truth  —  </a:t>
            </a:r>
            <a:pPr indent="0" marL="0">
              <a:buNone/>
            </a:pPr>
            <a:r>
              <a:rPr lang="en-US" sz="140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consumers navigate SYSTEM; none holds a private agent list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666744"/>
            <a:ext cx="118872" cy="548640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621024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DAG and DCG  —  </a:t>
            </a:r>
            <a:pPr indent="0" marL="0">
              <a:buNone/>
            </a:pPr>
            <a:r>
              <a:rPr lang="en-US" sz="140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closure always enforced; acyclicity opt-in; cycles bounded (default 4)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416552"/>
            <a:ext cx="118872" cy="548640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370832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voice  —  </a:t>
            </a:r>
            <a:pPr indent="0" marL="0">
              <a:buNone/>
            </a:pPr>
            <a:r>
              <a:rPr lang="en-US" sz="140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Enum follows the enums.py house style — @unique, @property, derived dicts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5166360"/>
            <a:ext cx="118872" cy="548640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512064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Served, isolated  —  </a:t>
            </a:r>
            <a:pPr indent="0" marL="0">
              <a:buNone/>
            </a:pPr>
            <a:r>
              <a:rPr lang="en-US" sz="1400" dirty="0">
                <a:solidFill>
                  <a:srgbClr val="2C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uvicorn console; agents are their own processes, reached as a client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6355080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segmented eight-lab system, unified — governed, validated, served, and extensible.</a:t>
            </a:r>
            <a:endParaRPr lang="en-US" sz="12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complete module map</a:t>
            </a:r>
            <a:endParaRPr lang="en-US" sz="2700" dirty="0"/>
          </a:p>
        </p:txBody>
      </p:sp>
      <p:graphicFrame>
        <p:nvGraphicFramePr>
          <p:cNvPr id="6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471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291840"/>
                <a:gridCol w="59436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Layer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Module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Role in the assembled system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Foundation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enums · vendors · fqsn · config · orchestrator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primitives (pre-existing)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Governance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agent_framework.py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the 5-framework Enum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Governance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mcp_tools.py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MCP tool/server Enums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Governance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agent_specs.py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frozen, cross-validated specs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Governance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system_registry.py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WORM registry · DAG/DCG · CallPath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Presentation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system_console.py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the Marimo system console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Presentation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console_monitor.py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the focused two-truths monitor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Presentation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console_asgi.py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the uvicorn ASGI entry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6355080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Seven new modules on the existing foundation — the puzzle, complete.</a:t>
            </a:r>
            <a:endParaRPr lang="en-US" sz="12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3B1A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puzzle, assembled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3474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i="1" dirty="0">
                <a:solidFill>
                  <a:srgbClr val="B9A9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Eight segmented labs · five frameworks · one governed, validated, served application.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51206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9A9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— live model round-trip once the credential clears; then run both gate positions, DAG and DCG, end to end.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68</Slides>
  <Notes>68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Peter Heller / Mind Over Metadata LLC</dc:creator>
  <cp:lastModifiedBy>Peter Heller / Mind Over Metadata LLC</cp:lastModifiedBy>
  <cp:revision>1</cp:revision>
  <dcterms:created xsi:type="dcterms:W3CDTF">2026-06-04T00:27:16Z</dcterms:created>
  <dcterms:modified xsi:type="dcterms:W3CDTF">2026-06-04T00:27:16Z</dcterms:modified>
</cp:coreProperties>
</file>