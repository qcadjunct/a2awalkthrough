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Lab 1. We build a Question Answering agent over a health insurance policy PDF using Gemini through LiteLLM, then refactor it. This version of the deck is reordered: right after we contrast the demo with our version, we descend into the actual code as the EVOLUTIONARY justification for why we forked — then resume the lab. Think of the code section as Darwinian-futures: we look into the blackbox to see how each path fares under pressure, and the fitter design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is one function call: hand the model the policy PDF plus a question, get a grounded answer. Everything else builds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Encode the PDF, assemble one message, send to Gemini, get a grounded answer. The whole PDF every time — the simplest correct thing for a small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upstream baseline, verbatim. It works. But the model name is a hardcoded string and config is read ad hoc — two fragilities the evolution section will dissect.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upgrades. The very next question is WHY we forked here — and the answer is not aesthetics, it is evolution under pressure. The next section descends straight into the code to prove it, then we return to the lab. This is the decision point; the evolution block hangs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Darwinian-futures segue, placed exactly at the fork. We do not justify our objects by taste. We justify them the way natural selection justifies a trait: a selection pressure appeared, and the object is the variant that survived it. A mistyped model crashed at runtime — pressure. The Enum that fails at import is the adaptation. A wrong vendor was rejected by the API — pressure. The cascade that rejects it at construction is the adaptation. A down agent hung the chain — pressure. The reentrant chain is the adaptation. The next several slides are that fossil record. They are hyperlinked: each shows the code, links forward to its live fitness test, and links back here so you can resume the lab whenever you like. Look into the futures, see which design survives, then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Adaptation one. The pressure, in the amber tag: a model name as a bare string is valid Python, so a typo survives until the API call. The adaptation, in green: an Enum makes membership the validation — a wrong name fails at import. Note Provider answers who SERVES; vendor ownership comes two slides on. Use the links at the bottom: back to the fork, or forward to the next adaptation.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Adaptation two. Pressure: switching serving backend meant editing every file. Adaptation: litellm_model derives the string from one provider field, so one env var moves the whole system. The validator also catches a missing credential at startup, by name. Links: previous enums, next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Adaptation three. Pressure: parallel handoffs returned with no link to their request. Adaptation: respond copies the request's identity and sets correlation_id to its PAIR_HASH, so a reply is matchable by hash regardless of order. The green live button jumps to the running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fitness test for adaptation three. Real output: the request's BLAKE3 pair hash and the response's correlation id are identical, and verify_correlation returns True. The trait works under load. Back to the code, or forward into the deeper blackbox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Adaptation four, going deeper into the box. Pressure: serving and ownership were the same string, so nothing stopped pairing a vendor with a model it does not own. Adaptation: two separate closed sets — Provider for serving, Vendor for ownership — plus a registry mapping each vendor to its models. That separation is what makes the cascade on the next slide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Adaptation five. Pressure: a wrong vendor-model pair only failed at the API. Adaptation: the cascade validator rejects the pair at construction, and for_model derives the vendor so you cannot mismatch. Live button jumps to the rejection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Fitness test for the cascade. Valid pair constructs; cross-vendor pair raises a ValidationError at construction, naming the valid models. The trait holds. Back to the code, or forward to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Adaptation six. Pressure: configuration was whatever the environment happened to contain, unvalidated and undocumented. Adaptation: one typed Settings object that both documents the contract and enforces it at load. The whole class on one slide is the point — no hidden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Adaptation seven, the locking analogy. Pressure: under the pessimistic model a single down agent aborts everything. Adaptation: a second method, run_serially_reentrant, that proceeds optimistically and resumes on re-entry via the WORM correlation chain. SELECT FOR UPDATE versus version-checked UPDATE. The next slide shows the optimistic path surviving a double outage.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Fitness test for the reentrant chain. Both agents down; the optimistic method does not raise, records NEED_INPUT, and keeps every marker correlated to the request so it can resume later. That closes the evolution block. The forward link resumes the lab where we left off — the provider toggle and the PolicyAgent refactor.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resume the lab having seen the evolutionary justification. The toggle is no longer a bare assertion — you watched it run under BLAKE3 and survive the cascade. One method, one env var, every agent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PolicyAgent loads the PDF once and exposes answer_query. It is transport-agnostic — it has no idea it will become a server, which is what lets Lab 2 wrap it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walked the fossil record, this section steps back to the summary taxonomy: every latent failure and the object that removed it. It is the same argument compressed into a reference table and the path-to-the-future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taxonomy, now including the vendor-cascade row. Every defect class the demo leaves latent, and where each surfaces with and without our objects — always earlier with them. This is robustness restated as evolutionary fitness.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 future. A demo proves one path; our objects make the marginal cost of the next agent flat, because every constraint is defined once and inherited. Flat marginal cost is what a path to the future means in engineering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to the demo: identical on the happy path, which is why we built on it. The difference shows on the bad day, and in the cost to grow. The demo earns the idea; our objects make it survive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Lab 2 takes these evolved objects onto a live Agent-to-Agent server — the executor emits a real WorkspaceResponseObject over uvicorn on 9999, with its own curtain and blackbox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 Target="slide8.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9.xm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10.xml"/><Relationship Id="rId3" Type="http://schemas.openxmlformats.org/officeDocument/2006/relationships/slide" Target="slide10.xml"/><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11.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 Target="slide12.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3.xml"/><Relationship Id="rId3" Type="http://schemas.openxmlformats.org/officeDocument/2006/relationships/slide" Target="slide13.xm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 Target="slide14.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5.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7.xm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C1D95"/>
        </a:solidFill>
      </p:bgPr>
    </p:bg>
    <p:spTree>
      <p:nvGrpSpPr>
        <p:cNvPr id="1" name=""/>
        <p:cNvGrpSpPr/>
        <p:nvPr/>
      </p:nvGrpSpPr>
      <p:grpSpPr>
        <a:xfrm>
          <a:off x="0" y="0"/>
          <a:ext cx="0" cy="0"/>
          <a:chOff x="0" y="0"/>
          <a:chExt cx="0" cy="0"/>
        </a:xfrm>
      </p:grpSpPr>
      <p:sp>
        <p:nvSpPr>
          <p:cNvPr id="2" name="Text 0"/>
          <p:cNvSpPr/>
          <p:nvPr/>
        </p:nvSpPr>
        <p:spPr>
          <a:xfrm>
            <a:off x="731520" y="1280160"/>
            <a:ext cx="10698480" cy="365760"/>
          </a:xfrm>
          <a:prstGeom prst="rect">
            <a:avLst/>
          </a:prstGeom>
          <a:noFill/>
          <a:ln/>
        </p:spPr>
        <p:txBody>
          <a:bodyPr wrap="square" lIns="0" tIns="0" rIns="0" bIns="0" rtlCol="0" anchor="ctr"/>
          <a:lstStyle/>
          <a:p>
            <a:pPr indent="0" marL="0">
              <a:buNone/>
            </a:pPr>
            <a:r>
              <a:rPr lang="en-US" sz="1500" b="1" spc="400" kern="0" dirty="0">
                <a:solidFill>
                  <a:srgbClr val="EDE9FE"/>
                </a:solidFill>
                <a:latin typeface="Calibri" pitchFamily="34" charset="0"/>
                <a:ea typeface="Calibri" pitchFamily="34" charset="-122"/>
                <a:cs typeface="Calibri" pitchFamily="34" charset="-120"/>
              </a:rPr>
              <a:t>LAB 1  ·  A2A WALKTHROUGH</a:t>
            </a:r>
            <a:endParaRPr lang="en-US" sz="1500" dirty="0"/>
          </a:p>
        </p:txBody>
      </p:sp>
      <p:sp>
        <p:nvSpPr>
          <p:cNvPr id="3" name="Text 1"/>
          <p:cNvSpPr/>
          <p:nvPr/>
        </p:nvSpPr>
        <p:spPr>
          <a:xfrm>
            <a:off x="731520" y="1783080"/>
            <a:ext cx="10698480" cy="173736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Georgia" pitchFamily="34" charset="0"/>
                <a:ea typeface="Georgia" pitchFamily="34" charset="-122"/>
                <a:cs typeface="Georgia" pitchFamily="34" charset="-120"/>
              </a:rPr>
              <a:t>Building a Question Answering (QA)</a:t>
            </a:r>
            <a:endParaRPr lang="en-US" sz="3800" dirty="0"/>
          </a:p>
          <a:p>
            <a:pPr indent="0" marL="0">
              <a:lnSpc>
                <a:spcPct val="105000"/>
              </a:lnSpc>
              <a:buNone/>
            </a:pPr>
            <a:r>
              <a:rPr lang="en-US" sz="3800" b="1" dirty="0">
                <a:solidFill>
                  <a:srgbClr val="FFFFFF"/>
                </a:solidFill>
                <a:latin typeface="Georgia" pitchFamily="34" charset="0"/>
                <a:ea typeface="Georgia" pitchFamily="34" charset="-122"/>
                <a:cs typeface="Georgia" pitchFamily="34" charset="-120"/>
              </a:rPr>
              <a:t>Agent with Google Gemini</a:t>
            </a:r>
            <a:endParaRPr lang="en-US" sz="3800" dirty="0"/>
          </a:p>
        </p:txBody>
      </p:sp>
      <p:sp>
        <p:nvSpPr>
          <p:cNvPr id="4" name="Text 2"/>
          <p:cNvSpPr/>
          <p:nvPr/>
        </p:nvSpPr>
        <p:spPr>
          <a:xfrm>
            <a:off x="731520" y="3703320"/>
            <a:ext cx="10698480" cy="457200"/>
          </a:xfrm>
          <a:prstGeom prst="rect">
            <a:avLst/>
          </a:prstGeom>
          <a:noFill/>
          <a:ln/>
        </p:spPr>
        <p:txBody>
          <a:bodyPr wrap="square" lIns="0" tIns="0" rIns="0" bIns="0" rtlCol="0" anchor="ctr"/>
          <a:lstStyle/>
          <a:p>
            <a:pPr indent="0" marL="0">
              <a:buNone/>
            </a:pPr>
            <a:r>
              <a:rPr lang="en-US" sz="1800" i="1" dirty="0">
                <a:solidFill>
                  <a:srgbClr val="EDE9FE"/>
                </a:solidFill>
                <a:latin typeface="Calibri" pitchFamily="34" charset="0"/>
                <a:ea typeface="Calibri" pitchFamily="34" charset="-122"/>
                <a:cs typeface="Calibri" pitchFamily="34" charset="-120"/>
              </a:rPr>
              <a:t>LiteLLM  ·  PolicyAgent class  ·  Pydantic V2 settings</a:t>
            </a:r>
            <a:endParaRPr lang="en-US" sz="1800" dirty="0"/>
          </a:p>
        </p:txBody>
      </p:sp>
      <p:sp>
        <p:nvSpPr>
          <p:cNvPr id="5" name="Shape 3"/>
          <p:cNvSpPr/>
          <p:nvPr/>
        </p:nvSpPr>
        <p:spPr>
          <a:xfrm>
            <a:off x="731520" y="4434840"/>
            <a:ext cx="2743200" cy="45720"/>
          </a:xfrm>
          <a:prstGeom prst="rect">
            <a:avLst/>
          </a:prstGeom>
          <a:solidFill>
            <a:srgbClr val="10B981"/>
          </a:solidFill>
          <a:ln/>
        </p:spPr>
      </p:sp>
      <p:sp>
        <p:nvSpPr>
          <p:cNvPr id="6" name="Text 4"/>
          <p:cNvSpPr/>
          <p:nvPr/>
        </p:nvSpPr>
        <p:spPr>
          <a:xfrm>
            <a:off x="731520" y="6126480"/>
            <a:ext cx="10698480" cy="36576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Peter Heller · Mind Over Metadata LLC · CSCI 381 — AI Tools for the Practitioner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The goal</a:t>
            </a:r>
            <a:endParaRPr lang="en-US" sz="2800" dirty="0"/>
          </a:p>
        </p:txBody>
      </p:sp>
      <p:sp>
        <p:nvSpPr>
          <p:cNvPr id="3" name="Text 1"/>
          <p:cNvSpPr/>
          <p:nvPr/>
        </p:nvSpPr>
        <p:spPr>
          <a:xfrm>
            <a:off x="822960" y="2011680"/>
            <a:ext cx="10515600" cy="2011680"/>
          </a:xfrm>
          <a:prstGeom prst="rect">
            <a:avLst/>
          </a:prstGeom>
          <a:noFill/>
          <a:ln/>
        </p:spPr>
        <p:txBody>
          <a:bodyPr wrap="square" lIns="0" tIns="0" rIns="0" bIns="0" rtlCol="0" anchor="ctr"/>
          <a:lstStyle/>
          <a:p>
            <a:pPr indent="0" marL="0">
              <a:lnSpc>
                <a:spcPct val="105000"/>
              </a:lnSpc>
              <a:buNone/>
            </a:pPr>
            <a:r>
              <a:rPr lang="en-US" sz="4000" b="1" dirty="0">
                <a:solidFill>
                  <a:srgbClr val="7C3AED"/>
                </a:solidFill>
                <a:latin typeface="Georgia" pitchFamily="34" charset="0"/>
                <a:ea typeface="Georgia" pitchFamily="34" charset="-122"/>
                <a:cs typeface="Georgia" pitchFamily="34" charset="-120"/>
              </a:rPr>
              <a:t>Send a PDF + a question to the model, get a grounded answer back.</a:t>
            </a:r>
            <a:endParaRPr lang="en-US" sz="4000" dirty="0"/>
          </a:p>
        </p:txBody>
      </p:sp>
      <p:sp>
        <p:nvSpPr>
          <p:cNvPr id="4" name="Text 2"/>
          <p:cNvSpPr/>
          <p:nvPr/>
        </p:nvSpPr>
        <p:spPr>
          <a:xfrm>
            <a:off x="822960" y="4389120"/>
            <a:ext cx="10515600" cy="109728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No agent framework yet. Just LiteLLM, the policy document, and one well-framed system prompt.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One query, end to end</a:t>
            </a:r>
            <a:endParaRPr lang="en-US" sz="2800" dirty="0"/>
          </a:p>
        </p:txBody>
      </p:sp>
      <p:sp>
        <p:nvSpPr>
          <p:cNvPr id="3" name="Shape 1"/>
          <p:cNvSpPr/>
          <p:nvPr/>
        </p:nvSpPr>
        <p:spPr>
          <a:xfrm>
            <a:off x="822960" y="2286000"/>
            <a:ext cx="2354580" cy="1920240"/>
          </a:xfrm>
          <a:prstGeom prst="roundRect">
            <a:avLst>
              <a:gd name="adj" fmla="val 4762"/>
            </a:avLst>
          </a:prstGeom>
          <a:solidFill>
            <a:srgbClr val="EDE9FE"/>
          </a:solidFill>
          <a:ln/>
          <a:effectLst>
            <a:outerShdw sx="100000" sy="100000" kx="0" ky="0" algn="bl" rotWithShape="0" blurRad="101600" dist="38100" dir="8100000">
              <a:srgbClr val="000000">
                <a:alpha val="18000"/>
              </a:srgbClr>
            </a:outerShdw>
          </a:effectLst>
        </p:spPr>
      </p:sp>
      <p:sp>
        <p:nvSpPr>
          <p:cNvPr id="4" name="Text 2"/>
          <p:cNvSpPr/>
          <p:nvPr/>
        </p:nvSpPr>
        <p:spPr>
          <a:xfrm>
            <a:off x="914400" y="2560320"/>
            <a:ext cx="2171700" cy="640080"/>
          </a:xfrm>
          <a:prstGeom prst="rect">
            <a:avLst/>
          </a:prstGeom>
          <a:noFill/>
          <a:ln/>
        </p:spPr>
        <p:txBody>
          <a:bodyPr wrap="square" lIns="0" tIns="0" rIns="0" bIns="0" rtlCol="0" anchor="ctr"/>
          <a:lstStyle/>
          <a:p>
            <a:pPr algn="ctr" indent="0" marL="0">
              <a:buNone/>
            </a:pPr>
            <a:r>
              <a:rPr lang="en-US" sz="1700" b="1" dirty="0">
                <a:solidFill>
                  <a:srgbClr val="1E1B4B"/>
                </a:solidFill>
                <a:latin typeface="Georgia" pitchFamily="34" charset="0"/>
                <a:ea typeface="Georgia" pitchFamily="34" charset="-122"/>
                <a:cs typeface="Georgia" pitchFamily="34" charset="-120"/>
              </a:rPr>
              <a:t>Encode PDF</a:t>
            </a:r>
            <a:endParaRPr lang="en-US" sz="1700" dirty="0"/>
          </a:p>
        </p:txBody>
      </p:sp>
      <p:sp>
        <p:nvSpPr>
          <p:cNvPr id="5" name="Text 3"/>
          <p:cNvSpPr/>
          <p:nvPr/>
        </p:nvSpPr>
        <p:spPr>
          <a:xfrm>
            <a:off x="932688" y="3200400"/>
            <a:ext cx="2135124" cy="868680"/>
          </a:xfrm>
          <a:prstGeom prst="rect">
            <a:avLst/>
          </a:prstGeom>
          <a:noFill/>
          <a:ln/>
        </p:spPr>
        <p:txBody>
          <a:bodyPr wrap="square" lIns="0" tIns="0" rIns="0" bIns="0" rtlCol="0" anchor="ctr"/>
          <a:lstStyle/>
          <a:p>
            <a:pPr algn="ctr" indent="0" marL="0">
              <a:buNone/>
            </a:pPr>
            <a:r>
              <a:rPr lang="en-US" sz="1200" dirty="0">
                <a:solidFill>
                  <a:srgbClr val="1E1B4B"/>
                </a:solidFill>
                <a:latin typeface="Calibri" pitchFamily="34" charset="0"/>
                <a:ea typeface="Calibri" pitchFamily="34" charset="-122"/>
                <a:cs typeface="Calibri" pitchFamily="34" charset="-120"/>
              </a:rPr>
              <a:t>read file, Base64-encode once</a:t>
            </a:r>
            <a:endParaRPr lang="en-US" sz="1200" dirty="0"/>
          </a:p>
        </p:txBody>
      </p:sp>
      <p:sp>
        <p:nvSpPr>
          <p:cNvPr id="6" name="Text 4"/>
          <p:cNvSpPr/>
          <p:nvPr/>
        </p:nvSpPr>
        <p:spPr>
          <a:xfrm>
            <a:off x="3177540" y="2286000"/>
            <a:ext cx="365760" cy="1920240"/>
          </a:xfrm>
          <a:prstGeom prst="rect">
            <a:avLst/>
          </a:prstGeom>
          <a:noFill/>
          <a:ln/>
        </p:spPr>
        <p:txBody>
          <a:bodyPr wrap="square" lIns="0" tIns="0" rIns="0" bIns="0" rtlCol="0" anchor="ctr"/>
          <a:lstStyle/>
          <a:p>
            <a:pPr algn="ctr" indent="0" marL="0">
              <a:buNone/>
            </a:pPr>
            <a:r>
              <a:rPr lang="en-US" sz="2400" b="1" dirty="0">
                <a:solidFill>
                  <a:srgbClr val="7C3AED"/>
                </a:solidFill>
                <a:latin typeface="Calibri" pitchFamily="34" charset="0"/>
                <a:ea typeface="Calibri" pitchFamily="34" charset="-122"/>
                <a:cs typeface="Calibri" pitchFamily="34" charset="-120"/>
              </a:rPr>
              <a:t>›</a:t>
            </a:r>
            <a:endParaRPr lang="en-US" sz="2400" dirty="0"/>
          </a:p>
        </p:txBody>
      </p:sp>
      <p:sp>
        <p:nvSpPr>
          <p:cNvPr id="7" name="Shape 5"/>
          <p:cNvSpPr/>
          <p:nvPr/>
        </p:nvSpPr>
        <p:spPr>
          <a:xfrm>
            <a:off x="3543300" y="2286000"/>
            <a:ext cx="2354580" cy="1920240"/>
          </a:xfrm>
          <a:prstGeom prst="roundRect">
            <a:avLst>
              <a:gd name="adj" fmla="val 4762"/>
            </a:avLst>
          </a:prstGeom>
          <a:solidFill>
            <a:srgbClr val="7C3AED"/>
          </a:solidFill>
          <a:ln/>
          <a:effectLst>
            <a:outerShdw sx="100000" sy="100000" kx="0" ky="0" algn="bl" rotWithShape="0" blurRad="101600" dist="38100" dir="8100000">
              <a:srgbClr val="000000">
                <a:alpha val="18000"/>
              </a:srgbClr>
            </a:outerShdw>
          </a:effectLst>
        </p:spPr>
      </p:sp>
      <p:sp>
        <p:nvSpPr>
          <p:cNvPr id="8" name="Text 6"/>
          <p:cNvSpPr/>
          <p:nvPr/>
        </p:nvSpPr>
        <p:spPr>
          <a:xfrm>
            <a:off x="3634740" y="2560320"/>
            <a:ext cx="21717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Build message</a:t>
            </a:r>
            <a:endParaRPr lang="en-US" sz="1700" dirty="0"/>
          </a:p>
        </p:txBody>
      </p:sp>
      <p:sp>
        <p:nvSpPr>
          <p:cNvPr id="9" name="Text 7"/>
          <p:cNvSpPr/>
          <p:nvPr/>
        </p:nvSpPr>
        <p:spPr>
          <a:xfrm>
            <a:off x="3653028" y="3200400"/>
            <a:ext cx="2135124" cy="8686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system + text + PDF blocks</a:t>
            </a:r>
            <a:endParaRPr lang="en-US" sz="1200" dirty="0"/>
          </a:p>
        </p:txBody>
      </p:sp>
      <p:sp>
        <p:nvSpPr>
          <p:cNvPr id="10" name="Text 8"/>
          <p:cNvSpPr/>
          <p:nvPr/>
        </p:nvSpPr>
        <p:spPr>
          <a:xfrm>
            <a:off x="5897880" y="2286000"/>
            <a:ext cx="365760" cy="1920240"/>
          </a:xfrm>
          <a:prstGeom prst="rect">
            <a:avLst/>
          </a:prstGeom>
          <a:noFill/>
          <a:ln/>
        </p:spPr>
        <p:txBody>
          <a:bodyPr wrap="square" lIns="0" tIns="0" rIns="0" bIns="0" rtlCol="0" anchor="ctr"/>
          <a:lstStyle/>
          <a:p>
            <a:pPr algn="ctr" indent="0" marL="0">
              <a:buNone/>
            </a:pPr>
            <a:r>
              <a:rPr lang="en-US" sz="2400" b="1" dirty="0">
                <a:solidFill>
                  <a:srgbClr val="7C3AED"/>
                </a:solidFill>
                <a:latin typeface="Calibri" pitchFamily="34" charset="0"/>
                <a:ea typeface="Calibri" pitchFamily="34" charset="-122"/>
                <a:cs typeface="Calibri" pitchFamily="34" charset="-120"/>
              </a:rPr>
              <a:t>›</a:t>
            </a:r>
            <a:endParaRPr lang="en-US" sz="2400" dirty="0"/>
          </a:p>
        </p:txBody>
      </p:sp>
      <p:sp>
        <p:nvSpPr>
          <p:cNvPr id="11" name="Shape 9"/>
          <p:cNvSpPr/>
          <p:nvPr/>
        </p:nvSpPr>
        <p:spPr>
          <a:xfrm>
            <a:off x="6263640" y="2286000"/>
            <a:ext cx="2354580" cy="1920240"/>
          </a:xfrm>
          <a:prstGeom prst="roundRect">
            <a:avLst>
              <a:gd name="adj" fmla="val 4762"/>
            </a:avLst>
          </a:prstGeom>
          <a:solidFill>
            <a:srgbClr val="7C3AED"/>
          </a:solidFill>
          <a:ln/>
          <a:effectLst>
            <a:outerShdw sx="100000" sy="100000" kx="0" ky="0" algn="bl" rotWithShape="0" blurRad="101600" dist="38100" dir="8100000">
              <a:srgbClr val="000000">
                <a:alpha val="18000"/>
              </a:srgbClr>
            </a:outerShdw>
          </a:effectLst>
        </p:spPr>
      </p:sp>
      <p:sp>
        <p:nvSpPr>
          <p:cNvPr id="12" name="Text 10"/>
          <p:cNvSpPr/>
          <p:nvPr/>
        </p:nvSpPr>
        <p:spPr>
          <a:xfrm>
            <a:off x="6355080" y="2560320"/>
            <a:ext cx="21717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litellm.completion</a:t>
            </a:r>
            <a:endParaRPr lang="en-US" sz="1700" dirty="0"/>
          </a:p>
        </p:txBody>
      </p:sp>
      <p:sp>
        <p:nvSpPr>
          <p:cNvPr id="13" name="Text 11"/>
          <p:cNvSpPr/>
          <p:nvPr/>
        </p:nvSpPr>
        <p:spPr>
          <a:xfrm>
            <a:off x="6373368" y="3200400"/>
            <a:ext cx="2135124" cy="8686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Gemini answers</a:t>
            </a:r>
            <a:endParaRPr lang="en-US" sz="1200" dirty="0"/>
          </a:p>
        </p:txBody>
      </p:sp>
      <p:sp>
        <p:nvSpPr>
          <p:cNvPr id="14" name="Text 12"/>
          <p:cNvSpPr/>
          <p:nvPr/>
        </p:nvSpPr>
        <p:spPr>
          <a:xfrm>
            <a:off x="8618220" y="2286000"/>
            <a:ext cx="365760" cy="1920240"/>
          </a:xfrm>
          <a:prstGeom prst="rect">
            <a:avLst/>
          </a:prstGeom>
          <a:noFill/>
          <a:ln/>
        </p:spPr>
        <p:txBody>
          <a:bodyPr wrap="square" lIns="0" tIns="0" rIns="0" bIns="0" rtlCol="0" anchor="ctr"/>
          <a:lstStyle/>
          <a:p>
            <a:pPr algn="ctr" indent="0" marL="0">
              <a:buNone/>
            </a:pPr>
            <a:r>
              <a:rPr lang="en-US" sz="2400" b="1" dirty="0">
                <a:solidFill>
                  <a:srgbClr val="7C3AED"/>
                </a:solidFill>
                <a:latin typeface="Calibri" pitchFamily="34" charset="0"/>
                <a:ea typeface="Calibri" pitchFamily="34" charset="-122"/>
                <a:cs typeface="Calibri" pitchFamily="34" charset="-120"/>
              </a:rPr>
              <a:t>›</a:t>
            </a:r>
            <a:endParaRPr lang="en-US" sz="2400" dirty="0"/>
          </a:p>
        </p:txBody>
      </p:sp>
      <p:sp>
        <p:nvSpPr>
          <p:cNvPr id="15" name="Shape 13"/>
          <p:cNvSpPr/>
          <p:nvPr/>
        </p:nvSpPr>
        <p:spPr>
          <a:xfrm>
            <a:off x="8983980" y="2286000"/>
            <a:ext cx="2354580" cy="1920240"/>
          </a:xfrm>
          <a:prstGeom prst="roundRect">
            <a:avLst>
              <a:gd name="adj" fmla="val 4762"/>
            </a:avLst>
          </a:prstGeom>
          <a:solidFill>
            <a:srgbClr val="10B981"/>
          </a:solidFill>
          <a:ln/>
          <a:effectLst>
            <a:outerShdw sx="100000" sy="100000" kx="0" ky="0" algn="bl" rotWithShape="0" blurRad="101600" dist="38100" dir="8100000">
              <a:srgbClr val="000000">
                <a:alpha val="18000"/>
              </a:srgbClr>
            </a:outerShdw>
          </a:effectLst>
        </p:spPr>
      </p:sp>
      <p:sp>
        <p:nvSpPr>
          <p:cNvPr id="16" name="Text 14"/>
          <p:cNvSpPr/>
          <p:nvPr/>
        </p:nvSpPr>
        <p:spPr>
          <a:xfrm>
            <a:off x="9075420" y="2560320"/>
            <a:ext cx="21717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Answer</a:t>
            </a:r>
            <a:endParaRPr lang="en-US" sz="1700" dirty="0"/>
          </a:p>
        </p:txBody>
      </p:sp>
      <p:sp>
        <p:nvSpPr>
          <p:cNvPr id="17" name="Text 15"/>
          <p:cNvSpPr/>
          <p:nvPr/>
        </p:nvSpPr>
        <p:spPr>
          <a:xfrm>
            <a:off x="9093708" y="3200400"/>
            <a:ext cx="2135124" cy="86868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grounded text out</a:t>
            </a:r>
            <a:endParaRPr lang="en-US" sz="1200" dirty="0"/>
          </a:p>
        </p:txBody>
      </p:sp>
      <p:sp>
        <p:nvSpPr>
          <p:cNvPr id="18" name="Text 16"/>
          <p:cNvSpPr/>
          <p:nvPr/>
        </p:nvSpPr>
        <p:spPr>
          <a:xfrm>
            <a:off x="822960" y="4846320"/>
            <a:ext cx="10515600" cy="914400"/>
          </a:xfrm>
          <a:prstGeom prst="rect">
            <a:avLst/>
          </a:prstGeom>
          <a:noFill/>
          <a:ln/>
        </p:spPr>
        <p:txBody>
          <a:bodyPr wrap="square" lIns="0" tIns="0" rIns="0" bIns="0" rtlCol="0" anchor="ctr"/>
          <a:lstStyle/>
          <a:p>
            <a:pPr indent="0" marL="0">
              <a:buNone/>
            </a:pPr>
            <a:r>
              <a:rPr lang="en-US" sz="1700" i="1" dirty="0">
                <a:solidFill>
                  <a:srgbClr val="6B7280"/>
                </a:solidFill>
                <a:latin typeface="Calibri" pitchFamily="34" charset="0"/>
                <a:ea typeface="Calibri" pitchFamily="34" charset="-122"/>
                <a:cs typeface="Calibri" pitchFamily="34" charset="-120"/>
              </a:rPr>
              <a:t>The whole PDF is sent as context with every query — KISS; correct because the document is small.</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Upstream baseline — the raw call</a:t>
            </a:r>
            <a:endParaRPr lang="en-US" sz="2800" dirty="0"/>
          </a:p>
        </p:txBody>
      </p:sp>
      <p:sp>
        <p:nvSpPr>
          <p:cNvPr id="3" name="Shape 1"/>
          <p:cNvSpPr/>
          <p:nvPr/>
        </p:nvSpPr>
        <p:spPr>
          <a:xfrm>
            <a:off x="822960" y="1645920"/>
            <a:ext cx="10515600" cy="3383280"/>
          </a:xfrm>
          <a:prstGeom prst="roundRect">
            <a:avLst>
              <a:gd name="adj" fmla="val 2703"/>
            </a:avLst>
          </a:prstGeom>
          <a:solidFill>
            <a:srgbClr val="1E1B4B"/>
          </a:solidFill>
          <a:ln/>
          <a:effectLst>
            <a:outerShdw sx="100000" sy="100000" kx="0" ky="0" algn="bl" rotWithShape="0" blurRad="101600" dist="38100" dir="8100000">
              <a:srgbClr val="000000">
                <a:alpha val="18000"/>
              </a:srgbClr>
            </a:outerShdw>
          </a:effectLst>
        </p:spPr>
      </p:sp>
      <p:sp>
        <p:nvSpPr>
          <p:cNvPr id="4" name="Text 2"/>
          <p:cNvSpPr/>
          <p:nvPr/>
        </p:nvSpPr>
        <p:spPr>
          <a:xfrm>
            <a:off x="1097280" y="1874520"/>
            <a:ext cx="9966960" cy="2926080"/>
          </a:xfrm>
          <a:prstGeom prst="rect">
            <a:avLst/>
          </a:prstGeom>
          <a:noFill/>
          <a:ln/>
        </p:spPr>
        <p:txBody>
          <a:bodyPr wrap="square" lIns="0" tIns="0" rIns="0" bIns="0" rtlCol="0" anchor="t"/>
          <a:lstStyle/>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response = litellm.completion(</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model="gemini/gemini-3.1-flash-lite-preview",</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reasoning_effort="minimal",</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max_tokens=1000,</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messages=[</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{"role": "system", "content": "You are an expert insurance agent..."},</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{"role": "user", "content": [</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{"type": "text", "text": prompt},</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{"type": "image_url", "image_url": {</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"url": f"data:application/pdf;base64,{pdf_data}"}},</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a:t>
            </a:r>
            <a:endParaRPr lang="en-US" sz="1400" dirty="0"/>
          </a:p>
        </p:txBody>
      </p:sp>
      <p:sp>
        <p:nvSpPr>
          <p:cNvPr id="5" name="Text 3"/>
          <p:cNvSpPr/>
          <p:nvPr/>
        </p:nvSpPr>
        <p:spPr>
          <a:xfrm>
            <a:off x="822960" y="5212080"/>
            <a:ext cx="10515600" cy="8229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Model name is a hardcoded string; config is read ad hoc. Functional, but brittle.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Baseline vs. how we built it</a:t>
            </a:r>
            <a:endParaRPr lang="en-US" sz="2800" dirty="0"/>
          </a:p>
        </p:txBody>
      </p:sp>
      <p:sp>
        <p:nvSpPr>
          <p:cNvPr id="3" name="Shape 1"/>
          <p:cNvSpPr/>
          <p:nvPr/>
        </p:nvSpPr>
        <p:spPr>
          <a:xfrm>
            <a:off x="822960" y="1737360"/>
            <a:ext cx="5029200" cy="3931920"/>
          </a:xfrm>
          <a:prstGeom prst="roundRect">
            <a:avLst>
              <a:gd name="adj" fmla="val 2791"/>
            </a:avLst>
          </a:prstGeom>
          <a:solidFill>
            <a:srgbClr val="FFFFFF"/>
          </a:solidFill>
          <a:ln w="25400">
            <a:solidFill>
              <a:srgbClr val="F59E0B"/>
            </a:solidFill>
            <a:prstDash val="solid"/>
          </a:ln>
          <a:effectLst>
            <a:outerShdw sx="100000" sy="100000" kx="0" ky="0" algn="bl" rotWithShape="0" blurRad="101600" dist="38100" dir="8100000">
              <a:srgbClr val="000000">
                <a:alpha val="18000"/>
              </a:srgbClr>
            </a:outerShdw>
          </a:effectLst>
        </p:spPr>
      </p:sp>
      <p:sp>
        <p:nvSpPr>
          <p:cNvPr id="4" name="Text 2"/>
          <p:cNvSpPr/>
          <p:nvPr/>
        </p:nvSpPr>
        <p:spPr>
          <a:xfrm>
            <a:off x="1097280" y="1920240"/>
            <a:ext cx="4480560" cy="457200"/>
          </a:xfrm>
          <a:prstGeom prst="rect">
            <a:avLst/>
          </a:prstGeom>
          <a:noFill/>
          <a:ln/>
        </p:spPr>
        <p:txBody>
          <a:bodyPr wrap="square" lIns="0" tIns="0" rIns="0" bIns="0" rtlCol="0" anchor="ctr"/>
          <a:lstStyle/>
          <a:p>
            <a:pPr indent="0" marL="0">
              <a:buNone/>
            </a:pPr>
            <a:r>
              <a:rPr lang="en-US" sz="1900" b="1" dirty="0">
                <a:solidFill>
                  <a:srgbClr val="1E1B4B"/>
                </a:solidFill>
                <a:latin typeface="Georgia" pitchFamily="34" charset="0"/>
                <a:ea typeface="Georgia" pitchFamily="34" charset="-122"/>
                <a:cs typeface="Georgia" pitchFamily="34" charset="-120"/>
              </a:rPr>
              <a:t>Upstream baseline</a:t>
            </a:r>
            <a:endParaRPr lang="en-US" sz="1900" dirty="0"/>
          </a:p>
        </p:txBody>
      </p:sp>
      <p:sp>
        <p:nvSpPr>
          <p:cNvPr id="5" name="Text 3"/>
          <p:cNvSpPr/>
          <p:nvPr/>
        </p:nvSpPr>
        <p:spPr>
          <a:xfrm>
            <a:off x="1097280" y="2468880"/>
            <a:ext cx="4480560" cy="301752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Hardcoded model string 'gemini/...'</a:t>
            </a:r>
            <a:endParaRPr lang="en-US" sz="1500" dirty="0"/>
          </a:p>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helpers.setup_env(): bare load_dotenv</a:t>
            </a:r>
            <a:endParaRPr lang="en-US" sz="1500" dirty="0"/>
          </a:p>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Config read with os.getenv</a:t>
            </a:r>
            <a:endParaRPr lang="en-US" sz="1500" dirty="0"/>
          </a:p>
          <a:p>
            <a:pPr marL="342900" indent="-342900">
              <a:spcAft>
                <a:spcPts val="1200"/>
              </a:spcAft>
              <a:buSzPct val="100000"/>
              <a:buChar char="•"/>
            </a:pPr>
            <a:r>
              <a:rPr lang="en-US" sz="1500" dirty="0">
                <a:solidFill>
                  <a:srgbClr val="1E1B4B"/>
                </a:solidFill>
                <a:latin typeface="Calibri" pitchFamily="34" charset="0"/>
                <a:ea typeface="Calibri" pitchFamily="34" charset="-122"/>
                <a:cs typeface="Calibri" pitchFamily="34" charset="-120"/>
              </a:rPr>
              <a:t>Logic inline in the notebook</a:t>
            </a:r>
            <a:endParaRPr lang="en-US" sz="1500" dirty="0"/>
          </a:p>
        </p:txBody>
      </p:sp>
      <p:sp>
        <p:nvSpPr>
          <p:cNvPr id="6" name="Shape 4"/>
          <p:cNvSpPr/>
          <p:nvPr/>
        </p:nvSpPr>
        <p:spPr>
          <a:xfrm>
            <a:off x="6309360" y="1737360"/>
            <a:ext cx="5029200" cy="3931920"/>
          </a:xfrm>
          <a:prstGeom prst="roundRect">
            <a:avLst>
              <a:gd name="adj" fmla="val 2791"/>
            </a:avLst>
          </a:prstGeom>
          <a:solidFill>
            <a:srgbClr val="4C1D95"/>
          </a:solidFill>
          <a:ln/>
          <a:effectLst>
            <a:outerShdw sx="100000" sy="100000" kx="0" ky="0" algn="bl" rotWithShape="0" blurRad="101600" dist="38100" dir="8100000">
              <a:srgbClr val="000000">
                <a:alpha val="18000"/>
              </a:srgbClr>
            </a:outerShdw>
          </a:effectLst>
        </p:spPr>
      </p:sp>
      <p:sp>
        <p:nvSpPr>
          <p:cNvPr id="7" name="Text 5"/>
          <p:cNvSpPr/>
          <p:nvPr/>
        </p:nvSpPr>
        <p:spPr>
          <a:xfrm>
            <a:off x="6583680" y="1920240"/>
            <a:ext cx="4480560"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How we built it</a:t>
            </a:r>
            <a:endParaRPr lang="en-US" sz="1900" dirty="0"/>
          </a:p>
        </p:txBody>
      </p:sp>
      <p:sp>
        <p:nvSpPr>
          <p:cNvPr id="8" name="Text 6"/>
          <p:cNvSpPr/>
          <p:nvPr/>
        </p:nvSpPr>
        <p:spPr>
          <a:xfrm>
            <a:off x="6583680" y="2468880"/>
            <a:ext cx="4480560" cy="301752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Model Enum -&gt; no typos, autocomplete</a:t>
            </a:r>
            <a:endParaRPr lang="en-US" sz="1500" dirty="0"/>
          </a:p>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Pydantic V2 Settings, validated</a:t>
            </a:r>
            <a:endParaRPr lang="en-US" sz="1500" dirty="0"/>
          </a:p>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settings.litellm_model(Model.FLASH_LITE)</a:t>
            </a:r>
            <a:endParaRPr lang="en-US" sz="1500" dirty="0"/>
          </a:p>
          <a:p>
            <a:pPr marL="342900" indent="-342900">
              <a:spcAft>
                <a:spcPts val="1200"/>
              </a:spcAft>
              <a:buSzPct val="100000"/>
              <a:buChar char="✓"/>
            </a:pPr>
            <a:r>
              <a:rPr lang="en-US" sz="1500" dirty="0">
                <a:solidFill>
                  <a:srgbClr val="EDE9FE"/>
                </a:solidFill>
                <a:latin typeface="Calibri" pitchFamily="34" charset="0"/>
                <a:ea typeface="Calibri" pitchFamily="34" charset="-122"/>
                <a:cs typeface="Calibri" pitchFamily="34" charset="-120"/>
              </a:rPr>
              <a:t>PolicyAgent class, importable + testable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C1D95"/>
        </a:solidFill>
      </p:bgPr>
    </p:bg>
    <p:spTree>
      <p:nvGrpSpPr>
        <p:cNvPr id="1" name=""/>
        <p:cNvGrpSpPr/>
        <p:nvPr/>
      </p:nvGrpSpPr>
      <p:grpSpPr>
        <a:xfrm>
          <a:off x="0" y="0"/>
          <a:ext cx="0" cy="0"/>
          <a:chOff x="0" y="0"/>
          <a:chExt cx="0" cy="0"/>
        </a:xfrm>
      </p:grpSpPr>
      <p:sp>
        <p:nvSpPr>
          <p:cNvPr id="2" name="Text 0"/>
          <p:cNvSpPr/>
          <p:nvPr/>
        </p:nvSpPr>
        <p:spPr>
          <a:xfrm>
            <a:off x="731520" y="1371600"/>
            <a:ext cx="2743200" cy="2011680"/>
          </a:xfrm>
          <a:prstGeom prst="rect">
            <a:avLst/>
          </a:prstGeom>
          <a:noFill/>
          <a:ln/>
        </p:spPr>
        <p:txBody>
          <a:bodyPr wrap="square" lIns="0" tIns="0" rIns="0" bIns="0" rtlCol="0" anchor="ctr"/>
          <a:lstStyle/>
          <a:p>
            <a:pPr indent="0" marL="0">
              <a:buNone/>
            </a:pPr>
            <a:r>
              <a:rPr lang="en-US" sz="13000" b="1" dirty="0">
                <a:solidFill>
                  <a:srgbClr val="7C3AED"/>
                </a:solidFill>
                <a:latin typeface="Georgia" pitchFamily="34" charset="0"/>
                <a:ea typeface="Georgia" pitchFamily="34" charset="-122"/>
                <a:cs typeface="Georgia" pitchFamily="34" charset="-120"/>
              </a:rPr>
              <a:t>→</a:t>
            </a:r>
            <a:endParaRPr lang="en-US" sz="13000" dirty="0"/>
          </a:p>
        </p:txBody>
      </p:sp>
      <p:sp>
        <p:nvSpPr>
          <p:cNvPr id="3" name="Text 1"/>
          <p:cNvSpPr/>
          <p:nvPr/>
        </p:nvSpPr>
        <p:spPr>
          <a:xfrm>
            <a:off x="777240" y="3383280"/>
            <a:ext cx="10607040" cy="14630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Georgia" pitchFamily="34" charset="0"/>
                <a:ea typeface="Georgia" pitchFamily="34" charset="-122"/>
                <a:cs typeface="Georgia" pitchFamily="34" charset="-120"/>
              </a:rPr>
              <a:t>Why we forked here — evolution under pressure</a:t>
            </a:r>
            <a:endParaRPr lang="en-US" sz="4000" dirty="0"/>
          </a:p>
        </p:txBody>
      </p:sp>
      <p:sp>
        <p:nvSpPr>
          <p:cNvPr id="4" name="Text 2"/>
          <p:cNvSpPr/>
          <p:nvPr/>
        </p:nvSpPr>
        <p:spPr>
          <a:xfrm>
            <a:off x="822960" y="4937760"/>
            <a:ext cx="10515600" cy="822960"/>
          </a:xfrm>
          <a:prstGeom prst="rect">
            <a:avLst/>
          </a:prstGeom>
          <a:noFill/>
          <a:ln/>
        </p:spPr>
        <p:txBody>
          <a:bodyPr wrap="square" lIns="0" tIns="0" rIns="0" bIns="0" rtlCol="0" anchor="ctr"/>
          <a:lstStyle/>
          <a:p>
            <a:pPr indent="0" marL="0">
              <a:buNone/>
            </a:pPr>
            <a:r>
              <a:rPr lang="en-US" sz="1800" i="1" dirty="0">
                <a:solidFill>
                  <a:srgbClr val="EDE9FE"/>
                </a:solidFill>
                <a:latin typeface="Calibri" pitchFamily="34" charset="0"/>
                <a:ea typeface="Calibri" pitchFamily="34" charset="-122"/>
                <a:cs typeface="Calibri" pitchFamily="34" charset="-120"/>
              </a:rPr>
              <a:t>Before resuming the lab: look into the blackbox. Each object is an adaptation selected by a real failure pressure. Follow the links, then come back.</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lIns="0" tIns="0" rIns="0" bIns="0" rtlCol="0" anchor="ctr"/>
          <a:lstStyle/>
          <a:p>
            <a:pPr indent="0" marL="0">
              <a:buNone/>
            </a:pPr>
            <a:r>
              <a:rPr lang="en-US" sz="2400" b="1" dirty="0">
                <a:solidFill>
                  <a:srgbClr val="1E1B4B"/>
                </a:solidFill>
                <a:latin typeface="Georgia" pitchFamily="34" charset="0"/>
                <a:ea typeface="Georgia" pitchFamily="34" charset="-122"/>
                <a:cs typeface="Georgia" pitchFamily="34" charset="-120"/>
              </a:rPr>
              <a:t>Adaptation 1 — the closed set (enums.py)</a:t>
            </a:r>
            <a:endParaRPr lang="en-US" sz="2400" dirty="0"/>
          </a:p>
        </p:txBody>
      </p:sp>
      <p:sp>
        <p:nvSpPr>
          <p:cNvPr id="3" name="Shape 1"/>
          <p:cNvSpPr/>
          <p:nvPr/>
        </p:nvSpPr>
        <p:spPr>
          <a:xfrm>
            <a:off x="548640" y="1280160"/>
            <a:ext cx="3840480" cy="384048"/>
          </a:xfrm>
          <a:prstGeom prst="roundRect">
            <a:avLst>
              <a:gd name="adj" fmla="val 14286"/>
            </a:avLst>
          </a:prstGeom>
          <a:solidFill>
            <a:srgbClr val="7C3AED"/>
          </a:solidFill>
          <a:ln/>
        </p:spPr>
      </p:sp>
      <p:sp>
        <p:nvSpPr>
          <p:cNvPr id="4" name="Text 2"/>
          <p:cNvSpPr/>
          <p:nvPr/>
        </p:nvSpPr>
        <p:spPr>
          <a:xfrm>
            <a:off x="685800" y="1280160"/>
            <a:ext cx="3657600" cy="384048"/>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a2a_labs/enums.py</a:t>
            </a:r>
            <a:endParaRPr lang="en-US" sz="1200" dirty="0"/>
          </a:p>
        </p:txBody>
      </p:sp>
      <p:sp>
        <p:nvSpPr>
          <p:cNvPr id="5" name="Text 3"/>
          <p:cNvSpPr/>
          <p:nvPr/>
        </p:nvSpPr>
        <p:spPr>
          <a:xfrm>
            <a:off x="548640" y="932688"/>
            <a:ext cx="11064240" cy="365760"/>
          </a:xfrm>
          <a:prstGeom prst="rect">
            <a:avLst/>
          </a:prstGeom>
          <a:noFill/>
          <a:ln/>
        </p:spPr>
        <p:txBody>
          <a:bodyPr wrap="square" lIns="0" tIns="0" rIns="0" bIns="0" rtlCol="0" anchor="ctr"/>
          <a:lstStyle/>
          <a:p>
            <a:pPr indent="0" marL="0">
              <a:buNone/>
            </a:pPr>
            <a:r>
              <a:rPr lang="en-US" sz="1250" b="1" i="1" dirty="0">
                <a:solidFill>
                  <a:srgbClr val="F59E0B"/>
                </a:solidFill>
                <a:latin typeface="Calibri" pitchFamily="34" charset="0"/>
                <a:ea typeface="Calibri" pitchFamily="34" charset="-122"/>
                <a:cs typeface="Calibri" pitchFamily="34" charset="-120"/>
              </a:rPr>
              <a:t>PRESSURE  </a:t>
            </a:r>
            <a:pPr indent="0" marL="0">
              <a:buNone/>
            </a:pPr>
            <a:r>
              <a:rPr lang="en-US" sz="1250" i="1" dirty="0">
                <a:solidFill>
                  <a:srgbClr val="6B7280"/>
                </a:solidFill>
                <a:latin typeface="Calibri" pitchFamily="34" charset="0"/>
                <a:ea typeface="Calibri" pitchFamily="34" charset="-122"/>
                <a:cs typeface="Calibri" pitchFamily="34" charset="-120"/>
              </a:rPr>
              <a:t>a mistyped value is a valid str; a hand-rolled shim is non-standard      </a:t>
            </a:r>
            <a:pPr indent="0" marL="0">
              <a:buNone/>
            </a:pPr>
            <a:r>
              <a:rPr lang="en-US" sz="1250" b="1" i="1" dirty="0">
                <a:solidFill>
                  <a:srgbClr val="10B981"/>
                </a:solidFill>
                <a:latin typeface="Calibri" pitchFamily="34" charset="0"/>
                <a:ea typeface="Calibri" pitchFamily="34" charset="-122"/>
                <a:cs typeface="Calibri" pitchFamily="34" charset="-120"/>
              </a:rPr>
              <a:t>ADAPTATION  </a:t>
            </a:r>
            <a:pPr indent="0" marL="0">
              <a:buNone/>
            </a:pPr>
            <a:r>
              <a:rPr lang="en-US" sz="1250" i="1" dirty="0">
                <a:solidFill>
                  <a:srgbClr val="6B7280"/>
                </a:solidFill>
                <a:latin typeface="Calibri" pitchFamily="34" charset="0"/>
                <a:ea typeface="Calibri" pitchFamily="34" charset="-122"/>
                <a:cs typeface="Calibri" pitchFamily="34" charset="-120"/>
              </a:rPr>
              <a:t>stdlib StrEnum + @unique/@verify; each Enum owns its derived facts</a:t>
            </a:r>
            <a:endParaRPr lang="en-US" sz="1250" dirty="0"/>
          </a:p>
        </p:txBody>
      </p:sp>
      <p:sp>
        <p:nvSpPr>
          <p:cNvPr id="6" name="Shape 4"/>
          <p:cNvSpPr/>
          <p:nvPr/>
        </p:nvSpPr>
        <p:spPr>
          <a:xfrm>
            <a:off x="548640" y="1664208"/>
            <a:ext cx="11064240" cy="4279392"/>
          </a:xfrm>
          <a:prstGeom prst="rect">
            <a:avLst/>
          </a:prstGeom>
          <a:solidFill>
            <a:srgbClr val="1E1B4B"/>
          </a:solidFill>
          <a:ln/>
          <a:effectLst>
            <a:outerShdw sx="100000" sy="100000" kx="0" ky="0" algn="bl" rotWithShape="0" blurRad="101600" dist="38100" dir="8100000">
              <a:srgbClr val="000000">
                <a:alpha val="20000"/>
              </a:srgbClr>
            </a:outerShdw>
          </a:effectLst>
        </p:spPr>
      </p:sp>
      <p:sp>
        <p:nvSpPr>
          <p:cNvPr id="7" name="Shape 5"/>
          <p:cNvSpPr/>
          <p:nvPr/>
        </p:nvSpPr>
        <p:spPr>
          <a:xfrm>
            <a:off x="548640" y="1664208"/>
            <a:ext cx="502920" cy="4279392"/>
          </a:xfrm>
          <a:prstGeom prst="rect">
            <a:avLst/>
          </a:prstGeom>
          <a:solidFill>
            <a:srgbClr val="151238"/>
          </a:solidFill>
          <a:ln/>
        </p:spPr>
      </p:sp>
      <p:sp>
        <p:nvSpPr>
          <p:cNvPr id="8" name="Text 6"/>
          <p:cNvSpPr/>
          <p:nvPr/>
        </p:nvSpPr>
        <p:spPr>
          <a:xfrm>
            <a:off x="566928" y="1773936"/>
            <a:ext cx="457200" cy="4096512"/>
          </a:xfrm>
          <a:prstGeom prst="rect">
            <a:avLst/>
          </a:prstGeom>
          <a:noFill/>
          <a:ln/>
        </p:spPr>
        <p:txBody>
          <a:bodyPr wrap="square" lIns="0" tIns="0" rIns="0" bIns="0" rtlCol="0" anchor="t"/>
          <a:lstStyle/>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1</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2</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3</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4</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5</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6</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7</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8</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9</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10</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11</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12</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13</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14</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15</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16</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17</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18</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19</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20</a:t>
            </a:r>
            <a:endParaRPr lang="en-US" sz="1150" dirty="0"/>
          </a:p>
        </p:txBody>
      </p:sp>
      <p:sp>
        <p:nvSpPr>
          <p:cNvPr id="9" name="Text 7"/>
          <p:cNvSpPr/>
          <p:nvPr/>
        </p:nvSpPr>
        <p:spPr>
          <a:xfrm>
            <a:off x="1170432" y="1773936"/>
            <a:ext cx="10332720" cy="4096512"/>
          </a:xfrm>
          <a:prstGeom prst="rect">
            <a:avLst/>
          </a:prstGeom>
          <a:noFill/>
          <a:ln/>
        </p:spPr>
        <p:txBody>
          <a:bodyPr wrap="square" lIns="0" tIns="0" rIns="0" bIns="0" rtlCol="0" anchor="t"/>
          <a:lstStyle/>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from enum import StrEnum, IntEnum, unique, verify, UNIQUE</a:t>
            </a:r>
            <a:endParaRPr lang="en-US" sz="1150" dirty="0"/>
          </a:p>
          <a:p>
            <a:pPr indent="0" marL="0">
              <a:lnSpc>
                <a:spcPct val="112000"/>
              </a:lnSpc>
              <a:buNone/>
            </a:pP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DEFAULT_HOST = "localhost"  # one source; referenced, never re-typed</a:t>
            </a:r>
            <a:endParaRPr lang="en-US" sz="1150" dirty="0"/>
          </a:p>
          <a:p>
            <a:pPr indent="0" marL="0">
              <a:lnSpc>
                <a:spcPct val="112000"/>
              </a:lnSpc>
              <a:buNone/>
            </a:pP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@verify(UNIQUE)              # duplicate port -&gt; error at import</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class AgentPort(IntEnum):</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POLICY = 9999; RESEARCH = 9998</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PROVIDER = 9997; HEALTHCARE = 9996</a:t>
            </a:r>
            <a:endParaRPr lang="en-US" sz="1150" dirty="0"/>
          </a:p>
          <a:p>
            <a:pPr indent="0" marL="0">
              <a:lnSpc>
                <a:spcPct val="112000"/>
              </a:lnSpc>
              <a:buNone/>
            </a:pP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@unique                     # no two members share a value</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class AgentRole(StrEnum):</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POLICY = "policy"; RESEARCH = "research"</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PROVIDER = "provider"; HEALTHCARE = "healthcare"</a:t>
            </a:r>
            <a:endParaRPr lang="en-US" sz="1150" dirty="0"/>
          </a:p>
          <a:p>
            <a:pPr indent="0" marL="0">
              <a:lnSpc>
                <a:spcPct val="112000"/>
              </a:lnSpc>
              <a:buNone/>
            </a:pP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@property               # the role OWNS its port (SRP)</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def port(self) -&gt; AgentPort:</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return AgentPort[self.name]</a:t>
            </a:r>
            <a:endParaRPr lang="en-US" sz="1150" dirty="0"/>
          </a:p>
          <a:p>
            <a:pPr indent="0" marL="0">
              <a:lnSpc>
                <a:spcPct val="112000"/>
              </a:lnSpc>
              <a:buNone/>
            </a:pP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def default_url(self, host=DEFAULT_HOST) -&gt; str:</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return f"http://{host}:{int(self.port)}/"</a:t>
            </a:r>
            <a:endParaRPr lang="en-US" sz="1150" dirty="0"/>
          </a:p>
        </p:txBody>
      </p:sp>
      <p:sp>
        <p:nvSpPr>
          <p:cNvPr id="10" name="Text 8"/>
          <p:cNvSpPr/>
          <p:nvPr/>
        </p:nvSpPr>
        <p:spPr>
          <a:xfrm>
            <a:off x="548640" y="5943600"/>
            <a:ext cx="11064240" cy="45720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Pressure: strings + a non-standard shim. Adaptation: stdlib StrEnum, @unique/@verify, each Enum owns its facts, one DEFAULT_HOST constant.</a:t>
            </a:r>
            <a:endParaRPr lang="en-US" sz="1300" dirty="0"/>
          </a:p>
        </p:txBody>
      </p:sp>
      <p:sp>
        <p:nvSpPr>
          <p:cNvPr id="11" name="Text 9">
            <a:hlinkClick r:id="rId1" tooltip="Back to the fork" action="ppaction://hlinksldjump"/>
          </p:cNvPr>
          <p:cNvSpPr/>
          <p:nvPr/>
        </p:nvSpPr>
        <p:spPr>
          <a:xfrm>
            <a:off x="548640" y="6446520"/>
            <a:ext cx="3291840" cy="329184"/>
          </a:xfrm>
          <a:prstGeom prst="rect">
            <a:avLst/>
          </a:prstGeom>
          <a:noFill/>
          <a:ln/>
        </p:spPr>
        <p:txBody>
          <a:bodyPr wrap="square" lIns="0" tIns="0" rIns="0" bIns="0" rtlCol="0" anchor="ctr"/>
          <a:lstStyle/>
          <a:p>
            <a:pPr algn="l" indent="0" marL="0">
              <a:buNone/>
            </a:pPr>
            <a:r>
              <a:rPr lang="en-US" sz="1200" b="1" u="sng" dirty="0">
                <a:solidFill>
                  <a:srgbClr val="6B7280"/>
                </a:solidFill>
                <a:latin typeface="Calibri" pitchFamily="34" charset="0"/>
                <a:ea typeface="Calibri" pitchFamily="34" charset="-122"/>
                <a:cs typeface="Calibri" pitchFamily="34" charset="-120"/>
                <a:hlinkClick r:id="rId1" action="ppaction://hlinksldjump" tooltip="Back to the fork">
                  <a:extLst>
                    <a:ext uri="{A12FA001-AC4F-418D-AE19-62706E023703}">
                      <ahyp:hlinkClr xmlns:ahyp="http://schemas.microsoft.com/office/drawing/2018/hyperlinkcolor" val="tx"/>
                    </a:ext>
                  </a:extLst>
                </a:hlinkClick>
              </a:rPr>
              <a:t>◀  Back to the fork</a:t>
            </a:r>
            <a:endParaRPr lang="en-US" sz="1200" dirty="0"/>
          </a:p>
        </p:txBody>
      </p:sp>
      <p:sp>
        <p:nvSpPr>
          <p:cNvPr id="12" name="Text 10">
            <a:hlinkClick r:id="rId2" tooltip="Next adaptation: config" action="ppaction://hlinksldjump"/>
          </p:cNvPr>
          <p:cNvSpPr/>
          <p:nvPr/>
        </p:nvSpPr>
        <p:spPr>
          <a:xfrm>
            <a:off x="8321040" y="6446520"/>
            <a:ext cx="3291840" cy="329184"/>
          </a:xfrm>
          <a:prstGeom prst="rect">
            <a:avLst/>
          </a:prstGeom>
          <a:noFill/>
          <a:ln/>
        </p:spPr>
        <p:txBody>
          <a:bodyPr wrap="square" lIns="0" tIns="0" rIns="0" bIns="0" rtlCol="0" anchor="ctr"/>
          <a:lstStyle/>
          <a:p>
            <a:pPr algn="r" indent="0" marL="0">
              <a:buNone/>
            </a:pPr>
            <a:r>
              <a:rPr lang="en-US" sz="1200" b="1" u="sng" dirty="0">
                <a:solidFill>
                  <a:srgbClr val="7C3AED"/>
                </a:solidFill>
                <a:latin typeface="Calibri" pitchFamily="34" charset="0"/>
                <a:ea typeface="Calibri" pitchFamily="34" charset="-122"/>
                <a:cs typeface="Calibri" pitchFamily="34" charset="-120"/>
                <a:hlinkClick r:id="rId2" action="ppaction://hlinksldjump" tooltip="Next adaptation: config">
                  <a:extLst>
                    <a:ext uri="{A12FA001-AC4F-418D-AE19-62706E023703}">
                      <ahyp:hlinkClr xmlns:ahyp="http://schemas.microsoft.com/office/drawing/2018/hyperlinkcolor" val="tx"/>
                    </a:ext>
                  </a:extLst>
                </a:hlinkClick>
              </a:rPr>
              <a:t>Next adaptation: config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lIns="0" tIns="0" rIns="0" bIns="0" rtlCol="0" anchor="ctr"/>
          <a:lstStyle/>
          <a:p>
            <a:pPr indent="0" marL="0">
              <a:buNone/>
            </a:pPr>
            <a:r>
              <a:rPr lang="en-US" sz="2300" b="1" dirty="0">
                <a:solidFill>
                  <a:srgbClr val="1E1B4B"/>
                </a:solidFill>
                <a:latin typeface="Georgia" pitchFamily="34" charset="0"/>
                <a:ea typeface="Georgia" pitchFamily="34" charset="-122"/>
                <a:cs typeface="Georgia" pitchFamily="34" charset="-120"/>
              </a:rPr>
              <a:t>Adaptation 2 — the provider toggle (config.py)</a:t>
            </a:r>
            <a:endParaRPr lang="en-US" sz="23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indent="0" marL="0">
              <a:buNone/>
            </a:pPr>
            <a:r>
              <a:rPr lang="en-US" sz="1250" b="1" i="1" dirty="0">
                <a:solidFill>
                  <a:srgbClr val="F59E0B"/>
                </a:solidFill>
                <a:latin typeface="Calibri" pitchFamily="34" charset="0"/>
                <a:ea typeface="Calibri" pitchFamily="34" charset="-122"/>
                <a:cs typeface="Calibri" pitchFamily="34" charset="-120"/>
              </a:rPr>
              <a:t>PRESSURE  </a:t>
            </a:r>
            <a:pPr indent="0" marL="0">
              <a:buNone/>
            </a:pPr>
            <a:r>
              <a:rPr lang="en-US" sz="1250" i="1" dirty="0">
                <a:solidFill>
                  <a:srgbClr val="6B7280"/>
                </a:solidFill>
                <a:latin typeface="Calibri" pitchFamily="34" charset="0"/>
                <a:ea typeface="Calibri" pitchFamily="34" charset="-122"/>
                <a:cs typeface="Calibri" pitchFamily="34" charset="-120"/>
              </a:rPr>
              <a:t>Settings did 3 jobs: select, validate, AND compose strings      </a:t>
            </a:r>
            <a:pPr indent="0" marL="0">
              <a:buNone/>
            </a:pPr>
            <a:r>
              <a:rPr lang="en-US" sz="1250" b="1" i="1" dirty="0">
                <a:solidFill>
                  <a:srgbClr val="10B981"/>
                </a:solidFill>
                <a:latin typeface="Calibri" pitchFamily="34" charset="0"/>
                <a:ea typeface="Calibri" pitchFamily="34" charset="-122"/>
                <a:cs typeface="Calibri" pitchFamily="34" charset="-120"/>
              </a:rPr>
              <a:t>ADAPTATION  </a:t>
            </a:r>
            <a:pPr indent="0" marL="0">
              <a:buNone/>
            </a:pPr>
            <a:r>
              <a:rPr lang="en-US" sz="1250" i="1" dirty="0">
                <a:solidFill>
                  <a:srgbClr val="6B7280"/>
                </a:solidFill>
                <a:latin typeface="Calibri" pitchFamily="34" charset="0"/>
                <a:ea typeface="Calibri" pitchFamily="34" charset="-122"/>
                <a:cs typeface="Calibri" pitchFamily="34" charset="-120"/>
              </a:rPr>
              <a:t>Settings holds config; the Enums own composition</a:t>
            </a:r>
            <a:endParaRPr lang="en-US" sz="1250" dirty="0"/>
          </a:p>
        </p:txBody>
      </p:sp>
      <p:sp>
        <p:nvSpPr>
          <p:cNvPr id="4" name="Shape 2"/>
          <p:cNvSpPr/>
          <p:nvPr/>
        </p:nvSpPr>
        <p:spPr>
          <a:xfrm>
            <a:off x="548640" y="1417320"/>
            <a:ext cx="3291840" cy="365760"/>
          </a:xfrm>
          <a:prstGeom prst="roundRect">
            <a:avLst>
              <a:gd name="adj" fmla="val 15000"/>
            </a:avLst>
          </a:prstGeom>
          <a:solidFill>
            <a:srgbClr val="7C3AED"/>
          </a:solidFill>
          <a:ln/>
        </p:spPr>
      </p:sp>
      <p:sp>
        <p:nvSpPr>
          <p:cNvPr id="5" name="Text 3"/>
          <p:cNvSpPr/>
          <p:nvPr/>
        </p:nvSpPr>
        <p:spPr>
          <a:xfrm>
            <a:off x="658368" y="1417320"/>
            <a:ext cx="3108960" cy="365760"/>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a2a_labs/config.py</a:t>
            </a:r>
            <a:endParaRPr lang="en-US" sz="1100" dirty="0"/>
          </a:p>
        </p:txBody>
      </p:sp>
      <p:sp>
        <p:nvSpPr>
          <p:cNvPr id="6" name="Shape 4"/>
          <p:cNvSpPr/>
          <p:nvPr/>
        </p:nvSpPr>
        <p:spPr>
          <a:xfrm>
            <a:off x="548640" y="1783080"/>
            <a:ext cx="6858000" cy="4617720"/>
          </a:xfrm>
          <a:prstGeom prst="rect">
            <a:avLst/>
          </a:prstGeom>
          <a:solidFill>
            <a:srgbClr val="1E1B4B"/>
          </a:solidFill>
          <a:ln/>
          <a:effectLst>
            <a:outerShdw sx="100000" sy="100000" kx="0" ky="0" algn="bl" rotWithShape="0" blurRad="101600" dist="38100" dir="8100000">
              <a:srgbClr val="000000">
                <a:alpha val="20000"/>
              </a:srgbClr>
            </a:outerShdw>
          </a:effectLst>
        </p:spPr>
      </p:sp>
      <p:sp>
        <p:nvSpPr>
          <p:cNvPr id="7" name="Text 5"/>
          <p:cNvSpPr/>
          <p:nvPr/>
        </p:nvSpPr>
        <p:spPr>
          <a:xfrm>
            <a:off x="749808" y="1892808"/>
            <a:ext cx="6492240" cy="4434840"/>
          </a:xfrm>
          <a:prstGeom prst="rect">
            <a:avLst/>
          </a:prstGeom>
          <a:noFill/>
          <a:ln/>
        </p:spPr>
        <p:txBody>
          <a:bodyPr wrap="square" lIns="0" tIns="0" rIns="0" bIns="0" rtlCol="0" anchor="t"/>
          <a:lstStyle/>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class Settings(BaseSettings):</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provider: Provider = Field(</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default=Provider.GEMINI)</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agent_host: str = DEFAULT_HOST   # named constant, not a literal</a:t>
            </a:r>
            <a:endParaRPr lang="en-US" sz="1100" dirty="0"/>
          </a:p>
          <a:p>
            <a:pPr indent="0" marL="0">
              <a:lnSpc>
                <a:spcPct val="112000"/>
              </a:lnSpc>
              <a:buNone/>
            </a:pP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@model_validator(mode="after")</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def _check_credentials(self):</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if (self.provider is Provider.GEMINI</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and not self.gemini_api_key):</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warnings.warn("key unset")</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return self</a:t>
            </a:r>
            <a:endParaRPr lang="en-US" sz="1100" dirty="0"/>
          </a:p>
          <a:p>
            <a:pPr indent="0" marL="0">
              <a:lnSpc>
                <a:spcPct val="112000"/>
              </a:lnSpc>
              <a:buNone/>
            </a:pP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 delegate composition to the Enums (SRP):</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def litellm_model(self, m: VendorModel) -&gt; str:</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return self.provider.prefix(m.bare_name)</a:t>
            </a:r>
            <a:endParaRPr lang="en-US" sz="1100" dirty="0"/>
          </a:p>
          <a:p>
            <a:pPr indent="0" marL="0">
              <a:lnSpc>
                <a:spcPct val="112000"/>
              </a:lnSpc>
              <a:buNone/>
            </a:pP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def url_for(self, role: AgentRole) -&gt; str:</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return role.default_url(self.agent_host)</a:t>
            </a:r>
            <a:endParaRPr lang="en-US" sz="1100" dirty="0"/>
          </a:p>
          <a:p>
            <a:pPr indent="0" marL="0">
              <a:lnSpc>
                <a:spcPct val="112000"/>
              </a:lnSpc>
              <a:buNone/>
            </a:pP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def port_for(self, role: AgentRole) -&gt; int:</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return int(role.port)</a:t>
            </a:r>
            <a:endParaRPr lang="en-US" sz="1100" dirty="0"/>
          </a:p>
        </p:txBody>
      </p:sp>
      <p:sp>
        <p:nvSpPr>
          <p:cNvPr id="8" name="Shape 6"/>
          <p:cNvSpPr/>
          <p:nvPr/>
        </p:nvSpPr>
        <p:spPr>
          <a:xfrm>
            <a:off x="7680960" y="1545336"/>
            <a:ext cx="274320" cy="274320"/>
          </a:xfrm>
          <a:prstGeom prst="ellipse">
            <a:avLst/>
          </a:prstGeom>
          <a:solidFill>
            <a:srgbClr val="10B981"/>
          </a:solidFill>
          <a:ln/>
        </p:spPr>
      </p:sp>
      <p:sp>
        <p:nvSpPr>
          <p:cNvPr id="9" name="Text 7"/>
          <p:cNvSpPr/>
          <p:nvPr/>
        </p:nvSpPr>
        <p:spPr>
          <a:xfrm>
            <a:off x="7680960" y="154533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10" name="Text 8"/>
          <p:cNvSpPr/>
          <p:nvPr/>
        </p:nvSpPr>
        <p:spPr>
          <a:xfrm>
            <a:off x="8092440" y="1490472"/>
            <a:ext cx="3520440" cy="1097280"/>
          </a:xfrm>
          <a:prstGeom prst="rect">
            <a:avLst/>
          </a:prstGeom>
          <a:noFill/>
          <a:ln/>
        </p:spPr>
        <p:txBody>
          <a:bodyPr wrap="square" lIns="0" tIns="0" rIns="0" bIns="0" rtlCol="0" anchor="t"/>
          <a:lstStyle/>
          <a:p>
            <a:pPr indent="0" marL="0">
              <a:lnSpc>
                <a:spcPct val="105000"/>
              </a:lnSpc>
              <a:buNone/>
            </a:pPr>
            <a:r>
              <a:rPr lang="en-US" sz="1350" dirty="0">
                <a:solidFill>
                  <a:srgbClr val="1E1B4B"/>
                </a:solidFill>
                <a:latin typeface="Calibri" pitchFamily="34" charset="0"/>
                <a:ea typeface="Calibri" pitchFamily="34" charset="-122"/>
                <a:cs typeface="Calibri" pitchFamily="34" charset="-120"/>
              </a:rPr>
              <a:t>Settings holds config and validates credentials — that is ALL it does now.</a:t>
            </a:r>
            <a:endParaRPr lang="en-US" sz="1350" dirty="0"/>
          </a:p>
        </p:txBody>
      </p:sp>
      <p:sp>
        <p:nvSpPr>
          <p:cNvPr id="11" name="Shape 9"/>
          <p:cNvSpPr/>
          <p:nvPr/>
        </p:nvSpPr>
        <p:spPr>
          <a:xfrm>
            <a:off x="7680960" y="2825496"/>
            <a:ext cx="274320" cy="274320"/>
          </a:xfrm>
          <a:prstGeom prst="ellipse">
            <a:avLst/>
          </a:prstGeom>
          <a:solidFill>
            <a:srgbClr val="10B981"/>
          </a:solidFill>
          <a:ln/>
        </p:spPr>
      </p:sp>
      <p:sp>
        <p:nvSpPr>
          <p:cNvPr id="12" name="Text 10"/>
          <p:cNvSpPr/>
          <p:nvPr/>
        </p:nvSpPr>
        <p:spPr>
          <a:xfrm>
            <a:off x="7680960" y="282549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3" name="Text 11"/>
          <p:cNvSpPr/>
          <p:nvPr/>
        </p:nvSpPr>
        <p:spPr>
          <a:xfrm>
            <a:off x="8092440" y="2770632"/>
            <a:ext cx="3520440" cy="1097280"/>
          </a:xfrm>
          <a:prstGeom prst="rect">
            <a:avLst/>
          </a:prstGeom>
          <a:noFill/>
          <a:ln/>
        </p:spPr>
        <p:txBody>
          <a:bodyPr wrap="square" lIns="0" tIns="0" rIns="0" bIns="0" rtlCol="0" anchor="t"/>
          <a:lstStyle/>
          <a:p>
            <a:pPr indent="0" marL="0">
              <a:lnSpc>
                <a:spcPct val="105000"/>
              </a:lnSpc>
              <a:buNone/>
            </a:pPr>
            <a:r>
              <a:rPr lang="en-US" sz="1350" dirty="0">
                <a:solidFill>
                  <a:srgbClr val="1E1B4B"/>
                </a:solidFill>
                <a:latin typeface="Calibri" pitchFamily="34" charset="0"/>
                <a:ea typeface="Calibri" pitchFamily="34" charset="-122"/>
                <a:cs typeface="Calibri" pitchFamily="34" charset="-120"/>
              </a:rPr>
              <a:t>litellm_model delegates to Provider.prefix(): the Provider owns the format.</a:t>
            </a:r>
            <a:endParaRPr lang="en-US" sz="1350" dirty="0"/>
          </a:p>
        </p:txBody>
      </p:sp>
      <p:sp>
        <p:nvSpPr>
          <p:cNvPr id="14" name="Shape 12"/>
          <p:cNvSpPr/>
          <p:nvPr/>
        </p:nvSpPr>
        <p:spPr>
          <a:xfrm>
            <a:off x="7680960" y="4197096"/>
            <a:ext cx="274320" cy="274320"/>
          </a:xfrm>
          <a:prstGeom prst="ellipse">
            <a:avLst/>
          </a:prstGeom>
          <a:solidFill>
            <a:srgbClr val="10B981"/>
          </a:solidFill>
          <a:ln/>
        </p:spPr>
      </p:sp>
      <p:sp>
        <p:nvSpPr>
          <p:cNvPr id="15" name="Text 13"/>
          <p:cNvSpPr/>
          <p:nvPr/>
        </p:nvSpPr>
        <p:spPr>
          <a:xfrm>
            <a:off x="7680960" y="419709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16" name="Text 14"/>
          <p:cNvSpPr/>
          <p:nvPr/>
        </p:nvSpPr>
        <p:spPr>
          <a:xfrm>
            <a:off x="8092440" y="4142232"/>
            <a:ext cx="3520440" cy="1097280"/>
          </a:xfrm>
          <a:prstGeom prst="rect">
            <a:avLst/>
          </a:prstGeom>
          <a:noFill/>
          <a:ln/>
        </p:spPr>
        <p:txBody>
          <a:bodyPr wrap="square" lIns="0" tIns="0" rIns="0" bIns="0" rtlCol="0" anchor="t"/>
          <a:lstStyle/>
          <a:p>
            <a:pPr indent="0" marL="0">
              <a:lnSpc>
                <a:spcPct val="105000"/>
              </a:lnSpc>
              <a:buNone/>
            </a:pPr>
            <a:r>
              <a:rPr lang="en-US" sz="1350" dirty="0">
                <a:solidFill>
                  <a:srgbClr val="1E1B4B"/>
                </a:solidFill>
                <a:latin typeface="Calibri" pitchFamily="34" charset="0"/>
                <a:ea typeface="Calibri" pitchFamily="34" charset="-122"/>
                <a:cs typeface="Calibri" pitchFamily="34" charset="-120"/>
              </a:rPr>
              <a:t>url_for / port_for delegate to AgentRole: the role owns its address. No rebuilt dict.</a:t>
            </a:r>
            <a:endParaRPr lang="en-US" sz="1350" dirty="0"/>
          </a:p>
        </p:txBody>
      </p:sp>
      <p:sp>
        <p:nvSpPr>
          <p:cNvPr id="17" name="Text 15">
            <a:hlinkClick r:id="rId1" tooltip="Prev: enums" action="ppaction://hlinksldjump"/>
          </p:cNvPr>
          <p:cNvSpPr/>
          <p:nvPr/>
        </p:nvSpPr>
        <p:spPr>
          <a:xfrm>
            <a:off x="548640" y="6446520"/>
            <a:ext cx="3291840" cy="329184"/>
          </a:xfrm>
          <a:prstGeom prst="rect">
            <a:avLst/>
          </a:prstGeom>
          <a:noFill/>
          <a:ln/>
        </p:spPr>
        <p:txBody>
          <a:bodyPr wrap="square" lIns="0" tIns="0" rIns="0" bIns="0" rtlCol="0" anchor="ctr"/>
          <a:lstStyle/>
          <a:p>
            <a:pPr algn="l" indent="0" marL="0">
              <a:buNone/>
            </a:pPr>
            <a:r>
              <a:rPr lang="en-US" sz="1200" b="1" u="sng" dirty="0">
                <a:solidFill>
                  <a:srgbClr val="6B7280"/>
                </a:solidFill>
                <a:latin typeface="Calibri" pitchFamily="34" charset="0"/>
                <a:ea typeface="Calibri" pitchFamily="34" charset="-122"/>
                <a:cs typeface="Calibri" pitchFamily="34" charset="-120"/>
                <a:hlinkClick r:id="rId1" action="ppaction://hlinksldjump" tooltip="Prev: enums">
                  <a:extLst>
                    <a:ext uri="{A12FA001-AC4F-418D-AE19-62706E023703}">
                      <ahyp:hlinkClr xmlns:ahyp="http://schemas.microsoft.com/office/drawing/2018/hyperlinkcolor" val="tx"/>
                    </a:ext>
                  </a:extLst>
                </a:hlinkClick>
              </a:rPr>
              <a:t>◀  Prev: enums</a:t>
            </a:r>
            <a:endParaRPr lang="en-US" sz="1200" dirty="0"/>
          </a:p>
        </p:txBody>
      </p:sp>
      <p:sp>
        <p:nvSpPr>
          <p:cNvPr id="18" name="Text 16">
            <a:hlinkClick r:id="rId2" tooltip="Next: respond()" action="ppaction://hlinksldjump"/>
          </p:cNvPr>
          <p:cNvSpPr/>
          <p:nvPr/>
        </p:nvSpPr>
        <p:spPr>
          <a:xfrm>
            <a:off x="8321040" y="6446520"/>
            <a:ext cx="3291840" cy="329184"/>
          </a:xfrm>
          <a:prstGeom prst="rect">
            <a:avLst/>
          </a:prstGeom>
          <a:noFill/>
          <a:ln/>
        </p:spPr>
        <p:txBody>
          <a:bodyPr wrap="square" lIns="0" tIns="0" rIns="0" bIns="0" rtlCol="0" anchor="ctr"/>
          <a:lstStyle/>
          <a:p>
            <a:pPr algn="r" indent="0" marL="0">
              <a:buNone/>
            </a:pPr>
            <a:r>
              <a:rPr lang="en-US" sz="1200" b="1" u="sng" dirty="0">
                <a:solidFill>
                  <a:srgbClr val="7C3AED"/>
                </a:solidFill>
                <a:latin typeface="Calibri" pitchFamily="34" charset="0"/>
                <a:ea typeface="Calibri" pitchFamily="34" charset="-122"/>
                <a:cs typeface="Calibri" pitchFamily="34" charset="-120"/>
                <a:hlinkClick r:id="rId2" action="ppaction://hlinksldjump" tooltip="Next: respond()">
                  <a:extLst>
                    <a:ext uri="{A12FA001-AC4F-418D-AE19-62706E023703}">
                      <ahyp:hlinkClr xmlns:ahyp="http://schemas.microsoft.com/office/drawing/2018/hyperlinkcolor" val="tx"/>
                    </a:ext>
                  </a:extLst>
                </a:hlinkClick>
              </a:rPr>
              <a:t>Next: respond()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lIns="0" tIns="0" rIns="0" bIns="0" rtlCol="0" anchor="ctr"/>
          <a:lstStyle/>
          <a:p>
            <a:pPr indent="0" marL="0">
              <a:buNone/>
            </a:pPr>
            <a:r>
              <a:rPr lang="en-US" sz="2300" b="1" dirty="0">
                <a:solidFill>
                  <a:srgbClr val="1E1B4B"/>
                </a:solidFill>
                <a:latin typeface="Georgia" pitchFamily="34" charset="0"/>
                <a:ea typeface="Georgia" pitchFamily="34" charset="-122"/>
                <a:cs typeface="Georgia" pitchFamily="34" charset="-120"/>
              </a:rPr>
              <a:t>Adaptation 3 — provenance (WorkspaceState.respond())</a:t>
            </a:r>
            <a:endParaRPr lang="en-US" sz="23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indent="0" marL="0">
              <a:buNone/>
            </a:pPr>
            <a:r>
              <a:rPr lang="en-US" sz="1250" b="1" i="1" dirty="0">
                <a:solidFill>
                  <a:srgbClr val="F59E0B"/>
                </a:solidFill>
                <a:latin typeface="Calibri" pitchFamily="34" charset="0"/>
                <a:ea typeface="Calibri" pitchFamily="34" charset="-122"/>
                <a:cs typeface="Calibri" pitchFamily="34" charset="-120"/>
              </a:rPr>
              <a:t>PRESSURE  </a:t>
            </a:r>
            <a:pPr indent="0" marL="0">
              <a:buNone/>
            </a:pPr>
            <a:r>
              <a:rPr lang="en-US" sz="1250" i="1" dirty="0">
                <a:solidFill>
                  <a:srgbClr val="6B7280"/>
                </a:solidFill>
                <a:latin typeface="Calibri" pitchFamily="34" charset="0"/>
                <a:ea typeface="Calibri" pitchFamily="34" charset="-122"/>
                <a:cs typeface="Calibri" pitchFamily="34" charset="-120"/>
              </a:rPr>
              <a:t>parallel replies came back with no link to their request      </a:t>
            </a:r>
            <a:pPr indent="0" marL="0">
              <a:buNone/>
            </a:pPr>
            <a:r>
              <a:rPr lang="en-US" sz="1250" b="1" i="1" dirty="0">
                <a:solidFill>
                  <a:srgbClr val="10B981"/>
                </a:solidFill>
                <a:latin typeface="Calibri" pitchFamily="34" charset="0"/>
                <a:ea typeface="Calibri" pitchFamily="34" charset="-122"/>
                <a:cs typeface="Calibri" pitchFamily="34" charset="-120"/>
              </a:rPr>
              <a:t>ADAPTATION  </a:t>
            </a:r>
            <a:pPr indent="0" marL="0">
              <a:buNone/>
            </a:pPr>
            <a:r>
              <a:rPr lang="en-US" sz="1250" i="1" dirty="0">
                <a:solidFill>
                  <a:srgbClr val="6B7280"/>
                </a:solidFill>
                <a:latin typeface="Calibri" pitchFamily="34" charset="0"/>
                <a:ea typeface="Calibri" pitchFamily="34" charset="-122"/>
                <a:cs typeface="Calibri" pitchFamily="34" charset="-120"/>
              </a:rPr>
              <a:t>the response inherits the request's identity hash</a:t>
            </a:r>
            <a:endParaRPr lang="en-US" sz="1250" dirty="0"/>
          </a:p>
        </p:txBody>
      </p:sp>
      <p:sp>
        <p:nvSpPr>
          <p:cNvPr id="4" name="Shape 2"/>
          <p:cNvSpPr/>
          <p:nvPr/>
        </p:nvSpPr>
        <p:spPr>
          <a:xfrm>
            <a:off x="548640" y="1417320"/>
            <a:ext cx="3291840" cy="365760"/>
          </a:xfrm>
          <a:prstGeom prst="roundRect">
            <a:avLst>
              <a:gd name="adj" fmla="val 15000"/>
            </a:avLst>
          </a:prstGeom>
          <a:solidFill>
            <a:srgbClr val="7C3AED"/>
          </a:solidFill>
          <a:ln/>
        </p:spPr>
      </p:sp>
      <p:sp>
        <p:nvSpPr>
          <p:cNvPr id="5" name="Text 3"/>
          <p:cNvSpPr/>
          <p:nvPr/>
        </p:nvSpPr>
        <p:spPr>
          <a:xfrm>
            <a:off x="658368" y="1417320"/>
            <a:ext cx="3108960" cy="365760"/>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a2a_labs/workspace.py</a:t>
            </a:r>
            <a:endParaRPr lang="en-US" sz="1100" dirty="0"/>
          </a:p>
        </p:txBody>
      </p:sp>
      <p:sp>
        <p:nvSpPr>
          <p:cNvPr id="6" name="Shape 4"/>
          <p:cNvSpPr/>
          <p:nvPr/>
        </p:nvSpPr>
        <p:spPr>
          <a:xfrm>
            <a:off x="548640" y="1783080"/>
            <a:ext cx="6858000" cy="4617720"/>
          </a:xfrm>
          <a:prstGeom prst="rect">
            <a:avLst/>
          </a:prstGeom>
          <a:solidFill>
            <a:srgbClr val="1E1B4B"/>
          </a:solidFill>
          <a:ln/>
          <a:effectLst>
            <a:outerShdw sx="100000" sy="100000" kx="0" ky="0" algn="bl" rotWithShape="0" blurRad="101600" dist="38100" dir="8100000">
              <a:srgbClr val="000000">
                <a:alpha val="20000"/>
              </a:srgbClr>
            </a:outerShdw>
          </a:effectLst>
        </p:spPr>
      </p:sp>
      <p:sp>
        <p:nvSpPr>
          <p:cNvPr id="7" name="Text 5"/>
          <p:cNvSpPr/>
          <p:nvPr/>
        </p:nvSpPr>
        <p:spPr>
          <a:xfrm>
            <a:off x="749808" y="1892808"/>
            <a:ext cx="6492240" cy="4434840"/>
          </a:xfrm>
          <a:prstGeom prst="rect">
            <a:avLst/>
          </a:prstGeom>
          <a:noFill/>
          <a:ln/>
        </p:spPr>
        <p:txBody>
          <a:bodyPr wrap="square" lIns="0" tIns="0" rIns="0" bIns="0" rtlCol="0" anchor="t"/>
          <a:lstStyle/>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def respond(self, result, status=OK,</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source_agent="") -&gt; WorkspaceResponseObject:</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return WorkspaceResponseObject(</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bgd_surrogate=self.bgd_surrogate,</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fqdn=self.fqdn,</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chain_depth=self.chain_depth + 1,</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correlation_id=self.blake3_pair_hash,</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result=result,</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status=status,</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source_agent=source_agent,</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answered_skill_id=self.skill_id,</a:t>
            </a:r>
            <a:endParaRPr lang="en-US" sz="1050" dirty="0"/>
          </a:p>
          <a:p>
            <a:pPr indent="0" marL="0">
              <a:lnSpc>
                <a:spcPct val="112000"/>
              </a:lnSpc>
              <a:buNone/>
            </a:pPr>
            <a:r>
              <a:rPr lang="en-US" sz="1050" dirty="0">
                <a:solidFill>
                  <a:srgbClr val="EDE9FE"/>
                </a:solidFill>
                <a:latin typeface="Consolas" pitchFamily="34" charset="0"/>
                <a:ea typeface="Consolas" pitchFamily="34" charset="-122"/>
                <a:cs typeface="Consolas" pitchFamily="34" charset="-120"/>
              </a:rPr>
              <a:t>    )</a:t>
            </a:r>
            <a:endParaRPr lang="en-US" sz="1050" dirty="0"/>
          </a:p>
        </p:txBody>
      </p:sp>
      <p:sp>
        <p:nvSpPr>
          <p:cNvPr id="8" name="Shape 6"/>
          <p:cNvSpPr/>
          <p:nvPr/>
        </p:nvSpPr>
        <p:spPr>
          <a:xfrm>
            <a:off x="7680960" y="1545336"/>
            <a:ext cx="274320" cy="274320"/>
          </a:xfrm>
          <a:prstGeom prst="ellipse">
            <a:avLst/>
          </a:prstGeom>
          <a:solidFill>
            <a:srgbClr val="10B981"/>
          </a:solidFill>
          <a:ln/>
        </p:spPr>
      </p:sp>
      <p:sp>
        <p:nvSpPr>
          <p:cNvPr id="9" name="Text 7"/>
          <p:cNvSpPr/>
          <p:nvPr/>
        </p:nvSpPr>
        <p:spPr>
          <a:xfrm>
            <a:off x="7680960" y="154533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10" name="Text 8"/>
          <p:cNvSpPr/>
          <p:nvPr/>
        </p:nvSpPr>
        <p:spPr>
          <a:xfrm>
            <a:off x="8092440" y="1490472"/>
            <a:ext cx="3520440" cy="1097280"/>
          </a:xfrm>
          <a:prstGeom prst="rect">
            <a:avLst/>
          </a:prstGeom>
          <a:noFill/>
          <a:ln/>
        </p:spPr>
        <p:txBody>
          <a:bodyPr wrap="square" lIns="0" tIns="0" rIns="0" bIns="0" rtlCol="0" anchor="t"/>
          <a:lstStyle/>
          <a:p>
            <a:pPr indent="0" marL="0">
              <a:lnSpc>
                <a:spcPct val="105000"/>
              </a:lnSpc>
              <a:buNone/>
            </a:pPr>
            <a:r>
              <a:rPr lang="en-US" sz="1350" dirty="0">
                <a:solidFill>
                  <a:srgbClr val="1E1B4B"/>
                </a:solidFill>
                <a:latin typeface="Calibri" pitchFamily="34" charset="0"/>
                <a:ea typeface="Calibri" pitchFamily="34" charset="-122"/>
                <a:cs typeface="Calibri" pitchFamily="34" charset="-120"/>
              </a:rPr>
              <a:t>Response INHERITS the request's BGD + FQDN — provenance copied, not re-derived.</a:t>
            </a:r>
            <a:endParaRPr lang="en-US" sz="1350" dirty="0"/>
          </a:p>
        </p:txBody>
      </p:sp>
      <p:sp>
        <p:nvSpPr>
          <p:cNvPr id="11" name="Shape 9"/>
          <p:cNvSpPr/>
          <p:nvPr/>
        </p:nvSpPr>
        <p:spPr>
          <a:xfrm>
            <a:off x="7680960" y="2916936"/>
            <a:ext cx="274320" cy="274320"/>
          </a:xfrm>
          <a:prstGeom prst="ellipse">
            <a:avLst/>
          </a:prstGeom>
          <a:solidFill>
            <a:srgbClr val="10B981"/>
          </a:solidFill>
          <a:ln/>
        </p:spPr>
      </p:sp>
      <p:sp>
        <p:nvSpPr>
          <p:cNvPr id="12" name="Text 10"/>
          <p:cNvSpPr/>
          <p:nvPr/>
        </p:nvSpPr>
        <p:spPr>
          <a:xfrm>
            <a:off x="7680960" y="291693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3" name="Text 11"/>
          <p:cNvSpPr/>
          <p:nvPr/>
        </p:nvSpPr>
        <p:spPr>
          <a:xfrm>
            <a:off x="8092440" y="2862072"/>
            <a:ext cx="3520440" cy="1097280"/>
          </a:xfrm>
          <a:prstGeom prst="rect">
            <a:avLst/>
          </a:prstGeom>
          <a:noFill/>
          <a:ln/>
        </p:spPr>
        <p:txBody>
          <a:bodyPr wrap="square" lIns="0" tIns="0" rIns="0" bIns="0" rtlCol="0" anchor="t"/>
          <a:lstStyle/>
          <a:p>
            <a:pPr indent="0" marL="0">
              <a:lnSpc>
                <a:spcPct val="105000"/>
              </a:lnSpc>
              <a:buNone/>
            </a:pPr>
            <a:r>
              <a:rPr lang="en-US" sz="1350" dirty="0">
                <a:solidFill>
                  <a:srgbClr val="1E1B4B"/>
                </a:solidFill>
                <a:latin typeface="Calibri" pitchFamily="34" charset="0"/>
                <a:ea typeface="Calibri" pitchFamily="34" charset="-122"/>
                <a:cs typeface="Calibri" pitchFamily="34" charset="-120"/>
              </a:rPr>
              <a:t>correlation_id = the request's PAIR_HASH. The link that survives out-of-order replies.</a:t>
            </a:r>
            <a:endParaRPr lang="en-US" sz="1350" dirty="0"/>
          </a:p>
        </p:txBody>
      </p:sp>
      <p:sp>
        <p:nvSpPr>
          <p:cNvPr id="14" name="Shape 12"/>
          <p:cNvSpPr/>
          <p:nvPr/>
        </p:nvSpPr>
        <p:spPr>
          <a:xfrm>
            <a:off x="7680960" y="4379976"/>
            <a:ext cx="274320" cy="274320"/>
          </a:xfrm>
          <a:prstGeom prst="ellipse">
            <a:avLst/>
          </a:prstGeom>
          <a:solidFill>
            <a:srgbClr val="10B981"/>
          </a:solidFill>
          <a:ln/>
        </p:spPr>
      </p:sp>
      <p:sp>
        <p:nvSpPr>
          <p:cNvPr id="15" name="Text 13"/>
          <p:cNvSpPr/>
          <p:nvPr/>
        </p:nvSpPr>
        <p:spPr>
          <a:xfrm>
            <a:off x="7680960" y="437997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16" name="Text 14"/>
          <p:cNvSpPr/>
          <p:nvPr/>
        </p:nvSpPr>
        <p:spPr>
          <a:xfrm>
            <a:off x="8092440" y="4325112"/>
            <a:ext cx="3520440" cy="1097280"/>
          </a:xfrm>
          <a:prstGeom prst="rect">
            <a:avLst/>
          </a:prstGeom>
          <a:noFill/>
          <a:ln/>
        </p:spPr>
        <p:txBody>
          <a:bodyPr wrap="square" lIns="0" tIns="0" rIns="0" bIns="0" rtlCol="0" anchor="t"/>
          <a:lstStyle/>
          <a:p>
            <a:pPr indent="0" marL="0">
              <a:lnSpc>
                <a:spcPct val="105000"/>
              </a:lnSpc>
              <a:buNone/>
            </a:pPr>
            <a:r>
              <a:rPr lang="en-US" sz="1350" dirty="0">
                <a:solidFill>
                  <a:srgbClr val="1E1B4B"/>
                </a:solidFill>
                <a:latin typeface="Calibri" pitchFamily="34" charset="0"/>
                <a:ea typeface="Calibri" pitchFamily="34" charset="-122"/>
                <a:cs typeface="Calibri" pitchFamily="34" charset="-120"/>
              </a:rPr>
              <a:t>source_agent makes 'who answered' a field, not a prompt the model might forget.</a:t>
            </a:r>
            <a:endParaRPr lang="en-US" sz="1350" dirty="0"/>
          </a:p>
        </p:txBody>
      </p:sp>
      <p:sp>
        <p:nvSpPr>
          <p:cNvPr id="17" name="Text 15">
            <a:hlinkClick r:id="rId1" tooltip="Prev: config" action="ppaction://hlinksldjump"/>
          </p:cNvPr>
          <p:cNvSpPr/>
          <p:nvPr/>
        </p:nvSpPr>
        <p:spPr>
          <a:xfrm>
            <a:off x="548640" y="6446520"/>
            <a:ext cx="3291840" cy="329184"/>
          </a:xfrm>
          <a:prstGeom prst="rect">
            <a:avLst/>
          </a:prstGeom>
          <a:noFill/>
          <a:ln/>
        </p:spPr>
        <p:txBody>
          <a:bodyPr wrap="square" lIns="0" tIns="0" rIns="0" bIns="0" rtlCol="0" anchor="ctr"/>
          <a:lstStyle/>
          <a:p>
            <a:pPr algn="l" indent="0" marL="0">
              <a:buNone/>
            </a:pPr>
            <a:r>
              <a:rPr lang="en-US" sz="1200" b="1" u="sng" dirty="0">
                <a:solidFill>
                  <a:srgbClr val="6B7280"/>
                </a:solidFill>
                <a:latin typeface="Calibri" pitchFamily="34" charset="0"/>
                <a:ea typeface="Calibri" pitchFamily="34" charset="-122"/>
                <a:cs typeface="Calibri" pitchFamily="34" charset="-120"/>
                <a:hlinkClick r:id="rId1" action="ppaction://hlinksldjump" tooltip="Prev: config">
                  <a:extLst>
                    <a:ext uri="{A12FA001-AC4F-418D-AE19-62706E023703}">
                      <ahyp:hlinkClr xmlns:ahyp="http://schemas.microsoft.com/office/drawing/2018/hyperlinkcolor" val="tx"/>
                    </a:ext>
                  </a:extLst>
                </a:hlinkClick>
              </a:rPr>
              <a:t>◀  Prev: config</a:t>
            </a:r>
            <a:endParaRPr lang="en-US" sz="1200" dirty="0"/>
          </a:p>
        </p:txBody>
      </p:sp>
      <p:sp>
        <p:nvSpPr>
          <p:cNvPr id="18" name="Shape 16"/>
          <p:cNvSpPr/>
          <p:nvPr/>
        </p:nvSpPr>
        <p:spPr>
          <a:xfrm>
            <a:off x="4709160" y="6428232"/>
            <a:ext cx="2743200" cy="365760"/>
          </a:xfrm>
          <a:prstGeom prst="roundRect">
            <a:avLst>
              <a:gd name="adj" fmla="val 15000"/>
            </a:avLst>
          </a:prstGeom>
          <a:solidFill>
            <a:srgbClr val="10B981"/>
          </a:solidFill>
          <a:ln/>
        </p:spPr>
      </p:sp>
      <p:sp>
        <p:nvSpPr>
          <p:cNvPr id="19" name="Text 17">
            <a:hlinkClick r:id="rId2" tooltip="See it run (BLAKE3)" action="ppaction://hlinksldjump"/>
          </p:cNvPr>
          <p:cNvSpPr/>
          <p:nvPr/>
        </p:nvSpPr>
        <p:spPr>
          <a:xfrm>
            <a:off x="4709160" y="6428232"/>
            <a:ext cx="2743200" cy="365760"/>
          </a:xfrm>
          <a:prstGeom prst="rect">
            <a:avLst/>
          </a:prstGeom>
          <a:noFill/>
          <a:ln/>
        </p:spPr>
        <p:txBody>
          <a:bodyPr wrap="square" lIns="0" tIns="0" rIns="0" bIns="0" rtlCol="0" anchor="ctr"/>
          <a:lstStyle/>
          <a:p>
            <a:pPr algn="ctr" indent="0" marL="0">
              <a:buNone/>
            </a:pPr>
            <a:r>
              <a:rPr lang="en-US" sz="1200" b="1" u="sng" dirty="0">
                <a:solidFill>
                  <a:srgbClr val="FFFFFF"/>
                </a:solidFill>
                <a:latin typeface="Calibri" pitchFamily="34" charset="0"/>
                <a:ea typeface="Calibri" pitchFamily="34" charset="-122"/>
                <a:cs typeface="Calibri" pitchFamily="34" charset="-120"/>
                <a:hlinkClick r:id="rId2" action="ppaction://hlinksldjump" tooltip="See it run (BLAKE3)">
                  <a:extLst>
                    <a:ext uri="{A12FA001-AC4F-418D-AE19-62706E023703}">
                      <ahyp:hlinkClr xmlns:ahyp="http://schemas.microsoft.com/office/drawing/2018/hyperlinkcolor" val="tx"/>
                    </a:ext>
                  </a:extLst>
                </a:hlinkClick>
              </a:rPr>
              <a:t>▶  See it run (BLAKE3)</a:t>
            </a:r>
            <a:endParaRPr lang="en-US" sz="1200" dirty="0"/>
          </a:p>
        </p:txBody>
      </p:sp>
      <p:sp>
        <p:nvSpPr>
          <p:cNvPr id="20" name="Text 18">
            <a:hlinkClick r:id="rId3" tooltip="Live proof" action="ppaction://hlinksldjump"/>
          </p:cNvPr>
          <p:cNvSpPr/>
          <p:nvPr/>
        </p:nvSpPr>
        <p:spPr>
          <a:xfrm>
            <a:off x="8321040" y="6446520"/>
            <a:ext cx="3291840" cy="329184"/>
          </a:xfrm>
          <a:prstGeom prst="rect">
            <a:avLst/>
          </a:prstGeom>
          <a:noFill/>
          <a:ln/>
        </p:spPr>
        <p:txBody>
          <a:bodyPr wrap="square" lIns="0" tIns="0" rIns="0" bIns="0" rtlCol="0" anchor="ctr"/>
          <a:lstStyle/>
          <a:p>
            <a:pPr algn="r" indent="0" marL="0">
              <a:buNone/>
            </a:pPr>
            <a:r>
              <a:rPr lang="en-US" sz="1200" b="1" u="sng" dirty="0">
                <a:solidFill>
                  <a:srgbClr val="7C3AED"/>
                </a:solidFill>
                <a:latin typeface="Calibri" pitchFamily="34" charset="0"/>
                <a:ea typeface="Calibri" pitchFamily="34" charset="-122"/>
                <a:cs typeface="Calibri" pitchFamily="34" charset="-120"/>
                <a:hlinkClick r:id="rId3" action="ppaction://hlinksldjump" tooltip="Live proof">
                  <a:extLst>
                    <a:ext uri="{A12FA001-AC4F-418D-AE19-62706E023703}">
                      <ahyp:hlinkClr xmlns:ahyp="http://schemas.microsoft.com/office/drawing/2018/hyperlinkcolor" val="tx"/>
                    </a:ext>
                  </a:extLst>
                </a:hlinkClick>
              </a:rPr>
              <a:t>Live proof  ▶</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lIns="0" tIns="0" rIns="0" bIns="0" rtlCol="0" anchor="ctr"/>
          <a:lstStyle/>
          <a:p>
            <a:pPr indent="0" marL="0">
              <a:buNone/>
            </a:pPr>
            <a:r>
              <a:rPr lang="en-US" sz="2400" b="1" dirty="0">
                <a:solidFill>
                  <a:srgbClr val="1E1B4B"/>
                </a:solidFill>
                <a:latin typeface="Georgia" pitchFamily="34" charset="0"/>
                <a:ea typeface="Georgia" pitchFamily="34" charset="-122"/>
                <a:cs typeface="Georgia" pitchFamily="34" charset="-120"/>
              </a:rPr>
              <a:t>Fitness test — it really runs (BLAKE3 PAIR_HASH)</a:t>
            </a:r>
            <a:endParaRPr lang="en-US" sz="2400" dirty="0"/>
          </a:p>
        </p:txBody>
      </p:sp>
      <p:sp>
        <p:nvSpPr>
          <p:cNvPr id="3" name="Shape 1"/>
          <p:cNvSpPr/>
          <p:nvPr/>
        </p:nvSpPr>
        <p:spPr>
          <a:xfrm>
            <a:off x="822960" y="1188720"/>
            <a:ext cx="10515600" cy="4206240"/>
          </a:xfrm>
          <a:prstGeom prst="roundRect">
            <a:avLst>
              <a:gd name="adj" fmla="val 1739"/>
            </a:avLst>
          </a:prstGeom>
          <a:solidFill>
            <a:srgbClr val="0B0A1F"/>
          </a:solidFill>
          <a:ln/>
          <a:effectLst>
            <a:outerShdw sx="100000" sy="100000" kx="0" ky="0" algn="bl" rotWithShape="0" blurRad="101600" dist="38100" dir="8100000">
              <a:srgbClr val="000000">
                <a:alpha val="20000"/>
              </a:srgbClr>
            </a:outerShdw>
          </a:effectLst>
        </p:spPr>
      </p:sp>
      <p:sp>
        <p:nvSpPr>
          <p:cNvPr id="4" name="Shape 2"/>
          <p:cNvSpPr/>
          <p:nvPr/>
        </p:nvSpPr>
        <p:spPr>
          <a:xfrm>
            <a:off x="1051560" y="1371600"/>
            <a:ext cx="164592" cy="164592"/>
          </a:xfrm>
          <a:prstGeom prst="ellipse">
            <a:avLst/>
          </a:prstGeom>
          <a:solidFill>
            <a:srgbClr val="FF5F56"/>
          </a:solidFill>
          <a:ln/>
        </p:spPr>
      </p:sp>
      <p:sp>
        <p:nvSpPr>
          <p:cNvPr id="5" name="Shape 3"/>
          <p:cNvSpPr/>
          <p:nvPr/>
        </p:nvSpPr>
        <p:spPr>
          <a:xfrm>
            <a:off x="1344168" y="1371600"/>
            <a:ext cx="164592" cy="164592"/>
          </a:xfrm>
          <a:prstGeom prst="ellipse">
            <a:avLst/>
          </a:prstGeom>
          <a:solidFill>
            <a:srgbClr val="FFBD2E"/>
          </a:solidFill>
          <a:ln/>
        </p:spPr>
      </p:sp>
      <p:sp>
        <p:nvSpPr>
          <p:cNvPr id="6" name="Shape 4"/>
          <p:cNvSpPr/>
          <p:nvPr/>
        </p:nvSpPr>
        <p:spPr>
          <a:xfrm>
            <a:off x="1636776" y="1371600"/>
            <a:ext cx="164592" cy="164592"/>
          </a:xfrm>
          <a:prstGeom prst="ellipse">
            <a:avLst/>
          </a:prstGeom>
          <a:solidFill>
            <a:srgbClr val="27C93F"/>
          </a:solidFill>
          <a:ln/>
        </p:spPr>
      </p:sp>
      <p:sp>
        <p:nvSpPr>
          <p:cNvPr id="7" name="Text 5"/>
          <p:cNvSpPr/>
          <p:nvPr/>
        </p:nvSpPr>
        <p:spPr>
          <a:xfrm>
            <a:off x="1097280" y="1783080"/>
            <a:ext cx="10058400" cy="3429000"/>
          </a:xfrm>
          <a:prstGeom prst="rect">
            <a:avLst/>
          </a:prstGeom>
          <a:noFill/>
          <a:ln/>
        </p:spPr>
        <p:txBody>
          <a:bodyPr wrap="square" lIns="0" tIns="0" rIns="0" bIns="0" rtlCol="0" anchor="t"/>
          <a:lstStyle/>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 PYTHONPATH=src python demo_workspace.py</a:t>
            </a:r>
            <a:endParaRPr lang="en-US" sz="1400" dirty="0"/>
          </a:p>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&gt;&gt;&gt; req = WorkspaceState(bgd_surrogate='BGD-INSURANCE-001',</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     fqdn='policy.aces.local', task_content='How much for therapy?',</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     skill_id='policy.insurance_coverage')</a:t>
            </a:r>
            <a:endParaRPr lang="en-US" sz="1400" dirty="0"/>
          </a:p>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&gt;&gt;&gt; req.blake3_pair_hash</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blake3:931e6313dbd00b16b015f6d4b1839f6f5be70203feb8a7d16a36fc7f24e08be4</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 </a:t>
            </a:r>
            <a:endParaRPr lang="en-US" sz="1400" dirty="0"/>
          </a:p>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&gt;&gt;&gt; resp = req.respond(result='In-network: $25 copay/session.',</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     status=ResponseStatus.OK, source_agent='PolicyAgent')</a:t>
            </a:r>
            <a:endParaRPr lang="en-US" sz="1400" dirty="0"/>
          </a:p>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&gt;&gt;&gt; resp.correlation_id</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blake3:931e6313dbd00b16b015f6d4b1839f6f5be70203feb8a7d16a36fc7f24e08be4</a:t>
            </a:r>
            <a:endParaRPr lang="en-US" sz="1400" dirty="0"/>
          </a:p>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&gt;&gt;&gt; verify_correlation(req, resp)</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True</a:t>
            </a:r>
            <a:endParaRPr lang="en-US" sz="1400" dirty="0"/>
          </a:p>
        </p:txBody>
      </p:sp>
      <p:sp>
        <p:nvSpPr>
          <p:cNvPr id="8" name="Text 6"/>
          <p:cNvSpPr/>
          <p:nvPr/>
        </p:nvSpPr>
        <p:spPr>
          <a:xfrm>
            <a:off x="822960" y="5577840"/>
            <a:ext cx="10515600" cy="822960"/>
          </a:xfrm>
          <a:prstGeom prst="rect">
            <a:avLst/>
          </a:prstGeom>
          <a:noFill/>
          <a:ln/>
        </p:spPr>
        <p:txBody>
          <a:bodyPr wrap="square" lIns="0" tIns="0" rIns="0" bIns="0" rtlCol="0" anchor="ctr"/>
          <a:lstStyle/>
          <a:p>
            <a:pPr indent="0" marL="0">
              <a:buNone/>
            </a:pPr>
            <a:r>
              <a:rPr lang="en-US" sz="1600" i="1" dirty="0">
                <a:solidFill>
                  <a:srgbClr val="6B7280"/>
                </a:solidFill>
                <a:latin typeface="Calibri" pitchFamily="34" charset="0"/>
                <a:ea typeface="Calibri" pitchFamily="34" charset="-122"/>
                <a:cs typeface="Calibri" pitchFamily="34" charset="-120"/>
              </a:rPr>
              <a:t>The two BLAKE3 hashes are identical — the adaptation is FIT: the response provably carries its request's identity.</a:t>
            </a:r>
            <a:endParaRPr lang="en-US" sz="1600" dirty="0"/>
          </a:p>
        </p:txBody>
      </p:sp>
      <p:sp>
        <p:nvSpPr>
          <p:cNvPr id="9" name="Text 7">
            <a:hlinkClick r:id="rId1" tooltip="Back to respond()" action="ppaction://hlinksldjump"/>
          </p:cNvPr>
          <p:cNvSpPr/>
          <p:nvPr/>
        </p:nvSpPr>
        <p:spPr>
          <a:xfrm>
            <a:off x="548640" y="6446520"/>
            <a:ext cx="3291840" cy="329184"/>
          </a:xfrm>
          <a:prstGeom prst="rect">
            <a:avLst/>
          </a:prstGeom>
          <a:noFill/>
          <a:ln/>
        </p:spPr>
        <p:txBody>
          <a:bodyPr wrap="square" lIns="0" tIns="0" rIns="0" bIns="0" rtlCol="0" anchor="ctr"/>
          <a:lstStyle/>
          <a:p>
            <a:pPr algn="l" indent="0" marL="0">
              <a:buNone/>
            </a:pPr>
            <a:r>
              <a:rPr lang="en-US" sz="1200" b="1" u="sng" dirty="0">
                <a:solidFill>
                  <a:srgbClr val="6B7280"/>
                </a:solidFill>
                <a:latin typeface="Calibri" pitchFamily="34" charset="0"/>
                <a:ea typeface="Calibri" pitchFamily="34" charset="-122"/>
                <a:cs typeface="Calibri" pitchFamily="34" charset="-120"/>
                <a:hlinkClick r:id="rId1" action="ppaction://hlinksldjump" tooltip="Back to respond()">
                  <a:extLst>
                    <a:ext uri="{A12FA001-AC4F-418D-AE19-62706E023703}">
                      <ahyp:hlinkClr xmlns:ahyp="http://schemas.microsoft.com/office/drawing/2018/hyperlinkcolor" val="tx"/>
                    </a:ext>
                  </a:extLst>
                </a:hlinkClick>
              </a:rPr>
              <a:t>◀  Back to respond()</a:t>
            </a:r>
            <a:endParaRPr lang="en-US" sz="1200" dirty="0"/>
          </a:p>
        </p:txBody>
      </p:sp>
      <p:sp>
        <p:nvSpPr>
          <p:cNvPr id="10" name="Text 8">
            <a:hlinkClick r:id="rId2" tooltip="Next: into the blackbox" action="ppaction://hlinksldjump"/>
          </p:cNvPr>
          <p:cNvSpPr/>
          <p:nvPr/>
        </p:nvSpPr>
        <p:spPr>
          <a:xfrm>
            <a:off x="8321040" y="6446520"/>
            <a:ext cx="3291840" cy="329184"/>
          </a:xfrm>
          <a:prstGeom prst="rect">
            <a:avLst/>
          </a:prstGeom>
          <a:noFill/>
          <a:ln/>
        </p:spPr>
        <p:txBody>
          <a:bodyPr wrap="square" lIns="0" tIns="0" rIns="0" bIns="0" rtlCol="0" anchor="ctr"/>
          <a:lstStyle/>
          <a:p>
            <a:pPr algn="r" indent="0" marL="0">
              <a:buNone/>
            </a:pPr>
            <a:r>
              <a:rPr lang="en-US" sz="1200" b="1" u="sng" dirty="0">
                <a:solidFill>
                  <a:srgbClr val="7C3AED"/>
                </a:solidFill>
                <a:latin typeface="Calibri" pitchFamily="34" charset="0"/>
                <a:ea typeface="Calibri" pitchFamily="34" charset="-122"/>
                <a:cs typeface="Calibri" pitchFamily="34" charset="-120"/>
                <a:hlinkClick r:id="rId2" action="ppaction://hlinksldjump" tooltip="Next: into the blackbox">
                  <a:extLst>
                    <a:ext uri="{A12FA001-AC4F-418D-AE19-62706E023703}">
                      <ahyp:hlinkClr xmlns:ahyp="http://schemas.microsoft.com/office/drawing/2018/hyperlinkcolor" val="tx"/>
                    </a:ext>
                  </a:extLst>
                </a:hlinkClick>
              </a:rPr>
              <a:t>Next: into the blackbox  ▶</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lIns="0" tIns="0" rIns="0" bIns="0" rtlCol="0" anchor="ctr"/>
          <a:lstStyle/>
          <a:p>
            <a:pPr indent="0" marL="0">
              <a:buNone/>
            </a:pPr>
            <a:r>
              <a:rPr lang="en-US" sz="2400" b="1" dirty="0">
                <a:solidFill>
                  <a:srgbClr val="1E1B4B"/>
                </a:solidFill>
                <a:latin typeface="Georgia" pitchFamily="34" charset="0"/>
                <a:ea typeface="Georgia" pitchFamily="34" charset="-122"/>
                <a:cs typeface="Georgia" pitchFamily="34" charset="-120"/>
              </a:rPr>
              <a:t>Adaptation 4 — vendor vs provider, declared (enums + vendors)</a:t>
            </a:r>
            <a:endParaRPr lang="en-US" sz="2400" dirty="0"/>
          </a:p>
        </p:txBody>
      </p:sp>
      <p:sp>
        <p:nvSpPr>
          <p:cNvPr id="3" name="Shape 1"/>
          <p:cNvSpPr/>
          <p:nvPr/>
        </p:nvSpPr>
        <p:spPr>
          <a:xfrm>
            <a:off x="548640" y="1280160"/>
            <a:ext cx="3840480" cy="384048"/>
          </a:xfrm>
          <a:prstGeom prst="roundRect">
            <a:avLst>
              <a:gd name="adj" fmla="val 14286"/>
            </a:avLst>
          </a:prstGeom>
          <a:solidFill>
            <a:srgbClr val="7C3AED"/>
          </a:solidFill>
          <a:ln/>
        </p:spPr>
      </p:sp>
      <p:sp>
        <p:nvSpPr>
          <p:cNvPr id="4" name="Text 2"/>
          <p:cNvSpPr/>
          <p:nvPr/>
        </p:nvSpPr>
        <p:spPr>
          <a:xfrm>
            <a:off x="685800" y="1280160"/>
            <a:ext cx="3657600" cy="384048"/>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a2a_labs/enums.py + vendors.py</a:t>
            </a:r>
            <a:endParaRPr lang="en-US" sz="1200" dirty="0"/>
          </a:p>
        </p:txBody>
      </p:sp>
      <p:sp>
        <p:nvSpPr>
          <p:cNvPr id="5" name="Text 3"/>
          <p:cNvSpPr/>
          <p:nvPr/>
        </p:nvSpPr>
        <p:spPr>
          <a:xfrm>
            <a:off x="548640" y="932688"/>
            <a:ext cx="11064240" cy="365760"/>
          </a:xfrm>
          <a:prstGeom prst="rect">
            <a:avLst/>
          </a:prstGeom>
          <a:noFill/>
          <a:ln/>
        </p:spPr>
        <p:txBody>
          <a:bodyPr wrap="square" lIns="0" tIns="0" rIns="0" bIns="0" rtlCol="0" anchor="ctr"/>
          <a:lstStyle/>
          <a:p>
            <a:pPr indent="0" marL="0">
              <a:buNone/>
            </a:pPr>
            <a:r>
              <a:rPr lang="en-US" sz="1250" b="1" i="1" dirty="0">
                <a:solidFill>
                  <a:srgbClr val="F59E0B"/>
                </a:solidFill>
                <a:latin typeface="Calibri" pitchFamily="34" charset="0"/>
                <a:ea typeface="Calibri" pitchFamily="34" charset="-122"/>
                <a:cs typeface="Calibri" pitchFamily="34" charset="-120"/>
              </a:rPr>
              <a:t>PRESSURE  </a:t>
            </a:r>
            <a:pPr indent="0" marL="0">
              <a:buNone/>
            </a:pPr>
            <a:r>
              <a:rPr lang="en-US" sz="1250" i="1" dirty="0">
                <a:solidFill>
                  <a:srgbClr val="6B7280"/>
                </a:solidFill>
                <a:latin typeface="Calibri" pitchFamily="34" charset="0"/>
                <a:ea typeface="Calibri" pitchFamily="34" charset="-122"/>
                <a:cs typeface="Calibri" pitchFamily="34" charset="-120"/>
              </a:rPr>
              <a:t>the 'vendor:' prefix was a literal duplicating Vendor.GOOGLE      </a:t>
            </a:r>
            <a:pPr indent="0" marL="0">
              <a:buNone/>
            </a:pPr>
            <a:r>
              <a:rPr lang="en-US" sz="1250" b="1" i="1" dirty="0">
                <a:solidFill>
                  <a:srgbClr val="10B981"/>
                </a:solidFill>
                <a:latin typeface="Calibri" pitchFamily="34" charset="0"/>
                <a:ea typeface="Calibri" pitchFamily="34" charset="-122"/>
                <a:cs typeface="Calibri" pitchFamily="34" charset="-120"/>
              </a:rPr>
              <a:t>ADAPTATION  </a:t>
            </a:r>
            <a:pPr indent="0" marL="0">
              <a:buNone/>
            </a:pPr>
            <a:r>
              <a:rPr lang="en-US" sz="1250" i="1" dirty="0">
                <a:solidFill>
                  <a:srgbClr val="6B7280"/>
                </a:solidFill>
                <a:latin typeface="Calibri" pitchFamily="34" charset="0"/>
                <a:ea typeface="Calibri" pitchFamily="34" charset="-122"/>
                <a:cs typeface="Calibri" pitchFamily="34" charset="-120"/>
              </a:rPr>
              <a:t>the value IS a (Vendor, name) pair — vendor is a reference, never a string</a:t>
            </a:r>
            <a:endParaRPr lang="en-US" sz="1250" dirty="0"/>
          </a:p>
        </p:txBody>
      </p:sp>
      <p:sp>
        <p:nvSpPr>
          <p:cNvPr id="6" name="Shape 4"/>
          <p:cNvSpPr/>
          <p:nvPr/>
        </p:nvSpPr>
        <p:spPr>
          <a:xfrm>
            <a:off x="548640" y="1664208"/>
            <a:ext cx="11064240" cy="4279392"/>
          </a:xfrm>
          <a:prstGeom prst="rect">
            <a:avLst/>
          </a:prstGeom>
          <a:solidFill>
            <a:srgbClr val="1E1B4B"/>
          </a:solidFill>
          <a:ln/>
          <a:effectLst>
            <a:outerShdw sx="100000" sy="100000" kx="0" ky="0" algn="bl" rotWithShape="0" blurRad="101600" dist="38100" dir="8100000">
              <a:srgbClr val="000000">
                <a:alpha val="20000"/>
              </a:srgbClr>
            </a:outerShdw>
          </a:effectLst>
        </p:spPr>
      </p:sp>
      <p:sp>
        <p:nvSpPr>
          <p:cNvPr id="7" name="Shape 5"/>
          <p:cNvSpPr/>
          <p:nvPr/>
        </p:nvSpPr>
        <p:spPr>
          <a:xfrm>
            <a:off x="548640" y="1664208"/>
            <a:ext cx="502920" cy="4279392"/>
          </a:xfrm>
          <a:prstGeom prst="rect">
            <a:avLst/>
          </a:prstGeom>
          <a:solidFill>
            <a:srgbClr val="151238"/>
          </a:solidFill>
          <a:ln/>
        </p:spPr>
      </p:sp>
      <p:sp>
        <p:nvSpPr>
          <p:cNvPr id="8" name="Text 6"/>
          <p:cNvSpPr/>
          <p:nvPr/>
        </p:nvSpPr>
        <p:spPr>
          <a:xfrm>
            <a:off x="566928" y="1773936"/>
            <a:ext cx="457200" cy="4096512"/>
          </a:xfrm>
          <a:prstGeom prst="rect">
            <a:avLst/>
          </a:prstGeom>
          <a:noFill/>
          <a:ln/>
        </p:spPr>
        <p:txBody>
          <a:bodyPr wrap="square" lIns="0" tIns="0" rIns="0" bIns="0" rtlCol="0" anchor="t"/>
          <a:lstStyle/>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 1</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 2</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 3</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 4</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 5</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 6</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 7</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 8</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 9</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10</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11</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12</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13</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14</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15</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16</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17</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18</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19</a:t>
            </a:r>
            <a:endParaRPr lang="en-US" sz="1200" dirty="0"/>
          </a:p>
          <a:p>
            <a:pPr algn="r" indent="0" marL="0">
              <a:lnSpc>
                <a:spcPct val="112000"/>
              </a:lnSpc>
              <a:buNone/>
            </a:pPr>
            <a:r>
              <a:rPr lang="en-US" sz="1200" dirty="0">
                <a:solidFill>
                  <a:srgbClr val="6B5FA8"/>
                </a:solidFill>
                <a:latin typeface="Consolas" pitchFamily="34" charset="0"/>
                <a:ea typeface="Consolas" pitchFamily="34" charset="-122"/>
                <a:cs typeface="Consolas" pitchFamily="34" charset="-120"/>
              </a:rPr>
              <a:t>20</a:t>
            </a:r>
            <a:endParaRPr lang="en-US" sz="1200" dirty="0"/>
          </a:p>
        </p:txBody>
      </p:sp>
      <p:sp>
        <p:nvSpPr>
          <p:cNvPr id="9" name="Text 7"/>
          <p:cNvSpPr/>
          <p:nvPr/>
        </p:nvSpPr>
        <p:spPr>
          <a:xfrm>
            <a:off x="1170432" y="1773936"/>
            <a:ext cx="10332720" cy="4096512"/>
          </a:xfrm>
          <a:prstGeom prst="rect">
            <a:avLst/>
          </a:prstGeom>
          <a:noFill/>
          <a:ln/>
        </p:spPr>
        <p:txBody>
          <a:bodyPr wrap="square" lIns="0" tIns="0" rIns="0" bIns="0" rtlCol="0" anchor="t"/>
          <a:lstStyle/>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@unique</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class Vendor(StrEnum):        # who OWNS the model</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GOOGLE = "google"; ANTHROPIC = "anthropic"</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OPENAI = "openai"; META = "meta"; MISTRAL = "mistral"</a:t>
            </a:r>
            <a:endParaRPr lang="en-US" sz="1200" dirty="0"/>
          </a:p>
          <a:p>
            <a:pPr indent="0" marL="0">
              <a:lnSpc>
                <a:spcPct val="112000"/>
              </a:lnSpc>
              <a:buNone/>
            </a:pP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@unique</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class VendorModel(Enum):      # value = (Vendor member, bare name)</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GEMINI_PRO  = (Vendor.GOOGLE,    "gemini-3.1-pro-preview")</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CLAUDE_OPUS = (Vendor.ANTHROPIC, "claude-opus-4-8")</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GPT_5       = (Vendor.OPENAI,    "gpt-5")</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LLAMA_SCOUT = (Vendor.META,      "llama-4-scout")</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def __init__(self, vendor: Vendor, bare_name: str):</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self._vendor = vendor          # a REFERENCE, not "google:"</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self._bare_name = bare_name</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@property</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def vendor(self) -&gt; Vendor: return self._vendor</a:t>
            </a:r>
            <a:endParaRPr lang="en-US" sz="1200" dirty="0"/>
          </a:p>
          <a:p>
            <a:pPr indent="0" marL="0">
              <a:lnSpc>
                <a:spcPct val="112000"/>
              </a:lnSpc>
              <a:buNone/>
            </a:pP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 DERIVED — never hand-maintained (Occam):</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def models_for(v): return [m for m in VendorModel if m.vendor is v]</a:t>
            </a:r>
            <a:endParaRPr lang="en-US" sz="1200" dirty="0"/>
          </a:p>
          <a:p>
            <a:pPr indent="0" marL="0">
              <a:lnSpc>
                <a:spcPct val="112000"/>
              </a:lnSpc>
              <a:buNone/>
            </a:pPr>
            <a:r>
              <a:rPr lang="en-US" sz="1200" dirty="0">
                <a:solidFill>
                  <a:srgbClr val="EDE9FE"/>
                </a:solidFill>
                <a:latin typeface="Consolas" pitchFamily="34" charset="0"/>
                <a:ea typeface="Consolas" pitchFamily="34" charset="-122"/>
                <a:cs typeface="Consolas" pitchFamily="34" charset="-120"/>
              </a:rPr>
              <a:t>VENDOR_MODELS = {v: models_for(v) for v in Vendor}</a:t>
            </a:r>
            <a:endParaRPr lang="en-US" sz="1200" dirty="0"/>
          </a:p>
        </p:txBody>
      </p:sp>
      <p:sp>
        <p:nvSpPr>
          <p:cNvPr id="10" name="Text 8"/>
          <p:cNvSpPr/>
          <p:nvPr/>
        </p:nvSpPr>
        <p:spPr>
          <a:xfrm>
            <a:off x="548640" y="5943600"/>
            <a:ext cx="11064240" cy="45720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No hardcoded prefix: a model's vendor IS Vendor.GOOGLE, stored as a reference. qualified name is composed, never typed. 11 models / 5 vendors.</a:t>
            </a:r>
            <a:endParaRPr lang="en-US" sz="1300" dirty="0"/>
          </a:p>
        </p:txBody>
      </p:sp>
      <p:sp>
        <p:nvSpPr>
          <p:cNvPr id="11" name="Text 9">
            <a:hlinkClick r:id="rId1" tooltip="Back to live proof" action="ppaction://hlinksldjump"/>
          </p:cNvPr>
          <p:cNvSpPr/>
          <p:nvPr/>
        </p:nvSpPr>
        <p:spPr>
          <a:xfrm>
            <a:off x="548640" y="6446520"/>
            <a:ext cx="3291840" cy="329184"/>
          </a:xfrm>
          <a:prstGeom prst="rect">
            <a:avLst/>
          </a:prstGeom>
          <a:noFill/>
          <a:ln/>
        </p:spPr>
        <p:txBody>
          <a:bodyPr wrap="square" lIns="0" tIns="0" rIns="0" bIns="0" rtlCol="0" anchor="ctr"/>
          <a:lstStyle/>
          <a:p>
            <a:pPr algn="l" indent="0" marL="0">
              <a:buNone/>
            </a:pPr>
            <a:r>
              <a:rPr lang="en-US" sz="1200" b="1" u="sng" dirty="0">
                <a:solidFill>
                  <a:srgbClr val="6B7280"/>
                </a:solidFill>
                <a:latin typeface="Calibri" pitchFamily="34" charset="0"/>
                <a:ea typeface="Calibri" pitchFamily="34" charset="-122"/>
                <a:cs typeface="Calibri" pitchFamily="34" charset="-120"/>
                <a:hlinkClick r:id="rId1" action="ppaction://hlinksldjump" tooltip="Back to live proof">
                  <a:extLst>
                    <a:ext uri="{A12FA001-AC4F-418D-AE19-62706E023703}">
                      <ahyp:hlinkClr xmlns:ahyp="http://schemas.microsoft.com/office/drawing/2018/hyperlinkcolor" val="tx"/>
                    </a:ext>
                  </a:extLst>
                </a:hlinkClick>
              </a:rPr>
              <a:t>◀  Back to live proof</a:t>
            </a:r>
            <a:endParaRPr lang="en-US" sz="1200" dirty="0"/>
          </a:p>
        </p:txBody>
      </p:sp>
      <p:sp>
        <p:nvSpPr>
          <p:cNvPr id="12" name="Text 10">
            <a:hlinkClick r:id="rId2" tooltip="Next: the cascade" action="ppaction://hlinksldjump"/>
          </p:cNvPr>
          <p:cNvSpPr/>
          <p:nvPr/>
        </p:nvSpPr>
        <p:spPr>
          <a:xfrm>
            <a:off x="8321040" y="6446520"/>
            <a:ext cx="3291840" cy="329184"/>
          </a:xfrm>
          <a:prstGeom prst="rect">
            <a:avLst/>
          </a:prstGeom>
          <a:noFill/>
          <a:ln/>
        </p:spPr>
        <p:txBody>
          <a:bodyPr wrap="square" lIns="0" tIns="0" rIns="0" bIns="0" rtlCol="0" anchor="ctr"/>
          <a:lstStyle/>
          <a:p>
            <a:pPr algn="r" indent="0" marL="0">
              <a:buNone/>
            </a:pPr>
            <a:r>
              <a:rPr lang="en-US" sz="1200" b="1" u="sng" dirty="0">
                <a:solidFill>
                  <a:srgbClr val="7C3AED"/>
                </a:solidFill>
                <a:latin typeface="Calibri" pitchFamily="34" charset="0"/>
                <a:ea typeface="Calibri" pitchFamily="34" charset="-122"/>
                <a:cs typeface="Calibri" pitchFamily="34" charset="-120"/>
                <a:hlinkClick r:id="rId2" action="ppaction://hlinksldjump" tooltip="Next: the cascade">
                  <a:extLst>
                    <a:ext uri="{A12FA001-AC4F-418D-AE19-62706E023703}">
                      <ahyp:hlinkClr xmlns:ahyp="http://schemas.microsoft.com/office/drawing/2018/hyperlinkcolor" val="tx"/>
                    </a:ext>
                  </a:extLst>
                </a:hlinkClick>
              </a:rPr>
              <a:t>Next: the cascade  ▶</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lIns="0" tIns="0" rIns="0" bIns="0" rtlCol="0" anchor="ctr"/>
          <a:lstStyle/>
          <a:p>
            <a:pPr indent="0" marL="0">
              <a:buNone/>
            </a:pPr>
            <a:r>
              <a:rPr lang="en-US" sz="2300" b="1" dirty="0">
                <a:solidFill>
                  <a:srgbClr val="1E1B4B"/>
                </a:solidFill>
                <a:latin typeface="Georgia" pitchFamily="34" charset="0"/>
                <a:ea typeface="Georgia" pitchFamily="34" charset="-122"/>
                <a:cs typeface="Georgia" pitchFamily="34" charset="-120"/>
              </a:rPr>
              <a:t>Adaptation 5 — cascading validation (vendors.py)</a:t>
            </a:r>
            <a:endParaRPr lang="en-US" sz="2300" dirty="0"/>
          </a:p>
        </p:txBody>
      </p:sp>
      <p:sp>
        <p:nvSpPr>
          <p:cNvPr id="3" name="Text 1"/>
          <p:cNvSpPr/>
          <p:nvPr/>
        </p:nvSpPr>
        <p:spPr>
          <a:xfrm>
            <a:off x="548640" y="932688"/>
            <a:ext cx="11064240" cy="365760"/>
          </a:xfrm>
          <a:prstGeom prst="rect">
            <a:avLst/>
          </a:prstGeom>
          <a:noFill/>
          <a:ln/>
        </p:spPr>
        <p:txBody>
          <a:bodyPr wrap="square" lIns="0" tIns="0" rIns="0" bIns="0" rtlCol="0" anchor="ctr"/>
          <a:lstStyle/>
          <a:p>
            <a:pPr indent="0" marL="0">
              <a:buNone/>
            </a:pPr>
            <a:r>
              <a:rPr lang="en-US" sz="1250" b="1" i="1" dirty="0">
                <a:solidFill>
                  <a:srgbClr val="F59E0B"/>
                </a:solidFill>
                <a:latin typeface="Calibri" pitchFamily="34" charset="0"/>
                <a:ea typeface="Calibri" pitchFamily="34" charset="-122"/>
                <a:cs typeface="Calibri" pitchFamily="34" charset="-120"/>
              </a:rPr>
              <a:t>PRESSURE  </a:t>
            </a:r>
            <a:pPr indent="0" marL="0">
              <a:buNone/>
            </a:pPr>
            <a:r>
              <a:rPr lang="en-US" sz="1250" i="1" dirty="0">
                <a:solidFill>
                  <a:srgbClr val="6B7280"/>
                </a:solidFill>
                <a:latin typeface="Calibri" pitchFamily="34" charset="0"/>
                <a:ea typeface="Calibri" pitchFamily="34" charset="-122"/>
                <a:cs typeface="Calibri" pitchFamily="34" charset="-120"/>
              </a:rPr>
              <a:t>wrong vendor+model pair only failed at the API      </a:t>
            </a:r>
            <a:pPr indent="0" marL="0">
              <a:buNone/>
            </a:pPr>
            <a:r>
              <a:rPr lang="en-US" sz="1250" b="1" i="1" dirty="0">
                <a:solidFill>
                  <a:srgbClr val="10B981"/>
                </a:solidFill>
                <a:latin typeface="Calibri" pitchFamily="34" charset="0"/>
                <a:ea typeface="Calibri" pitchFamily="34" charset="-122"/>
                <a:cs typeface="Calibri" pitchFamily="34" charset="-120"/>
              </a:rPr>
              <a:t>ADAPTATION  </a:t>
            </a:r>
            <a:pPr indent="0" marL="0">
              <a:buNone/>
            </a:pPr>
            <a:r>
              <a:rPr lang="en-US" sz="1250" i="1" dirty="0">
                <a:solidFill>
                  <a:srgbClr val="6B7280"/>
                </a:solidFill>
                <a:latin typeface="Calibri" pitchFamily="34" charset="0"/>
                <a:ea typeface="Calibri" pitchFamily="34" charset="-122"/>
                <a:cs typeface="Calibri" pitchFamily="34" charset="-120"/>
              </a:rPr>
              <a:t>the pair cannot be CONSTRUCTED unless the vendor owns it</a:t>
            </a:r>
            <a:endParaRPr lang="en-US" sz="1250" dirty="0"/>
          </a:p>
        </p:txBody>
      </p:sp>
      <p:sp>
        <p:nvSpPr>
          <p:cNvPr id="4" name="Shape 2"/>
          <p:cNvSpPr/>
          <p:nvPr/>
        </p:nvSpPr>
        <p:spPr>
          <a:xfrm>
            <a:off x="548640" y="1417320"/>
            <a:ext cx="3291840" cy="365760"/>
          </a:xfrm>
          <a:prstGeom prst="roundRect">
            <a:avLst>
              <a:gd name="adj" fmla="val 15000"/>
            </a:avLst>
          </a:prstGeom>
          <a:solidFill>
            <a:srgbClr val="7C3AED"/>
          </a:solidFill>
          <a:ln/>
        </p:spPr>
      </p:sp>
      <p:sp>
        <p:nvSpPr>
          <p:cNvPr id="5" name="Text 3"/>
          <p:cNvSpPr/>
          <p:nvPr/>
        </p:nvSpPr>
        <p:spPr>
          <a:xfrm>
            <a:off x="658368" y="1417320"/>
            <a:ext cx="3108960" cy="365760"/>
          </a:xfrm>
          <a:prstGeom prst="rect">
            <a:avLst/>
          </a:prstGeom>
          <a:noFill/>
          <a:ln/>
        </p:spPr>
        <p:txBody>
          <a:bodyPr wrap="square" lIns="0" tIns="0" rIns="0" bIns="0" rtlCol="0" anchor="ctr"/>
          <a:lstStyle/>
          <a:p>
            <a:pPr indent="0" marL="0">
              <a:buNone/>
            </a:pPr>
            <a:r>
              <a:rPr lang="en-US" sz="1100" b="1" dirty="0">
                <a:solidFill>
                  <a:srgbClr val="FFFFFF"/>
                </a:solidFill>
                <a:latin typeface="Consolas" pitchFamily="34" charset="0"/>
                <a:ea typeface="Consolas" pitchFamily="34" charset="-122"/>
                <a:cs typeface="Consolas" pitchFamily="34" charset="-120"/>
              </a:rPr>
              <a:t>a2a_labs/vendors.py</a:t>
            </a:r>
            <a:endParaRPr lang="en-US" sz="1100" dirty="0"/>
          </a:p>
        </p:txBody>
      </p:sp>
      <p:sp>
        <p:nvSpPr>
          <p:cNvPr id="6" name="Shape 4"/>
          <p:cNvSpPr/>
          <p:nvPr/>
        </p:nvSpPr>
        <p:spPr>
          <a:xfrm>
            <a:off x="548640" y="1783080"/>
            <a:ext cx="6858000" cy="4617720"/>
          </a:xfrm>
          <a:prstGeom prst="rect">
            <a:avLst/>
          </a:prstGeom>
          <a:solidFill>
            <a:srgbClr val="1E1B4B"/>
          </a:solidFill>
          <a:ln/>
          <a:effectLst>
            <a:outerShdw sx="100000" sy="100000" kx="0" ky="0" algn="bl" rotWithShape="0" blurRad="101600" dist="38100" dir="8100000">
              <a:srgbClr val="000000">
                <a:alpha val="20000"/>
              </a:srgbClr>
            </a:outerShdw>
          </a:effectLst>
        </p:spPr>
      </p:sp>
      <p:sp>
        <p:nvSpPr>
          <p:cNvPr id="7" name="Text 5"/>
          <p:cNvSpPr/>
          <p:nvPr/>
        </p:nvSpPr>
        <p:spPr>
          <a:xfrm>
            <a:off x="749808" y="1892808"/>
            <a:ext cx="6492240" cy="4434840"/>
          </a:xfrm>
          <a:prstGeom prst="rect">
            <a:avLst/>
          </a:prstGeom>
          <a:noFill/>
          <a:ln/>
        </p:spPr>
        <p:txBody>
          <a:bodyPr wrap="square" lIns="0" tIns="0" rIns="0" bIns="0" rtlCol="0" anchor="t"/>
          <a:lstStyle/>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class VendorModelSelection(BaseModel):</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model_config = ConfigDict(frozen=True)</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vendor: Vendor</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model:  VendorModel</a:t>
            </a:r>
            <a:endParaRPr lang="en-US" sz="1100" dirty="0"/>
          </a:p>
          <a:p>
            <a:pPr indent="0" marL="0">
              <a:lnSpc>
                <a:spcPct val="112000"/>
              </a:lnSpc>
              <a:buNone/>
            </a:pP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@model_validator(mode="after")</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def _cascade(self):</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allowed = VENDOR_MODELS[self.vendor]</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if self.model not in allowed:</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raise ValueError(</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f"{self.model.bare_name!r} is not "</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f"a {self.vendor.value} model.")</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return self</a:t>
            </a:r>
            <a:endParaRPr lang="en-US" sz="1100" dirty="0"/>
          </a:p>
          <a:p>
            <a:pPr indent="0" marL="0">
              <a:lnSpc>
                <a:spcPct val="112000"/>
              </a:lnSpc>
              <a:buNone/>
            </a:pP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@classmethod</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def for_model(cls, model):</a:t>
            </a:r>
            <a:endParaRPr lang="en-US" sz="1100" dirty="0"/>
          </a:p>
          <a:p>
            <a:pPr indent="0" marL="0">
              <a:lnSpc>
                <a:spcPct val="112000"/>
              </a:lnSpc>
              <a:buNone/>
            </a:pPr>
            <a:r>
              <a:rPr lang="en-US" sz="1100" dirty="0">
                <a:solidFill>
                  <a:srgbClr val="EDE9FE"/>
                </a:solidFill>
                <a:latin typeface="Consolas" pitchFamily="34" charset="0"/>
                <a:ea typeface="Consolas" pitchFamily="34" charset="-122"/>
                <a:cs typeface="Consolas" pitchFamily="34" charset="-120"/>
              </a:rPr>
              <a:t>        return cls(vendor=model.vendor, model=model)</a:t>
            </a:r>
            <a:endParaRPr lang="en-US" sz="1100" dirty="0"/>
          </a:p>
        </p:txBody>
      </p:sp>
      <p:sp>
        <p:nvSpPr>
          <p:cNvPr id="8" name="Shape 6"/>
          <p:cNvSpPr/>
          <p:nvPr/>
        </p:nvSpPr>
        <p:spPr>
          <a:xfrm>
            <a:off x="7680960" y="1545336"/>
            <a:ext cx="274320" cy="274320"/>
          </a:xfrm>
          <a:prstGeom prst="ellipse">
            <a:avLst/>
          </a:prstGeom>
          <a:solidFill>
            <a:srgbClr val="10B981"/>
          </a:solidFill>
          <a:ln/>
        </p:spPr>
      </p:sp>
      <p:sp>
        <p:nvSpPr>
          <p:cNvPr id="9" name="Text 7"/>
          <p:cNvSpPr/>
          <p:nvPr/>
        </p:nvSpPr>
        <p:spPr>
          <a:xfrm>
            <a:off x="7680960" y="154533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10" name="Text 8"/>
          <p:cNvSpPr/>
          <p:nvPr/>
        </p:nvSpPr>
        <p:spPr>
          <a:xfrm>
            <a:off x="8092440" y="1490472"/>
            <a:ext cx="3520440" cy="1097280"/>
          </a:xfrm>
          <a:prstGeom prst="rect">
            <a:avLst/>
          </a:prstGeom>
          <a:noFill/>
          <a:ln/>
        </p:spPr>
        <p:txBody>
          <a:bodyPr wrap="square" lIns="0" tIns="0" rIns="0" bIns="0" rtlCol="0" anchor="t"/>
          <a:lstStyle/>
          <a:p>
            <a:pPr indent="0" marL="0">
              <a:lnSpc>
                <a:spcPct val="105000"/>
              </a:lnSpc>
              <a:buNone/>
            </a:pPr>
            <a:r>
              <a:rPr lang="en-US" sz="1350" dirty="0">
                <a:solidFill>
                  <a:srgbClr val="1E1B4B"/>
                </a:solidFill>
                <a:latin typeface="Calibri" pitchFamily="34" charset="0"/>
                <a:ea typeface="Calibri" pitchFamily="34" charset="-122"/>
                <a:cs typeface="Calibri" pitchFamily="34" charset="-120"/>
              </a:rPr>
              <a:t>Validated at construction — vendor must OWN the model or the object never exists.</a:t>
            </a:r>
            <a:endParaRPr lang="en-US" sz="1350" dirty="0"/>
          </a:p>
        </p:txBody>
      </p:sp>
      <p:sp>
        <p:nvSpPr>
          <p:cNvPr id="11" name="Shape 9"/>
          <p:cNvSpPr/>
          <p:nvPr/>
        </p:nvSpPr>
        <p:spPr>
          <a:xfrm>
            <a:off x="7680960" y="2916936"/>
            <a:ext cx="274320" cy="274320"/>
          </a:xfrm>
          <a:prstGeom prst="ellipse">
            <a:avLst/>
          </a:prstGeom>
          <a:solidFill>
            <a:srgbClr val="10B981"/>
          </a:solidFill>
          <a:ln/>
        </p:spPr>
      </p:sp>
      <p:sp>
        <p:nvSpPr>
          <p:cNvPr id="12" name="Text 10"/>
          <p:cNvSpPr/>
          <p:nvPr/>
        </p:nvSpPr>
        <p:spPr>
          <a:xfrm>
            <a:off x="7680960" y="291693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3" name="Text 11"/>
          <p:cNvSpPr/>
          <p:nvPr/>
        </p:nvSpPr>
        <p:spPr>
          <a:xfrm>
            <a:off x="8092440" y="2862072"/>
            <a:ext cx="3520440" cy="1097280"/>
          </a:xfrm>
          <a:prstGeom prst="rect">
            <a:avLst/>
          </a:prstGeom>
          <a:noFill/>
          <a:ln/>
        </p:spPr>
        <p:txBody>
          <a:bodyPr wrap="square" lIns="0" tIns="0" rIns="0" bIns="0" rtlCol="0" anchor="t"/>
          <a:lstStyle/>
          <a:p>
            <a:pPr indent="0" marL="0">
              <a:lnSpc>
                <a:spcPct val="105000"/>
              </a:lnSpc>
              <a:buNone/>
            </a:pPr>
            <a:r>
              <a:rPr lang="en-US" sz="1350" dirty="0">
                <a:solidFill>
                  <a:srgbClr val="1E1B4B"/>
                </a:solidFill>
                <a:latin typeface="Calibri" pitchFamily="34" charset="0"/>
                <a:ea typeface="Calibri" pitchFamily="34" charset="-122"/>
                <a:cs typeface="Calibri" pitchFamily="34" charset="-120"/>
              </a:rPr>
              <a:t>The CASCADE: the vendor constrains which models are even constructible.</a:t>
            </a:r>
            <a:endParaRPr lang="en-US" sz="1350" dirty="0"/>
          </a:p>
        </p:txBody>
      </p:sp>
      <p:sp>
        <p:nvSpPr>
          <p:cNvPr id="14" name="Shape 12"/>
          <p:cNvSpPr/>
          <p:nvPr/>
        </p:nvSpPr>
        <p:spPr>
          <a:xfrm>
            <a:off x="7680960" y="4288536"/>
            <a:ext cx="274320" cy="274320"/>
          </a:xfrm>
          <a:prstGeom prst="ellipse">
            <a:avLst/>
          </a:prstGeom>
          <a:solidFill>
            <a:srgbClr val="10B981"/>
          </a:solidFill>
          <a:ln/>
        </p:spPr>
      </p:sp>
      <p:sp>
        <p:nvSpPr>
          <p:cNvPr id="15" name="Text 13"/>
          <p:cNvSpPr/>
          <p:nvPr/>
        </p:nvSpPr>
        <p:spPr>
          <a:xfrm>
            <a:off x="7680960" y="4288536"/>
            <a:ext cx="27432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16" name="Text 14"/>
          <p:cNvSpPr/>
          <p:nvPr/>
        </p:nvSpPr>
        <p:spPr>
          <a:xfrm>
            <a:off x="8092440" y="4233672"/>
            <a:ext cx="3520440" cy="1097280"/>
          </a:xfrm>
          <a:prstGeom prst="rect">
            <a:avLst/>
          </a:prstGeom>
          <a:noFill/>
          <a:ln/>
        </p:spPr>
        <p:txBody>
          <a:bodyPr wrap="square" lIns="0" tIns="0" rIns="0" bIns="0" rtlCol="0" anchor="t"/>
          <a:lstStyle/>
          <a:p>
            <a:pPr indent="0" marL="0">
              <a:lnSpc>
                <a:spcPct val="105000"/>
              </a:lnSpc>
              <a:buNone/>
            </a:pPr>
            <a:r>
              <a:rPr lang="en-US" sz="1350" dirty="0">
                <a:solidFill>
                  <a:srgbClr val="1E1B4B"/>
                </a:solidFill>
                <a:latin typeface="Calibri" pitchFamily="34" charset="0"/>
                <a:ea typeface="Calibri" pitchFamily="34" charset="-122"/>
                <a:cs typeface="Calibri" pitchFamily="34" charset="-120"/>
              </a:rPr>
              <a:t>for_model() derives the vendor — you literally cannot pick the wrong one.</a:t>
            </a:r>
            <a:endParaRPr lang="en-US" sz="1350" dirty="0"/>
          </a:p>
        </p:txBody>
      </p:sp>
      <p:sp>
        <p:nvSpPr>
          <p:cNvPr id="17" name="Text 15">
            <a:hlinkClick r:id="rId1" tooltip="Prev: vendor/provider" action="ppaction://hlinksldjump"/>
          </p:cNvPr>
          <p:cNvSpPr/>
          <p:nvPr/>
        </p:nvSpPr>
        <p:spPr>
          <a:xfrm>
            <a:off x="548640" y="6446520"/>
            <a:ext cx="3291840" cy="329184"/>
          </a:xfrm>
          <a:prstGeom prst="rect">
            <a:avLst/>
          </a:prstGeom>
          <a:noFill/>
          <a:ln/>
        </p:spPr>
        <p:txBody>
          <a:bodyPr wrap="square" lIns="0" tIns="0" rIns="0" bIns="0" rtlCol="0" anchor="ctr"/>
          <a:lstStyle/>
          <a:p>
            <a:pPr algn="l" indent="0" marL="0">
              <a:buNone/>
            </a:pPr>
            <a:r>
              <a:rPr lang="en-US" sz="1200" b="1" u="sng" dirty="0">
                <a:solidFill>
                  <a:srgbClr val="6B7280"/>
                </a:solidFill>
                <a:latin typeface="Calibri" pitchFamily="34" charset="0"/>
                <a:ea typeface="Calibri" pitchFamily="34" charset="-122"/>
                <a:cs typeface="Calibri" pitchFamily="34" charset="-120"/>
                <a:hlinkClick r:id="rId1" action="ppaction://hlinksldjump" tooltip="Prev: vendor/provider">
                  <a:extLst>
                    <a:ext uri="{A12FA001-AC4F-418D-AE19-62706E023703}">
                      <ahyp:hlinkClr xmlns:ahyp="http://schemas.microsoft.com/office/drawing/2018/hyperlinkcolor" val="tx"/>
                    </a:ext>
                  </a:extLst>
                </a:hlinkClick>
              </a:rPr>
              <a:t>◀  Prev: vendor/provider</a:t>
            </a:r>
            <a:endParaRPr lang="en-US" sz="1200" dirty="0"/>
          </a:p>
        </p:txBody>
      </p:sp>
      <p:sp>
        <p:nvSpPr>
          <p:cNvPr id="18" name="Shape 16"/>
          <p:cNvSpPr/>
          <p:nvPr/>
        </p:nvSpPr>
        <p:spPr>
          <a:xfrm>
            <a:off x="4709160" y="6428232"/>
            <a:ext cx="2743200" cy="365760"/>
          </a:xfrm>
          <a:prstGeom prst="roundRect">
            <a:avLst>
              <a:gd name="adj" fmla="val 15000"/>
            </a:avLst>
          </a:prstGeom>
          <a:solidFill>
            <a:srgbClr val="10B981"/>
          </a:solidFill>
          <a:ln/>
        </p:spPr>
      </p:sp>
      <p:sp>
        <p:nvSpPr>
          <p:cNvPr id="19" name="Text 17">
            <a:hlinkClick r:id="rId2" tooltip="See cascade reject" action="ppaction://hlinksldjump"/>
          </p:cNvPr>
          <p:cNvSpPr/>
          <p:nvPr/>
        </p:nvSpPr>
        <p:spPr>
          <a:xfrm>
            <a:off x="4709160" y="6428232"/>
            <a:ext cx="2743200" cy="365760"/>
          </a:xfrm>
          <a:prstGeom prst="rect">
            <a:avLst/>
          </a:prstGeom>
          <a:noFill/>
          <a:ln/>
        </p:spPr>
        <p:txBody>
          <a:bodyPr wrap="square" lIns="0" tIns="0" rIns="0" bIns="0" rtlCol="0" anchor="ctr"/>
          <a:lstStyle/>
          <a:p>
            <a:pPr algn="ctr" indent="0" marL="0">
              <a:buNone/>
            </a:pPr>
            <a:r>
              <a:rPr lang="en-US" sz="1200" b="1" u="sng" dirty="0">
                <a:solidFill>
                  <a:srgbClr val="FFFFFF"/>
                </a:solidFill>
                <a:latin typeface="Calibri" pitchFamily="34" charset="0"/>
                <a:ea typeface="Calibri" pitchFamily="34" charset="-122"/>
                <a:cs typeface="Calibri" pitchFamily="34" charset="-120"/>
                <a:hlinkClick r:id="rId2" action="ppaction://hlinksldjump" tooltip="See cascade reject">
                  <a:extLst>
                    <a:ext uri="{A12FA001-AC4F-418D-AE19-62706E023703}">
                      <ahyp:hlinkClr xmlns:ahyp="http://schemas.microsoft.com/office/drawing/2018/hyperlinkcolor" val="tx"/>
                    </a:ext>
                  </a:extLst>
                </a:hlinkClick>
              </a:rPr>
              <a:t>▶  See cascade reject</a:t>
            </a:r>
            <a:endParaRPr lang="en-US" sz="1200" dirty="0"/>
          </a:p>
        </p:txBody>
      </p:sp>
      <p:sp>
        <p:nvSpPr>
          <p:cNvPr id="20" name="Text 18">
            <a:hlinkClick r:id="rId3" tooltip="Live proof" action="ppaction://hlinksldjump"/>
          </p:cNvPr>
          <p:cNvSpPr/>
          <p:nvPr/>
        </p:nvSpPr>
        <p:spPr>
          <a:xfrm>
            <a:off x="8321040" y="6446520"/>
            <a:ext cx="3291840" cy="329184"/>
          </a:xfrm>
          <a:prstGeom prst="rect">
            <a:avLst/>
          </a:prstGeom>
          <a:noFill/>
          <a:ln/>
        </p:spPr>
        <p:txBody>
          <a:bodyPr wrap="square" lIns="0" tIns="0" rIns="0" bIns="0" rtlCol="0" anchor="ctr"/>
          <a:lstStyle/>
          <a:p>
            <a:pPr algn="r" indent="0" marL="0">
              <a:buNone/>
            </a:pPr>
            <a:r>
              <a:rPr lang="en-US" sz="1200" b="1" u="sng" dirty="0">
                <a:solidFill>
                  <a:srgbClr val="7C3AED"/>
                </a:solidFill>
                <a:latin typeface="Calibri" pitchFamily="34" charset="0"/>
                <a:ea typeface="Calibri" pitchFamily="34" charset="-122"/>
                <a:cs typeface="Calibri" pitchFamily="34" charset="-120"/>
                <a:hlinkClick r:id="rId3" action="ppaction://hlinksldjump" tooltip="Live proof">
                  <a:extLst>
                    <a:ext uri="{A12FA001-AC4F-418D-AE19-62706E023703}">
                      <ahyp:hlinkClr xmlns:ahyp="http://schemas.microsoft.com/office/drawing/2018/hyperlinkcolor" val="tx"/>
                    </a:ext>
                  </a:extLst>
                </a:hlinkClick>
              </a:rPr>
              <a:t>Live proof  ▶</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lIns="0" tIns="0" rIns="0" bIns="0" rtlCol="0" anchor="ctr"/>
          <a:lstStyle/>
          <a:p>
            <a:pPr indent="0" marL="0">
              <a:buNone/>
            </a:pPr>
            <a:r>
              <a:rPr lang="en-US" sz="2400" b="1" dirty="0">
                <a:solidFill>
                  <a:srgbClr val="1E1B4B"/>
                </a:solidFill>
                <a:latin typeface="Georgia" pitchFamily="34" charset="0"/>
                <a:ea typeface="Georgia" pitchFamily="34" charset="-122"/>
                <a:cs typeface="Georgia" pitchFamily="34" charset="-120"/>
              </a:rPr>
              <a:t>Fitness test — the wrong pair cannot be built</a:t>
            </a:r>
            <a:endParaRPr lang="en-US" sz="2400" dirty="0"/>
          </a:p>
        </p:txBody>
      </p:sp>
      <p:sp>
        <p:nvSpPr>
          <p:cNvPr id="3" name="Shape 1"/>
          <p:cNvSpPr/>
          <p:nvPr/>
        </p:nvSpPr>
        <p:spPr>
          <a:xfrm>
            <a:off x="822960" y="1188720"/>
            <a:ext cx="10515600" cy="4206240"/>
          </a:xfrm>
          <a:prstGeom prst="roundRect">
            <a:avLst>
              <a:gd name="adj" fmla="val 1739"/>
            </a:avLst>
          </a:prstGeom>
          <a:solidFill>
            <a:srgbClr val="0B0A1F"/>
          </a:solidFill>
          <a:ln/>
          <a:effectLst>
            <a:outerShdw sx="100000" sy="100000" kx="0" ky="0" algn="bl" rotWithShape="0" blurRad="101600" dist="38100" dir="8100000">
              <a:srgbClr val="000000">
                <a:alpha val="20000"/>
              </a:srgbClr>
            </a:outerShdw>
          </a:effectLst>
        </p:spPr>
      </p:sp>
      <p:sp>
        <p:nvSpPr>
          <p:cNvPr id="4" name="Shape 2"/>
          <p:cNvSpPr/>
          <p:nvPr/>
        </p:nvSpPr>
        <p:spPr>
          <a:xfrm>
            <a:off x="1051560" y="1371600"/>
            <a:ext cx="164592" cy="164592"/>
          </a:xfrm>
          <a:prstGeom prst="ellipse">
            <a:avLst/>
          </a:prstGeom>
          <a:solidFill>
            <a:srgbClr val="FF5F56"/>
          </a:solidFill>
          <a:ln/>
        </p:spPr>
      </p:sp>
      <p:sp>
        <p:nvSpPr>
          <p:cNvPr id="5" name="Shape 3"/>
          <p:cNvSpPr/>
          <p:nvPr/>
        </p:nvSpPr>
        <p:spPr>
          <a:xfrm>
            <a:off x="1344168" y="1371600"/>
            <a:ext cx="164592" cy="164592"/>
          </a:xfrm>
          <a:prstGeom prst="ellipse">
            <a:avLst/>
          </a:prstGeom>
          <a:solidFill>
            <a:srgbClr val="FFBD2E"/>
          </a:solidFill>
          <a:ln/>
        </p:spPr>
      </p:sp>
      <p:sp>
        <p:nvSpPr>
          <p:cNvPr id="6" name="Shape 4"/>
          <p:cNvSpPr/>
          <p:nvPr/>
        </p:nvSpPr>
        <p:spPr>
          <a:xfrm>
            <a:off x="1636776" y="1371600"/>
            <a:ext cx="164592" cy="164592"/>
          </a:xfrm>
          <a:prstGeom prst="ellipse">
            <a:avLst/>
          </a:prstGeom>
          <a:solidFill>
            <a:srgbClr val="27C93F"/>
          </a:solidFill>
          <a:ln/>
        </p:spPr>
      </p:sp>
      <p:sp>
        <p:nvSpPr>
          <p:cNvPr id="7" name="Text 5"/>
          <p:cNvSpPr/>
          <p:nvPr/>
        </p:nvSpPr>
        <p:spPr>
          <a:xfrm>
            <a:off x="1097280" y="1783080"/>
            <a:ext cx="10058400" cy="3429000"/>
          </a:xfrm>
          <a:prstGeom prst="rect">
            <a:avLst/>
          </a:prstGeom>
          <a:noFill/>
          <a:ln/>
        </p:spPr>
        <p:txBody>
          <a:bodyPr wrap="square" lIns="0" tIns="0" rIns="0" bIns="0" rtlCol="0" anchor="t"/>
          <a:lstStyle/>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 PYTHONPATH=src python demo_vendors.py</a:t>
            </a:r>
            <a:endParaRPr lang="en-US" sz="1400" dirty="0"/>
          </a:p>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&gt;&gt;&gt; VendorModelSelection.for_model(VendorModel.GEMINI_PRO)</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    vendor='google' model='gemini-3.1-pro-preview'   # cascade passed</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 </a:t>
            </a:r>
            <a:endParaRPr lang="en-US" sz="1400" dirty="0"/>
          </a:p>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&gt;&gt;&gt; VendorModelSelection(vendor=Vendor.OPENAI,</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                      model=VendorModel.GEMINI_PRO)</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ValidationError: 'gemini-3.1-pro-preview' is not an openai model.</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                 Valid openai models: ['gpt-5']</a:t>
            </a:r>
            <a:endParaRPr lang="en-US" sz="1400" dirty="0"/>
          </a:p>
        </p:txBody>
      </p:sp>
      <p:sp>
        <p:nvSpPr>
          <p:cNvPr id="8" name="Text 6"/>
          <p:cNvSpPr/>
          <p:nvPr/>
        </p:nvSpPr>
        <p:spPr>
          <a:xfrm>
            <a:off x="822960" y="5577840"/>
            <a:ext cx="10515600" cy="822960"/>
          </a:xfrm>
          <a:prstGeom prst="rect">
            <a:avLst/>
          </a:prstGeom>
          <a:noFill/>
          <a:ln/>
        </p:spPr>
        <p:txBody>
          <a:bodyPr wrap="square" lIns="0" tIns="0" rIns="0" bIns="0" rtlCol="0" anchor="ctr"/>
          <a:lstStyle/>
          <a:p>
            <a:pPr indent="0" marL="0">
              <a:buNone/>
            </a:pPr>
            <a:r>
              <a:rPr lang="en-US" sz="1600" i="1" dirty="0">
                <a:solidFill>
                  <a:srgbClr val="6B7280"/>
                </a:solidFill>
                <a:latin typeface="Calibri" pitchFamily="34" charset="0"/>
                <a:ea typeface="Calibri" pitchFamily="34" charset="-122"/>
                <a:cs typeface="Calibri" pitchFamily="34" charset="-120"/>
              </a:rPr>
              <a:t>Real output. The valid pair builds; the cross-vendor pair raises at construction — the adaptation is fit.</a:t>
            </a:r>
            <a:endParaRPr lang="en-US" sz="1600" dirty="0"/>
          </a:p>
        </p:txBody>
      </p:sp>
      <p:sp>
        <p:nvSpPr>
          <p:cNvPr id="9" name="Text 7">
            <a:hlinkClick r:id="rId1" tooltip="Back to cascade code" action="ppaction://hlinksldjump"/>
          </p:cNvPr>
          <p:cNvSpPr/>
          <p:nvPr/>
        </p:nvSpPr>
        <p:spPr>
          <a:xfrm>
            <a:off x="548640" y="6446520"/>
            <a:ext cx="3291840" cy="329184"/>
          </a:xfrm>
          <a:prstGeom prst="rect">
            <a:avLst/>
          </a:prstGeom>
          <a:noFill/>
          <a:ln/>
        </p:spPr>
        <p:txBody>
          <a:bodyPr wrap="square" lIns="0" tIns="0" rIns="0" bIns="0" rtlCol="0" anchor="ctr"/>
          <a:lstStyle/>
          <a:p>
            <a:pPr algn="l" indent="0" marL="0">
              <a:buNone/>
            </a:pPr>
            <a:r>
              <a:rPr lang="en-US" sz="1200" b="1" u="sng" dirty="0">
                <a:solidFill>
                  <a:srgbClr val="6B7280"/>
                </a:solidFill>
                <a:latin typeface="Calibri" pitchFamily="34" charset="0"/>
                <a:ea typeface="Calibri" pitchFamily="34" charset="-122"/>
                <a:cs typeface="Calibri" pitchFamily="34" charset="-120"/>
                <a:hlinkClick r:id="rId1" action="ppaction://hlinksldjump" tooltip="Back to cascade code">
                  <a:extLst>
                    <a:ext uri="{A12FA001-AC4F-418D-AE19-62706E023703}">
                      <ahyp:hlinkClr xmlns:ahyp="http://schemas.microsoft.com/office/drawing/2018/hyperlinkcolor" val="tx"/>
                    </a:ext>
                  </a:extLst>
                </a:hlinkClick>
              </a:rPr>
              <a:t>◀  Back to cascade code</a:t>
            </a:r>
            <a:endParaRPr lang="en-US" sz="1200" dirty="0"/>
          </a:p>
        </p:txBody>
      </p:sp>
      <p:sp>
        <p:nvSpPr>
          <p:cNvPr id="10" name="Text 8">
            <a:hlinkClick r:id="rId2" tooltip="Next: Settings" action="ppaction://hlinksldjump"/>
          </p:cNvPr>
          <p:cNvSpPr/>
          <p:nvPr/>
        </p:nvSpPr>
        <p:spPr>
          <a:xfrm>
            <a:off x="8321040" y="6446520"/>
            <a:ext cx="3291840" cy="329184"/>
          </a:xfrm>
          <a:prstGeom prst="rect">
            <a:avLst/>
          </a:prstGeom>
          <a:noFill/>
          <a:ln/>
        </p:spPr>
        <p:txBody>
          <a:bodyPr wrap="square" lIns="0" tIns="0" rIns="0" bIns="0" rtlCol="0" anchor="ctr"/>
          <a:lstStyle/>
          <a:p>
            <a:pPr algn="r" indent="0" marL="0">
              <a:buNone/>
            </a:pPr>
            <a:r>
              <a:rPr lang="en-US" sz="1200" b="1" u="sng" dirty="0">
                <a:solidFill>
                  <a:srgbClr val="7C3AED"/>
                </a:solidFill>
                <a:latin typeface="Calibri" pitchFamily="34" charset="0"/>
                <a:ea typeface="Calibri" pitchFamily="34" charset="-122"/>
                <a:cs typeface="Calibri" pitchFamily="34" charset="-120"/>
                <a:hlinkClick r:id="rId2" action="ppaction://hlinksldjump" tooltip="Next: Settings">
                  <a:extLst>
                    <a:ext uri="{A12FA001-AC4F-418D-AE19-62706E023703}">
                      <ahyp:hlinkClr xmlns:ahyp="http://schemas.microsoft.com/office/drawing/2018/hyperlinkcolor" val="tx"/>
                    </a:ext>
                  </a:extLst>
                </a:hlinkClick>
              </a:rPr>
              <a:t>Next: Settings  ▶</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548640"/>
          </a:xfrm>
          <a:prstGeom prst="rect">
            <a:avLst/>
          </a:prstGeom>
          <a:noFill/>
          <a:ln/>
        </p:spPr>
        <p:txBody>
          <a:bodyPr wrap="square" lIns="0" tIns="0" rIns="0" bIns="0" rtlCol="0" anchor="ctr"/>
          <a:lstStyle/>
          <a:p>
            <a:pPr indent="0" marL="0">
              <a:buNone/>
            </a:pPr>
            <a:r>
              <a:rPr lang="en-US" sz="2400" b="1" dirty="0">
                <a:solidFill>
                  <a:srgbClr val="1E1B4B"/>
                </a:solidFill>
                <a:latin typeface="Georgia" pitchFamily="34" charset="0"/>
                <a:ea typeface="Georgia" pitchFamily="34" charset="-122"/>
                <a:cs typeface="Georgia" pitchFamily="34" charset="-120"/>
              </a:rPr>
              <a:t>Adaptation 6 — the whole config contract (config.py)</a:t>
            </a:r>
            <a:endParaRPr lang="en-US" sz="2400" dirty="0"/>
          </a:p>
        </p:txBody>
      </p:sp>
      <p:sp>
        <p:nvSpPr>
          <p:cNvPr id="3" name="Shape 1"/>
          <p:cNvSpPr/>
          <p:nvPr/>
        </p:nvSpPr>
        <p:spPr>
          <a:xfrm>
            <a:off x="548640" y="1280160"/>
            <a:ext cx="3840480" cy="384048"/>
          </a:xfrm>
          <a:prstGeom prst="roundRect">
            <a:avLst>
              <a:gd name="adj" fmla="val 14286"/>
            </a:avLst>
          </a:prstGeom>
          <a:solidFill>
            <a:srgbClr val="7C3AED"/>
          </a:solidFill>
          <a:ln/>
        </p:spPr>
      </p:sp>
      <p:sp>
        <p:nvSpPr>
          <p:cNvPr id="4" name="Text 2"/>
          <p:cNvSpPr/>
          <p:nvPr/>
        </p:nvSpPr>
        <p:spPr>
          <a:xfrm>
            <a:off x="685800" y="1280160"/>
            <a:ext cx="3657600" cy="384048"/>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a2a_labs/config.py</a:t>
            </a:r>
            <a:endParaRPr lang="en-US" sz="1200" dirty="0"/>
          </a:p>
        </p:txBody>
      </p:sp>
      <p:sp>
        <p:nvSpPr>
          <p:cNvPr id="5" name="Text 3"/>
          <p:cNvSpPr/>
          <p:nvPr/>
        </p:nvSpPr>
        <p:spPr>
          <a:xfrm>
            <a:off x="548640" y="932688"/>
            <a:ext cx="11064240" cy="365760"/>
          </a:xfrm>
          <a:prstGeom prst="rect">
            <a:avLst/>
          </a:prstGeom>
          <a:noFill/>
          <a:ln/>
        </p:spPr>
        <p:txBody>
          <a:bodyPr wrap="square" lIns="0" tIns="0" rIns="0" bIns="0" rtlCol="0" anchor="ctr"/>
          <a:lstStyle/>
          <a:p>
            <a:pPr indent="0" marL="0">
              <a:buNone/>
            </a:pPr>
            <a:r>
              <a:rPr lang="en-US" sz="1250" b="1" i="1" dirty="0">
                <a:solidFill>
                  <a:srgbClr val="F59E0B"/>
                </a:solidFill>
                <a:latin typeface="Calibri" pitchFamily="34" charset="0"/>
                <a:ea typeface="Calibri" pitchFamily="34" charset="-122"/>
                <a:cs typeface="Calibri" pitchFamily="34" charset="-120"/>
              </a:rPr>
              <a:t>PRESSURE  </a:t>
            </a:r>
            <a:pPr indent="0" marL="0">
              <a:buNone/>
            </a:pPr>
            <a:r>
              <a:rPr lang="en-US" sz="1250" i="1" dirty="0">
                <a:solidFill>
                  <a:srgbClr val="6B7280"/>
                </a:solidFill>
                <a:latin typeface="Calibri" pitchFamily="34" charset="0"/>
                <a:ea typeface="Calibri" pitchFamily="34" charset="-122"/>
                <a:cs typeface="Calibri" pitchFamily="34" charset="-120"/>
              </a:rPr>
              <a:t>config was implicit: whatever the environment happened to hold      </a:t>
            </a:r>
            <a:pPr indent="0" marL="0">
              <a:buNone/>
            </a:pPr>
            <a:r>
              <a:rPr lang="en-US" sz="1250" b="1" i="1" dirty="0">
                <a:solidFill>
                  <a:srgbClr val="10B981"/>
                </a:solidFill>
                <a:latin typeface="Calibri" pitchFamily="34" charset="0"/>
                <a:ea typeface="Calibri" pitchFamily="34" charset="-122"/>
                <a:cs typeface="Calibri" pitchFamily="34" charset="-120"/>
              </a:rPr>
              <a:t>ADAPTATION  </a:t>
            </a:r>
            <a:pPr indent="0" marL="0">
              <a:buNone/>
            </a:pPr>
            <a:r>
              <a:rPr lang="en-US" sz="1250" i="1" dirty="0">
                <a:solidFill>
                  <a:srgbClr val="6B7280"/>
                </a:solidFill>
                <a:latin typeface="Calibri" pitchFamily="34" charset="0"/>
                <a:ea typeface="Calibri" pitchFamily="34" charset="-122"/>
                <a:cs typeface="Calibri" pitchFamily="34" charset="-120"/>
              </a:rPr>
              <a:t>one typed, validated object documents AND enforces it</a:t>
            </a:r>
            <a:endParaRPr lang="en-US" sz="1250" dirty="0"/>
          </a:p>
        </p:txBody>
      </p:sp>
      <p:sp>
        <p:nvSpPr>
          <p:cNvPr id="6" name="Shape 4"/>
          <p:cNvSpPr/>
          <p:nvPr/>
        </p:nvSpPr>
        <p:spPr>
          <a:xfrm>
            <a:off x="548640" y="1664208"/>
            <a:ext cx="11064240" cy="4279392"/>
          </a:xfrm>
          <a:prstGeom prst="rect">
            <a:avLst/>
          </a:prstGeom>
          <a:solidFill>
            <a:srgbClr val="1E1B4B"/>
          </a:solidFill>
          <a:ln/>
          <a:effectLst>
            <a:outerShdw sx="100000" sy="100000" kx="0" ky="0" algn="bl" rotWithShape="0" blurRad="101600" dist="38100" dir="8100000">
              <a:srgbClr val="000000">
                <a:alpha val="20000"/>
              </a:srgbClr>
            </a:outerShdw>
          </a:effectLst>
        </p:spPr>
      </p:sp>
      <p:sp>
        <p:nvSpPr>
          <p:cNvPr id="7" name="Shape 5"/>
          <p:cNvSpPr/>
          <p:nvPr/>
        </p:nvSpPr>
        <p:spPr>
          <a:xfrm>
            <a:off x="548640" y="1664208"/>
            <a:ext cx="502920" cy="4279392"/>
          </a:xfrm>
          <a:prstGeom prst="rect">
            <a:avLst/>
          </a:prstGeom>
          <a:solidFill>
            <a:srgbClr val="151238"/>
          </a:solidFill>
          <a:ln/>
        </p:spPr>
      </p:sp>
      <p:sp>
        <p:nvSpPr>
          <p:cNvPr id="8" name="Text 6"/>
          <p:cNvSpPr/>
          <p:nvPr/>
        </p:nvSpPr>
        <p:spPr>
          <a:xfrm>
            <a:off x="566928" y="1773936"/>
            <a:ext cx="457200" cy="4096512"/>
          </a:xfrm>
          <a:prstGeom prst="rect">
            <a:avLst/>
          </a:prstGeom>
          <a:noFill/>
          <a:ln/>
        </p:spPr>
        <p:txBody>
          <a:bodyPr wrap="square" lIns="0" tIns="0" rIns="0" bIns="0" rtlCol="0" anchor="t"/>
          <a:lstStyle/>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1</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2</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3</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4</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5</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6</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7</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8</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 9</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10</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11</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12</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13</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14</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15</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16</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17</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18</a:t>
            </a:r>
            <a:endParaRPr lang="en-US" sz="1150" dirty="0"/>
          </a:p>
          <a:p>
            <a:pPr algn="r" indent="0" marL="0">
              <a:lnSpc>
                <a:spcPct val="112000"/>
              </a:lnSpc>
              <a:buNone/>
            </a:pPr>
            <a:r>
              <a:rPr lang="en-US" sz="1150" dirty="0">
                <a:solidFill>
                  <a:srgbClr val="6B5FA8"/>
                </a:solidFill>
                <a:latin typeface="Consolas" pitchFamily="34" charset="0"/>
                <a:ea typeface="Consolas" pitchFamily="34" charset="-122"/>
                <a:cs typeface="Consolas" pitchFamily="34" charset="-120"/>
              </a:rPr>
              <a:t>19</a:t>
            </a:r>
            <a:endParaRPr lang="en-US" sz="1150" dirty="0"/>
          </a:p>
        </p:txBody>
      </p:sp>
      <p:sp>
        <p:nvSpPr>
          <p:cNvPr id="9" name="Text 7"/>
          <p:cNvSpPr/>
          <p:nvPr/>
        </p:nvSpPr>
        <p:spPr>
          <a:xfrm>
            <a:off x="1170432" y="1773936"/>
            <a:ext cx="10332720" cy="4096512"/>
          </a:xfrm>
          <a:prstGeom prst="rect">
            <a:avLst/>
          </a:prstGeom>
          <a:noFill/>
          <a:ln/>
        </p:spPr>
        <p:txBody>
          <a:bodyPr wrap="square" lIns="0" tIns="0" rIns="0" bIns="0" rtlCol="0" anchor="t"/>
          <a:lstStyle/>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class Settings(BaseSettings):</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model_config = SettingsConfigDict(env_file=".env", extra="ignore")</a:t>
            </a:r>
            <a:endParaRPr lang="en-US" sz="1150" dirty="0"/>
          </a:p>
          <a:p>
            <a:pPr indent="0" marL="0">
              <a:lnSpc>
                <a:spcPct val="112000"/>
              </a:lnSpc>
              <a:buNone/>
            </a:pP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provider: Provider = Field(default=Provider.GEMINI)</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gemini_api_key:       str | None = None</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google_cloud_project: str | None = None</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agent_host:           str = DEFAULT_HOST  # named constant; ports on AgentRole</a:t>
            </a:r>
            <a:endParaRPr lang="en-US" sz="1150" dirty="0"/>
          </a:p>
          <a:p>
            <a:pPr indent="0" marL="0">
              <a:lnSpc>
                <a:spcPct val="112000"/>
              </a:lnSpc>
              <a:buNone/>
            </a:pP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@model_validator(mode="after")</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def _check_credentials(self):</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if self.provider is Provider.GEMINI and not self.gemini_api_key:</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warnings.warn("GEMINI selected but key unset")</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return self</a:t>
            </a:r>
            <a:endParaRPr lang="en-US" sz="1150" dirty="0"/>
          </a:p>
          <a:p>
            <a:pPr indent="0" marL="0">
              <a:lnSpc>
                <a:spcPct val="112000"/>
              </a:lnSpc>
              <a:buNone/>
            </a:pP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 Composition delegated to the Enums (SRP):</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def litellm_model(self, m: VendorModel) -&gt; str:</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return self.provider.prefix(m.bare_name)</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def url_for(self, role: AgentRole) -&gt; str:</a:t>
            </a:r>
            <a:endParaRPr lang="en-US" sz="1150" dirty="0"/>
          </a:p>
          <a:p>
            <a:pPr indent="0" marL="0">
              <a:lnSpc>
                <a:spcPct val="112000"/>
              </a:lnSpc>
              <a:buNone/>
            </a:pPr>
            <a:r>
              <a:rPr lang="en-US" sz="1150" dirty="0">
                <a:solidFill>
                  <a:srgbClr val="EDE9FE"/>
                </a:solidFill>
                <a:latin typeface="Consolas" pitchFamily="34" charset="0"/>
                <a:ea typeface="Consolas" pitchFamily="34" charset="-122"/>
                <a:cs typeface="Consolas" pitchFamily="34" charset="-120"/>
              </a:rPr>
              <a:t>        return role.default_url(self.agent_host)</a:t>
            </a:r>
            <a:endParaRPr lang="en-US" sz="1150" dirty="0"/>
          </a:p>
        </p:txBody>
      </p:sp>
      <p:sp>
        <p:nvSpPr>
          <p:cNvPr id="10" name="Text 8"/>
          <p:cNvSpPr/>
          <p:nvPr/>
        </p:nvSpPr>
        <p:spPr>
          <a:xfrm>
            <a:off x="548640" y="5943600"/>
            <a:ext cx="11064240" cy="45720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Settings holds config + validates credentials; the Enums own composition. No per-port fields — AgentRole owns the ports.</a:t>
            </a:r>
            <a:endParaRPr lang="en-US" sz="1300" dirty="0"/>
          </a:p>
        </p:txBody>
      </p:sp>
      <p:sp>
        <p:nvSpPr>
          <p:cNvPr id="11" name="Text 9">
            <a:hlinkClick r:id="rId1" tooltip="Back to cascade live" action="ppaction://hlinksldjump"/>
          </p:cNvPr>
          <p:cNvSpPr/>
          <p:nvPr/>
        </p:nvSpPr>
        <p:spPr>
          <a:xfrm>
            <a:off x="548640" y="6446520"/>
            <a:ext cx="3291840" cy="329184"/>
          </a:xfrm>
          <a:prstGeom prst="rect">
            <a:avLst/>
          </a:prstGeom>
          <a:noFill/>
          <a:ln/>
        </p:spPr>
        <p:txBody>
          <a:bodyPr wrap="square" lIns="0" tIns="0" rIns="0" bIns="0" rtlCol="0" anchor="ctr"/>
          <a:lstStyle/>
          <a:p>
            <a:pPr algn="l" indent="0" marL="0">
              <a:buNone/>
            </a:pPr>
            <a:r>
              <a:rPr lang="en-US" sz="1200" b="1" u="sng" dirty="0">
                <a:solidFill>
                  <a:srgbClr val="6B7280"/>
                </a:solidFill>
                <a:latin typeface="Calibri" pitchFamily="34" charset="0"/>
                <a:ea typeface="Calibri" pitchFamily="34" charset="-122"/>
                <a:cs typeface="Calibri" pitchFamily="34" charset="-120"/>
                <a:hlinkClick r:id="rId1" action="ppaction://hlinksldjump" tooltip="Back to cascade live">
                  <a:extLst>
                    <a:ext uri="{A12FA001-AC4F-418D-AE19-62706E023703}">
                      <ahyp:hlinkClr xmlns:ahyp="http://schemas.microsoft.com/office/drawing/2018/hyperlinkcolor" val="tx"/>
                    </a:ext>
                  </a:extLst>
                </a:hlinkClick>
              </a:rPr>
              <a:t>◀  Back to cascade live</a:t>
            </a:r>
            <a:endParaRPr lang="en-US" sz="1200" dirty="0"/>
          </a:p>
        </p:txBody>
      </p:sp>
      <p:sp>
        <p:nvSpPr>
          <p:cNvPr id="12" name="Text 10">
            <a:hlinkClick r:id="rId2" tooltip="Next: locking" action="ppaction://hlinksldjump"/>
          </p:cNvPr>
          <p:cNvSpPr/>
          <p:nvPr/>
        </p:nvSpPr>
        <p:spPr>
          <a:xfrm>
            <a:off x="8321040" y="6446520"/>
            <a:ext cx="3291840" cy="329184"/>
          </a:xfrm>
          <a:prstGeom prst="rect">
            <a:avLst/>
          </a:prstGeom>
          <a:noFill/>
          <a:ln/>
        </p:spPr>
        <p:txBody>
          <a:bodyPr wrap="square" lIns="0" tIns="0" rIns="0" bIns="0" rtlCol="0" anchor="ctr"/>
          <a:lstStyle/>
          <a:p>
            <a:pPr algn="r" indent="0" marL="0">
              <a:buNone/>
            </a:pPr>
            <a:r>
              <a:rPr lang="en-US" sz="1200" b="1" u="sng" dirty="0">
                <a:solidFill>
                  <a:srgbClr val="7C3AED"/>
                </a:solidFill>
                <a:latin typeface="Calibri" pitchFamily="34" charset="0"/>
                <a:ea typeface="Calibri" pitchFamily="34" charset="-122"/>
                <a:cs typeface="Calibri" pitchFamily="34" charset="-120"/>
                <a:hlinkClick r:id="rId2" action="ppaction://hlinksldjump" tooltip="Next: locking">
                  <a:extLst>
                    <a:ext uri="{A12FA001-AC4F-418D-AE19-62706E023703}">
                      <ahyp:hlinkClr xmlns:ahyp="http://schemas.microsoft.com/office/drawing/2018/hyperlinkcolor" val="tx"/>
                    </a:ext>
                  </a:extLst>
                </a:hlinkClick>
              </a:rPr>
              <a:t>Next: locking  ▶</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Adaptation 7 — two locking strategies (locking.py)</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2560320"/>
                <a:gridCol w="4160520"/>
                <a:gridCol w="4160520"/>
              </a:tblGrid>
              <a:tr h="45720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Aspect</a:t>
                      </a:r>
                      <a:endParaRPr lang="en-US" sz="1400" dirty="0">
                        <a:latin typeface="Georgia" charset="0"/>
                        <a:ea typeface="Georgia" charset="0"/>
                        <a:cs typeface="Georgia"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7C3AED"/>
                    </a:solidFill>
                  </a:tcPr>
                </a:tc>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run_chain  (PESSIMISTIC)</a:t>
                      </a:r>
                      <a:endParaRPr lang="en-US" sz="1400" dirty="0">
                        <a:latin typeface="Georgia" charset="0"/>
                        <a:ea typeface="Georgia" charset="0"/>
                        <a:cs typeface="Georgia"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7C3AED"/>
                    </a:solidFill>
                  </a:tcPr>
                </a:tc>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run_serially_reentrant  (OPTIMISTIC)</a:t>
                      </a:r>
                      <a:endParaRPr lang="en-US" sz="1400" dirty="0">
                        <a:latin typeface="Georgia" charset="0"/>
                        <a:ea typeface="Georgia" charset="0"/>
                        <a:cs typeface="Georgia"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7C3AED"/>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Database analogue</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SELECT ... FOR UPDATE</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UPDATE ... WHERE version = n</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Prerequisites checked</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all up front, via @requires</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per step, only when needed</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A down (unused) agent</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aborts the whole chain</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marked NEED_INPUT, chain continues</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Re-entry</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restart from scratch</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resumes; completed steps skipped</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Progress record</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none</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WORM response chain by correlation_id</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Best when</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all agents required, fail-fast</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partial progress + transient outages</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r>
            </a:tbl>
          </a:graphicData>
        </a:graphic>
      </p:graphicFrame>
      <p:sp>
        <p:nvSpPr>
          <p:cNvPr id="4" name="Text 1"/>
          <p:cNvSpPr/>
          <p:nvPr/>
        </p:nvSpPr>
        <p:spPr>
          <a:xfrm>
            <a:off x="640080" y="5852160"/>
            <a:ext cx="10881360" cy="64008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Pressure: a down agent hung the whole chain. Adaptation: an optimistic, serially reentrant alternative beside the pessimistic one.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lIns="0" tIns="0" rIns="0" bIns="0" rtlCol="0" anchor="ctr"/>
          <a:lstStyle/>
          <a:p>
            <a:pPr indent="0" marL="0">
              <a:buNone/>
            </a:pPr>
            <a:r>
              <a:rPr lang="en-US" sz="2400" b="1" dirty="0">
                <a:solidFill>
                  <a:srgbClr val="1E1B4B"/>
                </a:solidFill>
                <a:latin typeface="Georgia" pitchFamily="34" charset="0"/>
                <a:ea typeface="Georgia" pitchFamily="34" charset="-122"/>
                <a:cs typeface="Georgia" pitchFamily="34" charset="-120"/>
              </a:rPr>
              <a:t>Fitness test — a down agent does not crash the chain</a:t>
            </a:r>
            <a:endParaRPr lang="en-US" sz="2400" dirty="0"/>
          </a:p>
        </p:txBody>
      </p:sp>
      <p:sp>
        <p:nvSpPr>
          <p:cNvPr id="3" name="Shape 1"/>
          <p:cNvSpPr/>
          <p:nvPr/>
        </p:nvSpPr>
        <p:spPr>
          <a:xfrm>
            <a:off x="822960" y="1188720"/>
            <a:ext cx="10515600" cy="4206240"/>
          </a:xfrm>
          <a:prstGeom prst="roundRect">
            <a:avLst>
              <a:gd name="adj" fmla="val 1739"/>
            </a:avLst>
          </a:prstGeom>
          <a:solidFill>
            <a:srgbClr val="0B0A1F"/>
          </a:solidFill>
          <a:ln/>
          <a:effectLst>
            <a:outerShdw sx="100000" sy="100000" kx="0" ky="0" algn="bl" rotWithShape="0" blurRad="101600" dist="38100" dir="8100000">
              <a:srgbClr val="000000">
                <a:alpha val="20000"/>
              </a:srgbClr>
            </a:outerShdw>
          </a:effectLst>
        </p:spPr>
      </p:sp>
      <p:sp>
        <p:nvSpPr>
          <p:cNvPr id="4" name="Shape 2"/>
          <p:cNvSpPr/>
          <p:nvPr/>
        </p:nvSpPr>
        <p:spPr>
          <a:xfrm>
            <a:off x="1051560" y="1371600"/>
            <a:ext cx="164592" cy="164592"/>
          </a:xfrm>
          <a:prstGeom prst="ellipse">
            <a:avLst/>
          </a:prstGeom>
          <a:solidFill>
            <a:srgbClr val="FF5F56"/>
          </a:solidFill>
          <a:ln/>
        </p:spPr>
      </p:sp>
      <p:sp>
        <p:nvSpPr>
          <p:cNvPr id="5" name="Shape 3"/>
          <p:cNvSpPr/>
          <p:nvPr/>
        </p:nvSpPr>
        <p:spPr>
          <a:xfrm>
            <a:off x="1344168" y="1371600"/>
            <a:ext cx="164592" cy="164592"/>
          </a:xfrm>
          <a:prstGeom prst="ellipse">
            <a:avLst/>
          </a:prstGeom>
          <a:solidFill>
            <a:srgbClr val="FFBD2E"/>
          </a:solidFill>
          <a:ln/>
        </p:spPr>
      </p:sp>
      <p:sp>
        <p:nvSpPr>
          <p:cNvPr id="6" name="Shape 4"/>
          <p:cNvSpPr/>
          <p:nvPr/>
        </p:nvSpPr>
        <p:spPr>
          <a:xfrm>
            <a:off x="1636776" y="1371600"/>
            <a:ext cx="164592" cy="164592"/>
          </a:xfrm>
          <a:prstGeom prst="ellipse">
            <a:avLst/>
          </a:prstGeom>
          <a:solidFill>
            <a:srgbClr val="27C93F"/>
          </a:solidFill>
          <a:ln/>
        </p:spPr>
      </p:sp>
      <p:sp>
        <p:nvSpPr>
          <p:cNvPr id="7" name="Text 5"/>
          <p:cNvSpPr/>
          <p:nvPr/>
        </p:nvSpPr>
        <p:spPr>
          <a:xfrm>
            <a:off x="1097280" y="1783080"/>
            <a:ext cx="10058400" cy="3429000"/>
          </a:xfrm>
          <a:prstGeom prst="rect">
            <a:avLst/>
          </a:prstGeom>
          <a:noFill/>
          <a:ln/>
        </p:spPr>
        <p:txBody>
          <a:bodyPr wrap="square" lIns="0" tIns="0" rIns="0" bIns="0" rtlCol="0" anchor="t"/>
          <a:lstStyle/>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 PYTHONPATH=src python demo_locking.py</a:t>
            </a:r>
            <a:endParaRPr lang="en-US" sz="1400" dirty="0"/>
          </a:p>
          <a:p>
            <a:pPr indent="0" marL="0">
              <a:lnSpc>
                <a:spcPct val="120000"/>
              </a:lnSpc>
              <a:buNone/>
            </a:pPr>
            <a:r>
              <a:rPr lang="en-US" sz="1400" dirty="0">
                <a:solidFill>
                  <a:srgbClr val="6B7280"/>
                </a:solidFill>
                <a:latin typeface="Consolas" pitchFamily="34" charset="0"/>
                <a:ea typeface="Consolas" pitchFamily="34" charset="-122"/>
                <a:cs typeface="Consolas" pitchFamily="34" charset="-120"/>
              </a:rPr>
              <a:t># both prerequisite agents are DOWN (9999, 9998)</a:t>
            </a:r>
            <a:endParaRPr lang="en-US" sz="1400" dirty="0"/>
          </a:p>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&gt;&gt;&gt; last, state = run_serially_reentrant(req, steps)</a:t>
            </a:r>
            <a:endParaRPr lang="en-US" sz="1400" dirty="0"/>
          </a:p>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&gt;&gt;&gt; for url, r in state.completed.items():</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     print(url, r.status, 'terminal=', r.is_terminal)</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http://localhost:9999  need_input  terminal= False</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http://localhost:9998  need_input  terminal= False</a:t>
            </a:r>
            <a:endParaRPr lang="en-US" sz="1400" dirty="0"/>
          </a:p>
          <a:p>
            <a:pPr indent="0" marL="0">
              <a:lnSpc>
                <a:spcPct val="120000"/>
              </a:lnSpc>
              <a:buNone/>
            </a:pPr>
            <a:r>
              <a:rPr lang="en-US" sz="1400" dirty="0">
                <a:solidFill>
                  <a:srgbClr val="6B7280"/>
                </a:solidFill>
                <a:latin typeface="Consolas" pitchFamily="34" charset="0"/>
                <a:ea typeface="Consolas" pitchFamily="34" charset="-122"/>
                <a:cs typeface="Consolas" pitchFamily="34" charset="-120"/>
              </a:rPr>
              <a:t># chain did NOT raise — progress recorded, safe to re-enter</a:t>
            </a:r>
            <a:endParaRPr lang="en-US" sz="1400" dirty="0"/>
          </a:p>
          <a:p>
            <a:pPr indent="0" marL="0">
              <a:lnSpc>
                <a:spcPct val="120000"/>
              </a:lnSpc>
              <a:buNone/>
            </a:pPr>
            <a:r>
              <a:rPr lang="en-US" sz="1400" dirty="0">
                <a:solidFill>
                  <a:srgbClr val="B98CFF"/>
                </a:solidFill>
                <a:latin typeface="Consolas" pitchFamily="34" charset="0"/>
                <a:ea typeface="Consolas" pitchFamily="34" charset="-122"/>
                <a:cs typeface="Consolas" pitchFamily="34" charset="-120"/>
              </a:rPr>
              <a:t>&gt;&gt;&gt; all(r.correlation_id == req.blake3_pair_hash</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     for r in state.completed.values())</a:t>
            </a:r>
            <a:endParaRPr lang="en-US" sz="1400" dirty="0"/>
          </a:p>
          <a:p>
            <a:pPr indent="0" marL="0">
              <a:lnSpc>
                <a:spcPct val="120000"/>
              </a:lnSpc>
              <a:buNone/>
            </a:pPr>
            <a:r>
              <a:rPr lang="en-US" sz="1400" dirty="0">
                <a:solidFill>
                  <a:srgbClr val="3DF5A0"/>
                </a:solidFill>
                <a:latin typeface="Consolas" pitchFamily="34" charset="0"/>
                <a:ea typeface="Consolas" pitchFamily="34" charset="-122"/>
                <a:cs typeface="Consolas" pitchFamily="34" charset="-120"/>
              </a:rPr>
              <a:t>True</a:t>
            </a:r>
            <a:endParaRPr lang="en-US" sz="1400" dirty="0"/>
          </a:p>
        </p:txBody>
      </p:sp>
      <p:sp>
        <p:nvSpPr>
          <p:cNvPr id="8" name="Text 6"/>
          <p:cNvSpPr/>
          <p:nvPr/>
        </p:nvSpPr>
        <p:spPr>
          <a:xfrm>
            <a:off x="822960" y="5577840"/>
            <a:ext cx="10515600" cy="822960"/>
          </a:xfrm>
          <a:prstGeom prst="rect">
            <a:avLst/>
          </a:prstGeom>
          <a:noFill/>
          <a:ln/>
        </p:spPr>
        <p:txBody>
          <a:bodyPr wrap="square" lIns="0" tIns="0" rIns="0" bIns="0" rtlCol="0" anchor="ctr"/>
          <a:lstStyle/>
          <a:p>
            <a:pPr indent="0" marL="0">
              <a:buNone/>
            </a:pPr>
            <a:r>
              <a:rPr lang="en-US" sz="1600" i="1" dirty="0">
                <a:solidFill>
                  <a:srgbClr val="6B7280"/>
                </a:solidFill>
                <a:latin typeface="Calibri" pitchFamily="34" charset="0"/>
                <a:ea typeface="Calibri" pitchFamily="34" charset="-122"/>
                <a:cs typeface="Calibri" pitchFamily="34" charset="-120"/>
              </a:rPr>
              <a:t>Both agents down: the optimistic chain records NEED_INPUT, keeps the correlation chain, and re-enters cleanly. Fit.</a:t>
            </a:r>
            <a:endParaRPr lang="en-US" sz="1600" dirty="0"/>
          </a:p>
        </p:txBody>
      </p:sp>
      <p:sp>
        <p:nvSpPr>
          <p:cNvPr id="9" name="Text 7">
            <a:hlinkClick r:id="rId1" tooltip="Back to locking table" action="ppaction://hlinksldjump"/>
          </p:cNvPr>
          <p:cNvSpPr/>
          <p:nvPr/>
        </p:nvSpPr>
        <p:spPr>
          <a:xfrm>
            <a:off x="548640" y="6446520"/>
            <a:ext cx="3291840" cy="329184"/>
          </a:xfrm>
          <a:prstGeom prst="rect">
            <a:avLst/>
          </a:prstGeom>
          <a:noFill/>
          <a:ln/>
        </p:spPr>
        <p:txBody>
          <a:bodyPr wrap="square" lIns="0" tIns="0" rIns="0" bIns="0" rtlCol="0" anchor="ctr"/>
          <a:lstStyle/>
          <a:p>
            <a:pPr algn="l" indent="0" marL="0">
              <a:buNone/>
            </a:pPr>
            <a:r>
              <a:rPr lang="en-US" sz="1200" b="1" u="sng" dirty="0">
                <a:solidFill>
                  <a:srgbClr val="6B7280"/>
                </a:solidFill>
                <a:latin typeface="Calibri" pitchFamily="34" charset="0"/>
                <a:ea typeface="Calibri" pitchFamily="34" charset="-122"/>
                <a:cs typeface="Calibri" pitchFamily="34" charset="-120"/>
                <a:hlinkClick r:id="rId1" action="ppaction://hlinksldjump" tooltip="Back to locking table">
                  <a:extLst>
                    <a:ext uri="{A12FA001-AC4F-418D-AE19-62706E023703}">
                      <ahyp:hlinkClr xmlns:ahyp="http://schemas.microsoft.com/office/drawing/2018/hyperlinkcolor" val="tx"/>
                    </a:ext>
                  </a:extLst>
                </a:hlinkClick>
              </a:rPr>
              <a:t>◀  Back to locking table</a:t>
            </a:r>
            <a:endParaRPr lang="en-US" sz="1200" dirty="0"/>
          </a:p>
        </p:txBody>
      </p:sp>
      <p:sp>
        <p:nvSpPr>
          <p:cNvPr id="10" name="Text 8">
            <a:hlinkClick r:id="rId2" tooltip="Resume the lab →" action="ppaction://hlinksldjump"/>
          </p:cNvPr>
          <p:cNvSpPr/>
          <p:nvPr/>
        </p:nvSpPr>
        <p:spPr>
          <a:xfrm>
            <a:off x="8321040" y="6446520"/>
            <a:ext cx="3291840" cy="329184"/>
          </a:xfrm>
          <a:prstGeom prst="rect">
            <a:avLst/>
          </a:prstGeom>
          <a:noFill/>
          <a:ln/>
        </p:spPr>
        <p:txBody>
          <a:bodyPr wrap="square" lIns="0" tIns="0" rIns="0" bIns="0" rtlCol="0" anchor="ctr"/>
          <a:lstStyle/>
          <a:p>
            <a:pPr algn="r" indent="0" marL="0">
              <a:buNone/>
            </a:pPr>
            <a:r>
              <a:rPr lang="en-US" sz="1200" b="1" u="sng" dirty="0">
                <a:solidFill>
                  <a:srgbClr val="7C3AED"/>
                </a:solidFill>
                <a:latin typeface="Calibri" pitchFamily="34" charset="0"/>
                <a:ea typeface="Calibri" pitchFamily="34" charset="-122"/>
                <a:cs typeface="Calibri" pitchFamily="34" charset="-120"/>
                <a:hlinkClick r:id="rId2" action="ppaction://hlinksldjump" tooltip="Resume the lab →">
                  <a:extLst>
                    <a:ext uri="{A12FA001-AC4F-418D-AE19-62706E023703}">
                      <ahyp:hlinkClr xmlns:ahyp="http://schemas.microsoft.com/office/drawing/2018/hyperlinkcolor" val="tx"/>
                    </a:ext>
                  </a:extLst>
                </a:hlinkClick>
              </a:rPr>
              <a:t>Resume the lab →  ▶</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How we built it — the toggle</a:t>
            </a:r>
            <a:endParaRPr lang="en-US" sz="2800" dirty="0"/>
          </a:p>
        </p:txBody>
      </p:sp>
      <p:sp>
        <p:nvSpPr>
          <p:cNvPr id="3" name="Shape 1"/>
          <p:cNvSpPr/>
          <p:nvPr/>
        </p:nvSpPr>
        <p:spPr>
          <a:xfrm>
            <a:off x="822960" y="1645920"/>
            <a:ext cx="10515600" cy="3383280"/>
          </a:xfrm>
          <a:prstGeom prst="roundRect">
            <a:avLst>
              <a:gd name="adj" fmla="val 2703"/>
            </a:avLst>
          </a:prstGeom>
          <a:solidFill>
            <a:srgbClr val="1E1B4B"/>
          </a:solidFill>
          <a:ln/>
          <a:effectLst>
            <a:outerShdw sx="100000" sy="100000" kx="0" ky="0" algn="bl" rotWithShape="0" blurRad="101600" dist="38100" dir="8100000">
              <a:srgbClr val="000000">
                <a:alpha val="18000"/>
              </a:srgbClr>
            </a:outerShdw>
          </a:effectLst>
        </p:spPr>
      </p:sp>
      <p:sp>
        <p:nvSpPr>
          <p:cNvPr id="4" name="Text 2"/>
          <p:cNvSpPr/>
          <p:nvPr/>
        </p:nvSpPr>
        <p:spPr>
          <a:xfrm>
            <a:off x="1097280" y="1874520"/>
            <a:ext cx="9966960" cy="2926080"/>
          </a:xfrm>
          <a:prstGeom prst="rect">
            <a:avLst/>
          </a:prstGeom>
          <a:noFill/>
          <a:ln/>
        </p:spPr>
        <p:txBody>
          <a:bodyPr wrap="square" lIns="0" tIns="0" rIns="0" bIns="0" rtlCol="0" anchor="t"/>
          <a:lstStyle/>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a2a_labs/config.py</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def litellm_model(self, model: Model) -&gt; str:</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return f"{self.provider.value}/{model.value}"</a:t>
            </a:r>
            <a:endParaRPr lang="en-US" sz="1400" dirty="0"/>
          </a:p>
          <a:p>
            <a:pPr indent="0" marL="0">
              <a:lnSpc>
                <a:spcPct val="115000"/>
              </a:lnSpc>
              <a:buNone/>
            </a:pP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in the notebook</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settings = setup_env()</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model = settings.litellm_model(Model.FLASH_LITE)</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PROVIDER=gemini      -&gt; gemini/gemini-3.1-flash-lite-preview</a:t>
            </a:r>
            <a:endParaRPr lang="en-US" sz="1400" dirty="0"/>
          </a:p>
          <a:p>
            <a:pPr indent="0" marL="0">
              <a:lnSpc>
                <a:spcPct val="115000"/>
              </a:lnSpc>
              <a:buNone/>
            </a:pPr>
            <a:r>
              <a:rPr lang="en-US" sz="1400" dirty="0">
                <a:solidFill>
                  <a:srgbClr val="EDE9FE"/>
                </a:solidFill>
                <a:latin typeface="Consolas" pitchFamily="34" charset="0"/>
                <a:ea typeface="Consolas" pitchFamily="34" charset="-122"/>
                <a:cs typeface="Consolas" pitchFamily="34" charset="-120"/>
              </a:rPr>
              <a:t>#   PROVIDER=vertex_ai   -&gt; vertex_ai/gemini-3.1-flash-lite-preview</a:t>
            </a:r>
            <a:endParaRPr lang="en-US" sz="1400" dirty="0"/>
          </a:p>
        </p:txBody>
      </p:sp>
      <p:sp>
        <p:nvSpPr>
          <p:cNvPr id="5" name="Text 3"/>
          <p:cNvSpPr/>
          <p:nvPr/>
        </p:nvSpPr>
        <p:spPr>
          <a:xfrm>
            <a:off x="822960" y="5212080"/>
            <a:ext cx="10515600" cy="8229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We have now SEEN this evolve. Back in the lab: one method, one env var, the whole stack moves.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Refactor: the PolicyAgent class</a:t>
            </a:r>
            <a:endParaRPr lang="en-US" sz="2800" dirty="0"/>
          </a:p>
        </p:txBody>
      </p:sp>
      <p:sp>
        <p:nvSpPr>
          <p:cNvPr id="3" name="Text 1"/>
          <p:cNvSpPr/>
          <p:nvPr/>
        </p:nvSpPr>
        <p:spPr>
          <a:xfrm>
            <a:off x="822960" y="2011680"/>
            <a:ext cx="10515600" cy="2011680"/>
          </a:xfrm>
          <a:prstGeom prst="rect">
            <a:avLst/>
          </a:prstGeom>
          <a:noFill/>
          <a:ln/>
        </p:spPr>
        <p:txBody>
          <a:bodyPr wrap="square" lIns="0" tIns="0" rIns="0" bIns="0" rtlCol="0" anchor="ctr"/>
          <a:lstStyle/>
          <a:p>
            <a:pPr indent="0" marL="0">
              <a:lnSpc>
                <a:spcPct val="105000"/>
              </a:lnSpc>
              <a:buNone/>
            </a:pPr>
            <a:r>
              <a:rPr lang="en-US" sz="4000" b="1" dirty="0">
                <a:solidFill>
                  <a:srgbClr val="7C3AED"/>
                </a:solidFill>
                <a:latin typeface="Georgia" pitchFamily="34" charset="0"/>
                <a:ea typeface="Georgia" pitchFamily="34" charset="-122"/>
                <a:cs typeface="Georgia" pitchFamily="34" charset="-120"/>
              </a:rPr>
              <a:t>A string goes in, an answer comes out — but the class is transport-agnostic.</a:t>
            </a:r>
            <a:endParaRPr lang="en-US" sz="4000" dirty="0"/>
          </a:p>
        </p:txBody>
      </p:sp>
      <p:sp>
        <p:nvSpPr>
          <p:cNvPr id="4" name="Text 2"/>
          <p:cNvSpPr/>
          <p:nvPr/>
        </p:nvSpPr>
        <p:spPr>
          <a:xfrm>
            <a:off x="822960" y="4389120"/>
            <a:ext cx="10515600" cy="109728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It knows nothing about HTTP or servers. That ignorance is what lets Lab 2 wrap it unchanged.</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C1D95"/>
        </a:solidFill>
      </p:bgPr>
    </p:bg>
    <p:spTree>
      <p:nvGrpSpPr>
        <p:cNvPr id="1" name=""/>
        <p:cNvGrpSpPr/>
        <p:nvPr/>
      </p:nvGrpSpPr>
      <p:grpSpPr>
        <a:xfrm>
          <a:off x="0" y="0"/>
          <a:ext cx="0" cy="0"/>
          <a:chOff x="0" y="0"/>
          <a:chExt cx="0" cy="0"/>
        </a:xfrm>
      </p:grpSpPr>
      <p:sp>
        <p:nvSpPr>
          <p:cNvPr id="2" name="Text 0"/>
          <p:cNvSpPr/>
          <p:nvPr/>
        </p:nvSpPr>
        <p:spPr>
          <a:xfrm>
            <a:off x="731520" y="1371600"/>
            <a:ext cx="2743200" cy="2011680"/>
          </a:xfrm>
          <a:prstGeom prst="rect">
            <a:avLst/>
          </a:prstGeom>
          <a:noFill/>
          <a:ln/>
        </p:spPr>
        <p:txBody>
          <a:bodyPr wrap="square" lIns="0" tIns="0" rIns="0" bIns="0" rtlCol="0" anchor="ctr"/>
          <a:lstStyle/>
          <a:p>
            <a:pPr indent="0" marL="0">
              <a:buNone/>
            </a:pPr>
            <a:r>
              <a:rPr lang="en-US" sz="13000" b="1" dirty="0">
                <a:solidFill>
                  <a:srgbClr val="7C3AED"/>
                </a:solidFill>
                <a:latin typeface="Georgia" pitchFamily="34" charset="0"/>
                <a:ea typeface="Georgia" pitchFamily="34" charset="-122"/>
                <a:cs typeface="Georgia" pitchFamily="34" charset="-120"/>
              </a:rPr>
              <a:t>II</a:t>
            </a:r>
            <a:endParaRPr lang="en-US" sz="13000" dirty="0"/>
          </a:p>
        </p:txBody>
      </p:sp>
      <p:sp>
        <p:nvSpPr>
          <p:cNvPr id="3" name="Text 1"/>
          <p:cNvSpPr/>
          <p:nvPr/>
        </p:nvSpPr>
        <p:spPr>
          <a:xfrm>
            <a:off x="777240" y="3383280"/>
            <a:ext cx="10607040" cy="14630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Georgia" pitchFamily="34" charset="0"/>
                <a:ea typeface="Georgia" pitchFamily="34" charset="-122"/>
                <a:cs typeface="Georgia" pitchFamily="34" charset="-120"/>
              </a:rPr>
              <a:t>The objects, summarized — robustness as fitness</a:t>
            </a:r>
            <a:endParaRPr lang="en-US" sz="4000" dirty="0"/>
          </a:p>
        </p:txBody>
      </p:sp>
      <p:sp>
        <p:nvSpPr>
          <p:cNvPr id="4" name="Text 2"/>
          <p:cNvSpPr/>
          <p:nvPr/>
        </p:nvSpPr>
        <p:spPr>
          <a:xfrm>
            <a:off x="822960" y="4937760"/>
            <a:ext cx="10515600" cy="822960"/>
          </a:xfrm>
          <a:prstGeom prst="rect">
            <a:avLst/>
          </a:prstGeom>
          <a:noFill/>
          <a:ln/>
        </p:spPr>
        <p:txBody>
          <a:bodyPr wrap="square" lIns="0" tIns="0" rIns="0" bIns="0" rtlCol="0" anchor="ctr"/>
          <a:lstStyle/>
          <a:p>
            <a:pPr indent="0" marL="0">
              <a:buNone/>
            </a:pPr>
            <a:r>
              <a:rPr lang="en-US" sz="1800" i="1" dirty="0">
                <a:solidFill>
                  <a:srgbClr val="EDE9FE"/>
                </a:solidFill>
                <a:latin typeface="Calibri" pitchFamily="34" charset="0"/>
                <a:ea typeface="Calibri" pitchFamily="34" charset="-122"/>
                <a:cs typeface="Calibri" pitchFamily="34" charset="-120"/>
              </a:rPr>
              <a:t>We saw the code evolve; here is the one-page taxonomy of every pressure and its adaptation.</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Failure taxonomy — pressure and adaptation</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881360" cy="914400"/>
        </p:xfrm>
        <a:graphic>
          <a:graphicData uri="http://schemas.openxmlformats.org/drawingml/2006/table">
            <a:tbl>
              <a:tblPr/>
              <a:tblGrid>
                <a:gridCol w="3931920"/>
                <a:gridCol w="3474720"/>
                <a:gridCol w="3474720"/>
              </a:tblGrid>
              <a:tr h="457200">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Latent defect in the demo</a:t>
                      </a:r>
                      <a:endParaRPr lang="en-US" sz="1400" dirty="0">
                        <a:latin typeface="Georgia" charset="0"/>
                        <a:ea typeface="Georgia" charset="0"/>
                        <a:cs typeface="Georgia"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7C3AED"/>
                    </a:solidFill>
                  </a:tcPr>
                </a:tc>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When it surfaces upstream</a:t>
                      </a:r>
                      <a:endParaRPr lang="en-US" sz="1400" dirty="0">
                        <a:latin typeface="Georgia" charset="0"/>
                        <a:ea typeface="Georgia" charset="0"/>
                        <a:cs typeface="Georgia"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7C3AED"/>
                    </a:solidFill>
                  </a:tcPr>
                </a:tc>
                <a:tc>
                  <a:txBody>
                    <a:bodyPr/>
                    <a:lstStyle/>
                    <a:p>
                      <a:pPr algn="l" indent="0" marL="0">
                        <a:buNone/>
                      </a:pPr>
                      <a:r>
                        <a:rPr lang="en-US" sz="1400" b="1" dirty="0">
                          <a:solidFill>
                            <a:srgbClr val="FFFFFF"/>
                          </a:solidFill>
                          <a:latin typeface="Georgia" pitchFamily="34" charset="0"/>
                          <a:ea typeface="Georgia" pitchFamily="34" charset="-122"/>
                          <a:cs typeface="Georgia" pitchFamily="34" charset="-120"/>
                        </a:rPr>
                        <a:t>When it surfaces with our objects</a:t>
                      </a:r>
                      <a:endParaRPr lang="en-US" sz="1400" dirty="0">
                        <a:latin typeface="Georgia" charset="0"/>
                        <a:ea typeface="Georgia" charset="0"/>
                        <a:cs typeface="Georgia"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7C3AED"/>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Mistyped model name</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runtime, on first API call</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import time (Enum has no such member)</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Wrong / missing port</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runtime, connection refused</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startup, typed IntEnum default</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Absent API credential</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runtime, opaque 401/403</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settings validation, named warning</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Calling a down agent</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runtime, async timeout/hang</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pre-flight @requires, named error</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Wrong vendor + model</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runtime, API rejection</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construction, cascade ValidationError</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FFFFFF"/>
                    </a:solidFill>
                  </a:tcPr>
                </a:tc>
              </a:tr>
              <a:tr h="457200">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Provider swap</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manual edit of every file</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c>
                  <a:txBody>
                    <a:bodyPr/>
                    <a:lstStyle/>
                    <a:p>
                      <a:pPr algn="l" indent="0" marL="0">
                        <a:buNone/>
                      </a:pPr>
                      <a:r>
                        <a:rPr lang="en-US" sz="1250" dirty="0">
                          <a:solidFill>
                            <a:srgbClr val="1E1B4B"/>
                          </a:solidFill>
                          <a:latin typeface="Calibri" pitchFamily="34" charset="0"/>
                          <a:ea typeface="Calibri" pitchFamily="34" charset="-122"/>
                          <a:cs typeface="Calibri" pitchFamily="34" charset="-120"/>
                        </a:rPr>
                        <a:t>one env var, zero code change</a:t>
                      </a:r>
                      <a:endParaRPr lang="en-US" sz="1250" dirty="0">
                        <a:latin typeface="Calibri" charset="0"/>
                        <a:ea typeface="Calibri" charset="0"/>
                        <a:cs typeface="Calibri" charset="0"/>
                      </a:endParaRPr>
                    </a:p>
                  </a:txBody>
                  <a:tcPr marL="76200" marR="76200" marT="38100" marB="38100" anchor="ctr">
                    <a:lnL w="6350" cap="flat" cmpd="sng" algn="ctr">
                      <a:solidFill>
                        <a:srgbClr val="D1C9F0"/>
                      </a:solidFill>
                      <a:prstDash val="solid"/>
                      <a:round/>
                      <a:headEnd type="none" w="med" len="med"/>
                      <a:tailEnd type="none" w="med" len="med"/>
                    </a:lnL>
                    <a:lnR w="6350" cap="flat" cmpd="sng" algn="ctr">
                      <a:solidFill>
                        <a:srgbClr val="D1C9F0"/>
                      </a:solidFill>
                      <a:prstDash val="solid"/>
                      <a:round/>
                      <a:headEnd type="none" w="med" len="med"/>
                      <a:tailEnd type="none" w="med" len="med"/>
                    </a:lnR>
                    <a:lnT w="6350" cap="flat" cmpd="sng" algn="ctr">
                      <a:solidFill>
                        <a:srgbClr val="D1C9F0"/>
                      </a:solidFill>
                      <a:prstDash val="solid"/>
                      <a:round/>
                      <a:headEnd type="none" w="med" len="med"/>
                      <a:tailEnd type="none" w="med" len="med"/>
                    </a:lnT>
                    <a:lnB w="6350" cap="flat" cmpd="sng" algn="ctr">
                      <a:solidFill>
                        <a:srgbClr val="D1C9F0"/>
                      </a:solidFill>
                      <a:prstDash val="solid"/>
                      <a:round/>
                      <a:headEnd type="none" w="med" len="med"/>
                      <a:tailEnd type="none" w="med" len="med"/>
                    </a:lnB>
                    <a:solidFill>
                      <a:srgbClr val="EDE9FE"/>
                    </a:solidFill>
                  </a:tcPr>
                </a:tc>
              </a:tr>
            </a:tbl>
          </a:graphicData>
        </a:graphic>
      </p:graphicFrame>
      <p:sp>
        <p:nvSpPr>
          <p:cNvPr id="4" name="Text 1"/>
          <p:cNvSpPr/>
          <p:nvPr/>
        </p:nvSpPr>
        <p:spPr>
          <a:xfrm>
            <a:off x="640080" y="5852160"/>
            <a:ext cx="10881360" cy="64008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Six pressures, six adaptations. Upstream every one surfaces at runtime; our objects move each one earlier.</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The path-to-the-future argument</a:t>
            </a:r>
            <a:endParaRPr lang="en-US" sz="2800" dirty="0"/>
          </a:p>
        </p:txBody>
      </p:sp>
      <p:sp>
        <p:nvSpPr>
          <p:cNvPr id="3" name="Text 1"/>
          <p:cNvSpPr/>
          <p:nvPr/>
        </p:nvSpPr>
        <p:spPr>
          <a:xfrm>
            <a:off x="822960" y="1920240"/>
            <a:ext cx="10515600" cy="1645920"/>
          </a:xfrm>
          <a:prstGeom prst="rect">
            <a:avLst/>
          </a:prstGeom>
          <a:noFill/>
          <a:ln/>
        </p:spPr>
        <p:txBody>
          <a:bodyPr wrap="square" lIns="0" tIns="0" rIns="0" bIns="0" rtlCol="0" anchor="ctr"/>
          <a:lstStyle/>
          <a:p>
            <a:pPr indent="0" marL="0">
              <a:buNone/>
            </a:pPr>
            <a:r>
              <a:rPr lang="en-US" sz="9600" b="1" dirty="0">
                <a:solidFill>
                  <a:srgbClr val="7C3AED"/>
                </a:solidFill>
                <a:latin typeface="Georgia" pitchFamily="34" charset="0"/>
                <a:ea typeface="Georgia" pitchFamily="34" charset="-122"/>
                <a:cs typeface="Georgia" pitchFamily="34" charset="-120"/>
              </a:rPr>
              <a:t>8 → N</a:t>
            </a:r>
            <a:endParaRPr lang="en-US" sz="9600" dirty="0"/>
          </a:p>
        </p:txBody>
      </p:sp>
      <p:sp>
        <p:nvSpPr>
          <p:cNvPr id="4" name="Text 2"/>
          <p:cNvSpPr/>
          <p:nvPr/>
        </p:nvSpPr>
        <p:spPr>
          <a:xfrm>
            <a:off x="868680" y="3611880"/>
            <a:ext cx="10515600" cy="548640"/>
          </a:xfrm>
          <a:prstGeom prst="rect">
            <a:avLst/>
          </a:prstGeom>
          <a:noFill/>
          <a:ln/>
        </p:spPr>
        <p:txBody>
          <a:bodyPr wrap="square" lIns="0" tIns="0" rIns="0" bIns="0" rtlCol="0" anchor="ctr"/>
          <a:lstStyle/>
          <a:p>
            <a:pPr indent="0" marL="0">
              <a:buNone/>
            </a:pPr>
            <a:r>
              <a:rPr lang="en-US" sz="2000" b="1" dirty="0">
                <a:solidFill>
                  <a:srgbClr val="1E1B4B"/>
                </a:solidFill>
                <a:latin typeface="Calibri" pitchFamily="34" charset="0"/>
                <a:ea typeface="Calibri" pitchFamily="34" charset="-122"/>
                <a:cs typeface="Calibri" pitchFamily="34" charset="-120"/>
              </a:rPr>
              <a:t>The demo proves one path works. Our objects make N paths safe.</a:t>
            </a:r>
            <a:endParaRPr lang="en-US" sz="2000" dirty="0"/>
          </a:p>
        </p:txBody>
      </p:sp>
      <p:sp>
        <p:nvSpPr>
          <p:cNvPr id="5" name="Text 3"/>
          <p:cNvSpPr/>
          <p:nvPr/>
        </p:nvSpPr>
        <p:spPr>
          <a:xfrm>
            <a:off x="868680" y="4297680"/>
            <a:ext cx="10515600" cy="1097280"/>
          </a:xfrm>
          <a:prstGeom prst="rect">
            <a:avLst/>
          </a:prstGeom>
          <a:noFill/>
          <a:ln/>
        </p:spPr>
        <p:txBody>
          <a:bodyPr wrap="square" lIns="0" tIns="0" rIns="0" bIns="0" rtlCol="0" anchor="ctr"/>
          <a:lstStyle/>
          <a:p>
            <a:pPr indent="0" marL="0">
              <a:buNone/>
            </a:pPr>
            <a:r>
              <a:rPr lang="en-US" sz="1700" i="1" dirty="0">
                <a:solidFill>
                  <a:srgbClr val="6B7280"/>
                </a:solidFill>
                <a:latin typeface="Calibri" pitchFamily="34" charset="0"/>
                <a:ea typeface="Calibri" pitchFamily="34" charset="-122"/>
                <a:cs typeface="Calibri" pitchFamily="34" charset="-120"/>
              </a:rPr>
              <a:t>Adding the 9th, 20th, or 40th agent costs roughly the same as the 2nd — identity, configuration, addressing, and prerequisites are each defined once and inherited. In the demo, that cost grows with every repeated literal.</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Bottom line</a:t>
            </a:r>
            <a:endParaRPr lang="en-US" sz="2800" dirty="0"/>
          </a:p>
        </p:txBody>
      </p:sp>
      <p:sp>
        <p:nvSpPr>
          <p:cNvPr id="3" name="Text 1"/>
          <p:cNvSpPr/>
          <p:nvPr/>
        </p:nvSpPr>
        <p:spPr>
          <a:xfrm>
            <a:off x="822960" y="2011680"/>
            <a:ext cx="10515600" cy="2011680"/>
          </a:xfrm>
          <a:prstGeom prst="rect">
            <a:avLst/>
          </a:prstGeom>
          <a:noFill/>
          <a:ln/>
        </p:spPr>
        <p:txBody>
          <a:bodyPr wrap="square" lIns="0" tIns="0" rIns="0" bIns="0" rtlCol="0" anchor="ctr"/>
          <a:lstStyle/>
          <a:p>
            <a:pPr indent="0" marL="0">
              <a:lnSpc>
                <a:spcPct val="105000"/>
              </a:lnSpc>
              <a:buNone/>
            </a:pPr>
            <a:r>
              <a:rPr lang="en-US" sz="4000" b="1" dirty="0">
                <a:solidFill>
                  <a:srgbClr val="10B981"/>
                </a:solidFill>
                <a:latin typeface="Georgia" pitchFamily="34" charset="0"/>
                <a:ea typeface="Georgia" pitchFamily="34" charset="-122"/>
                <a:cs typeface="Georgia" pitchFamily="34" charset="-120"/>
              </a:rPr>
              <a:t>The demo earns the idea. Our objects make the idea survive contact with production.</a:t>
            </a:r>
            <a:endParaRPr lang="en-US" sz="4000" dirty="0"/>
          </a:p>
        </p:txBody>
      </p:sp>
      <p:sp>
        <p:nvSpPr>
          <p:cNvPr id="4" name="Text 2"/>
          <p:cNvSpPr/>
          <p:nvPr/>
        </p:nvSpPr>
        <p:spPr>
          <a:xfrm>
            <a:off x="822960" y="4389120"/>
            <a:ext cx="10515600" cy="109728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Same happy path; radically different behavior the day something is mistyped, unset, down, or moved — at a far lower cost to grow.</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lIns="0" tIns="0" rIns="0" bIns="0" rtlCol="0" anchor="ctr"/>
          <a:lstStyle/>
          <a:p>
            <a:pPr indent="0" marL="0">
              <a:buNone/>
            </a:pPr>
            <a:r>
              <a:rPr lang="en-US" sz="2800" b="1" dirty="0">
                <a:solidFill>
                  <a:srgbClr val="1E1B4B"/>
                </a:solidFill>
                <a:latin typeface="Georgia" pitchFamily="34" charset="0"/>
                <a:ea typeface="Georgia" pitchFamily="34" charset="-122"/>
                <a:cs typeface="Georgia" pitchFamily="34" charset="-120"/>
              </a:rPr>
              <a:t>Now we build Lab 2</a:t>
            </a:r>
            <a:endParaRPr lang="en-US" sz="2800" dirty="0"/>
          </a:p>
        </p:txBody>
      </p:sp>
      <p:sp>
        <p:nvSpPr>
          <p:cNvPr id="3" name="Text 1"/>
          <p:cNvSpPr/>
          <p:nvPr/>
        </p:nvSpPr>
        <p:spPr>
          <a:xfrm>
            <a:off x="822960" y="2011680"/>
            <a:ext cx="10515600" cy="2011680"/>
          </a:xfrm>
          <a:prstGeom prst="rect">
            <a:avLst/>
          </a:prstGeom>
          <a:noFill/>
          <a:ln/>
        </p:spPr>
        <p:txBody>
          <a:bodyPr wrap="square" lIns="0" tIns="0" rIns="0" bIns="0" rtlCol="0" anchor="ctr"/>
          <a:lstStyle/>
          <a:p>
            <a:pPr indent="0" marL="0">
              <a:lnSpc>
                <a:spcPct val="105000"/>
              </a:lnSpc>
              <a:buNone/>
            </a:pPr>
            <a:r>
              <a:rPr lang="en-US" sz="4000" b="1" dirty="0">
                <a:solidFill>
                  <a:srgbClr val="10B981"/>
                </a:solidFill>
                <a:latin typeface="Georgia" pitchFamily="34" charset="0"/>
                <a:ea typeface="Georgia" pitchFamily="34" charset="-122"/>
                <a:cs typeface="Georgia" pitchFamily="34" charset="-120"/>
              </a:rPr>
              <a:t>Lab 2 is where these objects leave the REPL and ride a live A2A server.</a:t>
            </a:r>
            <a:endParaRPr lang="en-US" sz="4000" dirty="0"/>
          </a:p>
        </p:txBody>
      </p:sp>
      <p:sp>
        <p:nvSpPr>
          <p:cNvPr id="4" name="Text 2"/>
          <p:cNvSpPr/>
          <p:nvPr/>
        </p:nvSpPr>
        <p:spPr>
          <a:xfrm>
            <a:off x="822960" y="4389120"/>
            <a:ext cx="10515600" cy="1097280"/>
          </a:xfrm>
          <a:prstGeom prst="rect">
            <a:avLst/>
          </a:prstGeom>
          <a:noFill/>
          <a:ln/>
        </p:spPr>
        <p:txBody>
          <a:bodyPr wrap="square" lIns="0" tIns="0" rIns="0" bIns="0" rtlCol="0" anchor="ctr"/>
          <a:lstStyle/>
          <a:p>
            <a:pPr indent="0" marL="0">
              <a:buNone/>
            </a:pPr>
            <a:r>
              <a:rPr lang="en-US" sz="1800" i="1" dirty="0">
                <a:solidFill>
                  <a:srgbClr val="6B7280"/>
                </a:solidFill>
                <a:latin typeface="Calibri" pitchFamily="34" charset="0"/>
                <a:ea typeface="Calibri" pitchFamily="34" charset="-122"/>
                <a:cs typeface="Calibri" pitchFamily="34" charset="-120"/>
              </a:rPr>
              <a:t>We wire the Policy executor to emit a WorkspaceResponseObject, serve it on port 9999, and Lab 2 pulls its own curtain on the running server.</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1 - Basic QA Agent (Darwinian reorder)</dc:title>
  <dc:subject>PptxGenJS Presentation</dc:subject>
  <dc:creator>Peter Heller — Mind Over Metadata LLC</dc:creator>
  <cp:lastModifiedBy>Peter Heller — Mind Over Metadata LLC</cp:lastModifiedBy>
  <cp:revision>1</cp:revision>
  <dcterms:created xsi:type="dcterms:W3CDTF">2026-06-02T14:15:36Z</dcterms:created>
  <dcterms:modified xsi:type="dcterms:W3CDTF">2026-06-02T14:15:36Z</dcterms:modified>
</cp:coreProperties>
</file>