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introduces the Google Agent Development Kit, ADK. Where Lab 2 built a server by hand with the A2A SDK, ADK gives us a higher-level agent abstraction and a one-line helper, to_a2a, that turns an ADK agent into an A2A server. This agent answers health questions by calling Google Search, and it runs on port 9998.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with Lab 2 is the point. There we wrote an Executor, a request handler, and an Agent Card by hand. ADK collapses all of that: you define an LlmAgent with a model, a description, and tools, then call to_a2a to get an A2A-compatible ASGI app. The framework generates the card and the protocol glue for you. Less control, far less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agent, upstream. An LlmAgent with the Gemini Pro model, the built-in google_search tool, and an instruction that tells it to cite sources. Then to_a2a converts it to an ASGI app and uvicorn serves it. Compare to Lab 2's hand-written executor and card — ADK does all of that under the hood. The instruction to cite sources matters because this agent reaches out to the live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refactor pattern as the other labs. The hardcoded Pro model string becomes Model.PRO; the port becomes AgentPort.RESEARCH; setup_env becomes the validated Settings object. For ADK specifically, our settings expose the GOOGLE_GENAI_USE_VERTEXAI flag, so this agent moves to Vertex AI through the same single toggle as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judgment, not just the code. Use the raw A2A SDK, as in Lab 2, when you need full control or when you're learning how the protocol actually works. Reach for ADK when you want a capable, tool-using agent quickly and you're happy to let the framework own the card and the executor. Neither is wrong; they trade control for velocity. Seeing both is the whole reason this lab follows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two independent agents on 9999 and 9998. Lab 5 introduces our first coordinator: an ADK SequentialAgent that calls the Policy agent and the Research agent in sequence, our first taste of multi-agent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sp>
        <p:nvSpPr>
          <p:cNvPr id="2" name="Text 0"/>
          <p:cNvSpPr/>
          <p:nvPr/>
        </p:nvSpPr>
        <p:spPr>
          <a:xfrm>
            <a:off x="731520" y="1280160"/>
            <a:ext cx="10698480" cy="365760"/>
          </a:xfrm>
          <a:prstGeom prst="rect">
            <a:avLst/>
          </a:prstGeom>
          <a:noFill/>
          <a:ln/>
        </p:spPr>
        <p:txBody>
          <a:bodyPr wrap="square" lIns="0" tIns="0" rIns="0" bIns="0" rtlCol="0" anchor="ctr"/>
          <a:lstStyle/>
          <a:p>
            <a:pPr indent="0" marL="0">
              <a:buNone/>
            </a:pPr>
            <a:r>
              <a:rPr lang="en-US" sz="1500" b="1" spc="400" kern="0" dirty="0">
                <a:solidFill>
                  <a:srgbClr val="EDE9FE"/>
                </a:solidFill>
                <a:latin typeface="Calibri" pitchFamily="34" charset="0"/>
                <a:ea typeface="Calibri" pitchFamily="34" charset="-122"/>
                <a:cs typeface="Calibri" pitchFamily="34" charset="-120"/>
              </a:rPr>
              <a:t>LAB 4  ·  A2A WALKTHROUGH</a:t>
            </a:r>
            <a:endParaRPr lang="en-US" sz="1500" dirty="0"/>
          </a:p>
        </p:txBody>
      </p:sp>
      <p:sp>
        <p:nvSpPr>
          <p:cNvPr id="3" name="Text 1"/>
          <p:cNvSpPr/>
          <p:nvPr/>
        </p:nvSpPr>
        <p:spPr>
          <a:xfrm>
            <a:off x="731520" y="1783080"/>
            <a:ext cx="10698480" cy="173736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An A2A Health Research Agent</a:t>
            </a:r>
            <a:endParaRPr lang="en-US" sz="3800" dirty="0"/>
          </a:p>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with Google ADK</a:t>
            </a:r>
            <a:endParaRPr lang="en-US" sz="3800" dirty="0"/>
          </a:p>
        </p:txBody>
      </p:sp>
      <p:sp>
        <p:nvSpPr>
          <p:cNvPr id="4" name="Text 2"/>
          <p:cNvSpPr/>
          <p:nvPr/>
        </p:nvSpPr>
        <p:spPr>
          <a:xfrm>
            <a:off x="731520" y="3703320"/>
            <a:ext cx="10698480" cy="457200"/>
          </a:xfrm>
          <a:prstGeom prst="rect">
            <a:avLst/>
          </a:prstGeom>
          <a:noFill/>
          <a:ln/>
        </p:spPr>
        <p:txBody>
          <a:bodyPr wrap="square" lIns="0" tIns="0" rIns="0" bIns="0" rtlCol="0" anchor="ctr"/>
          <a:lstStyle/>
          <a:p>
            <a:pPr indent="0" marL="0">
              <a:buNone/>
            </a:pPr>
            <a:r>
              <a:rPr lang="en-US" sz="1800" i="1" dirty="0">
                <a:solidFill>
                  <a:srgbClr val="EDE9FE"/>
                </a:solidFill>
                <a:latin typeface="Calibri" pitchFamily="34" charset="0"/>
                <a:ea typeface="Calibri" pitchFamily="34" charset="-122"/>
                <a:cs typeface="Calibri" pitchFamily="34" charset="-120"/>
              </a:rPr>
              <a:t>LlmAgent  ·  google_search tool  ·  to_a2a()  ·  port 9998</a:t>
            </a:r>
            <a:endParaRPr lang="en-US" sz="1800" dirty="0"/>
          </a:p>
        </p:txBody>
      </p:sp>
      <p:sp>
        <p:nvSpPr>
          <p:cNvPr id="5" name="Shape 3"/>
          <p:cNvSpPr/>
          <p:nvPr/>
        </p:nvSpPr>
        <p:spPr>
          <a:xfrm>
            <a:off x="731520" y="4434840"/>
            <a:ext cx="2743200" cy="45720"/>
          </a:xfrm>
          <a:prstGeom prst="rect">
            <a:avLst/>
          </a:prstGeom>
          <a:solidFill>
            <a:srgbClr val="10B981"/>
          </a:solidFill>
          <a:ln/>
        </p:spPr>
      </p:sp>
      <p:sp>
        <p:nvSpPr>
          <p:cNvPr id="6" name="Text 4"/>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Peter Heller · Mind Over Metadata LLC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The idea</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A search-grounded agent, exposed over A2A in one line.</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ADK's to_a2a() wraps an LlmAgent as an ASGI server — no manual Executor or Card.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Upstream baseline — the whole agent</a:t>
            </a:r>
            <a:endParaRPr lang="en-US" sz="2800" dirty="0"/>
          </a:p>
        </p:txBody>
      </p:sp>
      <p:sp>
        <p:nvSpPr>
          <p:cNvPr id="3" name="Shape 1"/>
          <p:cNvSpPr/>
          <p:nvPr/>
        </p:nvSpPr>
        <p:spPr>
          <a:xfrm>
            <a:off x="822960" y="1645920"/>
            <a:ext cx="10515600" cy="3383280"/>
          </a:xfrm>
          <a:prstGeom prst="roundRect">
            <a:avLst>
              <a:gd name="adj" fmla="val 2703"/>
            </a:avLst>
          </a:prstGeom>
          <a:solidFill>
            <a:srgbClr val="1E1B4B"/>
          </a:solidFill>
          <a:ln/>
          <a:effectLst>
            <a:outerShdw sx="100000" sy="100000" kx="0" ky="0" algn="bl" rotWithShape="0" blurRad="101600" dist="38100" dir="8100000">
              <a:srgbClr val="000000">
                <a:alpha val="18000"/>
              </a:srgbClr>
            </a:outerShdw>
          </a:effectLst>
        </p:spPr>
      </p:sp>
      <p:sp>
        <p:nvSpPr>
          <p:cNvPr id="4" name="Text 2"/>
          <p:cNvSpPr/>
          <p:nvPr/>
        </p:nvSpPr>
        <p:spPr>
          <a:xfrm>
            <a:off x="1097280" y="1874520"/>
            <a:ext cx="9966960" cy="2926080"/>
          </a:xfrm>
          <a:prstGeom prst="rect">
            <a:avLst/>
          </a:prstGeom>
          <a:noFill/>
          <a:ln/>
        </p:spPr>
        <p:txBody>
          <a:bodyPr wrap="square" lIns="0" tIns="0" rIns="0" bIns="0" rtlCol="0" anchor="t"/>
          <a:lstStyle/>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root_agent = LlmAgent(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model="gemini-3.1-pro-preview",</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name="HealthResearchAgent",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tools=[google_search],</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description="Provides healthcare information using web resources.",</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instruction="You are a healthcare research agent... "</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"Use google_search... Cite your sources.")</a:t>
            </a:r>
            <a:endParaRPr lang="en-US" sz="1400" dirty="0"/>
          </a:p>
          <a:p>
            <a:pPr indent="0" marL="0">
              <a:lnSpc>
                <a:spcPct val="115000"/>
              </a:lnSpc>
              <a:buNone/>
            </a:pP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a2a_app = to_a2a(root_agent, host=HOST, port=PORT)   # -&gt; ASGI app</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uvicorn.run(a2a_app, host=HOST, port=PORT)</a:t>
            </a:r>
            <a:endParaRPr lang="en-US" sz="1400" dirty="0"/>
          </a:p>
        </p:txBody>
      </p:sp>
      <p:sp>
        <p:nvSpPr>
          <p:cNvPr id="5" name="Text 3"/>
          <p:cNvSpPr/>
          <p:nvPr/>
        </p:nvSpPr>
        <p:spPr>
          <a:xfrm>
            <a:off x="822960" y="5212080"/>
            <a:ext cx="10515600" cy="8229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Define agent + tool, call to_a2a, serve. ADK writes the Executor and Card for you.</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Baseline vs. how we built it</a:t>
            </a:r>
            <a:endParaRPr lang="en-US" sz="2800" dirty="0"/>
          </a:p>
        </p:txBody>
      </p:sp>
      <p:sp>
        <p:nvSpPr>
          <p:cNvPr id="3" name="Shape 1"/>
          <p:cNvSpPr/>
          <p:nvPr/>
        </p:nvSpPr>
        <p:spPr>
          <a:xfrm>
            <a:off x="822960" y="1737360"/>
            <a:ext cx="5029200" cy="3931920"/>
          </a:xfrm>
          <a:prstGeom prst="roundRect">
            <a:avLst>
              <a:gd name="adj" fmla="val 2791"/>
            </a:avLst>
          </a:prstGeom>
          <a:solidFill>
            <a:srgbClr val="FFFFFF"/>
          </a:solidFill>
          <a:ln w="25400">
            <a:solidFill>
              <a:srgbClr val="F59E0B"/>
            </a:solidFill>
            <a:prstDash val="solid"/>
          </a:ln>
          <a:effectLst>
            <a:outerShdw sx="100000" sy="100000" kx="0" ky="0" algn="bl" rotWithShape="0" blurRad="101600" dist="38100" dir="8100000">
              <a:srgbClr val="000000">
                <a:alpha val="18000"/>
              </a:srgbClr>
            </a:outerShdw>
          </a:effectLst>
        </p:spPr>
      </p:sp>
      <p:sp>
        <p:nvSpPr>
          <p:cNvPr id="4" name="Text 2"/>
          <p:cNvSpPr/>
          <p:nvPr/>
        </p:nvSpPr>
        <p:spPr>
          <a:xfrm>
            <a:off x="1097280" y="1920240"/>
            <a:ext cx="4480560" cy="457200"/>
          </a:xfrm>
          <a:prstGeom prst="rect">
            <a:avLst/>
          </a:prstGeom>
          <a:noFill/>
          <a:ln/>
        </p:spPr>
        <p:txBody>
          <a:bodyPr wrap="square" lIns="0" tIns="0" rIns="0" bIns="0" rtlCol="0" anchor="ctr"/>
          <a:lstStyle/>
          <a:p>
            <a:pPr indent="0" marL="0">
              <a:buNone/>
            </a:pPr>
            <a:r>
              <a:rPr lang="en-US" sz="1900" b="1" dirty="0">
                <a:solidFill>
                  <a:srgbClr val="1E1B4B"/>
                </a:solidFill>
                <a:latin typeface="Georgia" pitchFamily="34" charset="0"/>
                <a:ea typeface="Georgia" pitchFamily="34" charset="-122"/>
                <a:cs typeface="Georgia" pitchFamily="34" charset="-120"/>
              </a:rPr>
              <a:t>Upstream baseline</a:t>
            </a:r>
            <a:endParaRPr lang="en-US" sz="1900" dirty="0"/>
          </a:p>
        </p:txBody>
      </p:sp>
      <p:sp>
        <p:nvSpPr>
          <p:cNvPr id="5" name="Text 3"/>
          <p:cNvSpPr/>
          <p:nvPr/>
        </p:nvSpPr>
        <p:spPr>
          <a:xfrm>
            <a:off x="10972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model='gemini-3.1-pro-preview' literal</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PORT = int(os.getenv('RESEARCH_AGENT_PORT'))</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setup_env() at import time</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Gemini Developer API only by default</a:t>
            </a:r>
            <a:endParaRPr lang="en-US" sz="1500" dirty="0"/>
          </a:p>
        </p:txBody>
      </p:sp>
      <p:sp>
        <p:nvSpPr>
          <p:cNvPr id="6" name="Shape 4"/>
          <p:cNvSpPr/>
          <p:nvPr/>
        </p:nvSpPr>
        <p:spPr>
          <a:xfrm>
            <a:off x="6309360" y="1737360"/>
            <a:ext cx="5029200" cy="3931920"/>
          </a:xfrm>
          <a:prstGeom prst="roundRect">
            <a:avLst>
              <a:gd name="adj" fmla="val 2791"/>
            </a:avLst>
          </a:prstGeom>
          <a:solidFill>
            <a:srgbClr val="4C1D95"/>
          </a:solidFill>
          <a:ln/>
          <a:effectLst>
            <a:outerShdw sx="100000" sy="100000" kx="0" ky="0" algn="bl" rotWithShape="0" blurRad="101600" dist="38100" dir="8100000">
              <a:srgbClr val="000000">
                <a:alpha val="18000"/>
              </a:srgbClr>
            </a:outerShdw>
          </a:effectLst>
        </p:spPr>
      </p:sp>
      <p:sp>
        <p:nvSpPr>
          <p:cNvPr id="7" name="Text 5"/>
          <p:cNvSpPr/>
          <p:nvPr/>
        </p:nvSpPr>
        <p:spPr>
          <a:xfrm>
            <a:off x="6583680" y="1920240"/>
            <a:ext cx="448056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How we built it</a:t>
            </a:r>
            <a:endParaRPr lang="en-US" sz="1900" dirty="0"/>
          </a:p>
        </p:txBody>
      </p:sp>
      <p:sp>
        <p:nvSpPr>
          <p:cNvPr id="8" name="Text 6"/>
          <p:cNvSpPr/>
          <p:nvPr/>
        </p:nvSpPr>
        <p:spPr>
          <a:xfrm>
            <a:off x="65836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Model.PRO Enum</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AgentPort.RESEARCH IntEnum (9998)</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Pydantic Settings, validated</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Vertex AI via GOOGLE_GENAI_USE_VERTEXAI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ADK vs. raw SDK — when to use which</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Raw SDK for control. ADK for speed.</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Lab 2's hand-built server shows how the protocol works; ADK is how you'd ship a search agent fast.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Next</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10B981"/>
                </a:solidFill>
                <a:latin typeface="Georgia" pitchFamily="34" charset="0"/>
                <a:ea typeface="Georgia" pitchFamily="34" charset="-122"/>
                <a:cs typeface="Georgia" pitchFamily="34" charset="-120"/>
              </a:rPr>
              <a:t>Lab 5 chains Policy + Research with an ADK SequentialAgent.</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Two agents, run in order, coordinated by a third.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4 - ADK Research Agent</dc:title>
  <dc:subject>PptxGenJS Presentation</dc:subject>
  <dc:creator>Peter Heller — Mind Over Metadata LLC</dc:creator>
  <cp:lastModifiedBy>Peter Heller — Mind Over Metadata LLC</cp:lastModifiedBy>
  <cp:revision>1</cp:revision>
  <dcterms:created xsi:type="dcterms:W3CDTF">2026-06-02T11:06:44Z</dcterms:created>
  <dcterms:modified xsi:type="dcterms:W3CDTF">2026-06-02T11:06:44Z</dcterms:modified>
</cp:coreProperties>
</file>